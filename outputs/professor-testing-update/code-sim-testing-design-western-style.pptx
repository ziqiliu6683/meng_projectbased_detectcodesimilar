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88c0ea44d3408b" /><Relationship Type="http://schemas.openxmlformats.org/officeDocument/2006/relationships/extended-properties" Target="/docProps/app.xml" Id="R545c35275ea840b0" /><Relationship Type="http://schemas.openxmlformats.org/officeDocument/2006/relationships/officeDocument" Target="/ppt/presentation.xml" Id="Rc0930102ea7b46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749995211d47ab"/>
  </p:sldMasterIdLst>
  <p:notesMasterIdLst>
    <p:notesMasterId xmlns:r="http://schemas.openxmlformats.org/officeDocument/2006/relationships" r:id="R8b1b293b61a44bdf"/>
  </p:notesMasterIdLst>
  <p:sldIdLst>
    <p:sldId xmlns:r="http://schemas.openxmlformats.org/officeDocument/2006/relationships" id="256" r:id="Rb7e6ac2d7c3d40bf"/>
    <p:sldId xmlns:r="http://schemas.openxmlformats.org/officeDocument/2006/relationships" id="257" r:id="R3e2a922facb5494c"/>
    <p:sldId xmlns:r="http://schemas.openxmlformats.org/officeDocument/2006/relationships" id="258" r:id="Rb798034353c14b14"/>
    <p:sldId xmlns:r="http://schemas.openxmlformats.org/officeDocument/2006/relationships" id="259" r:id="Re708e6a4456f4470"/>
    <p:sldId xmlns:r="http://schemas.openxmlformats.org/officeDocument/2006/relationships" id="260" r:id="R5851faee6bdb46e5"/>
    <p:sldId xmlns:r="http://schemas.openxmlformats.org/officeDocument/2006/relationships" id="261" r:id="R368e169b2dea4cac"/>
    <p:sldId xmlns:r="http://schemas.openxmlformats.org/officeDocument/2006/relationships" id="262" r:id="Rb4a235bf68624c83"/>
    <p:sldId xmlns:r="http://schemas.openxmlformats.org/officeDocument/2006/relationships" id="263" r:id="R9541c43901614835"/>
    <p:sldId xmlns:r="http://schemas.openxmlformats.org/officeDocument/2006/relationships" id="264" r:id="Rdecee9f43d2e4739"/>
    <p:sldId xmlns:r="http://schemas.openxmlformats.org/officeDocument/2006/relationships" id="265" r:id="R6f686356f4624ab6"/>
    <p:sldId xmlns:r="http://schemas.openxmlformats.org/officeDocument/2006/relationships" id="266" r:id="Rc40d5d0b66664a76"/>
    <p:sldId xmlns:r="http://schemas.openxmlformats.org/officeDocument/2006/relationships" id="267" r:id="R1d97af13bd88483d"/>
    <p:sldId xmlns:r="http://schemas.openxmlformats.org/officeDocument/2006/relationships" id="268" r:id="R8e151a45203e49aa"/>
    <p:sldId xmlns:r="http://schemas.openxmlformats.org/officeDocument/2006/relationships" id="269" r:id="Rfe0f260a526849fd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06653A29-79AB-ED40-7E81-7E1B90306C79}" name="Lindsay Wiley" initials="LW" userId="S::larnol9@uwo.ca::f5f5da08-2706-4cc8-9ee9-3303944ea907" providerId="AD"/>
  <p188:author id="{27B49274-4AC4-6CF1-4703-241EE979471F}" name="Crystal Carter" initials="CC" userId="S::ccarte82@uwo.ca::a6bbf219-e6ce-4bec-b1d8-c380711a6edd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433dcd5354006" /><Relationship Type="http://schemas.openxmlformats.org/officeDocument/2006/relationships/slideMaster" Target="/ppt/slideMasters/slideMaster1.xml" Id="Rda749995211d47ab" /><Relationship Type="http://schemas.openxmlformats.org/officeDocument/2006/relationships/notesMaster" Target="/ppt/notesMasters/notesMaster1.xml" Id="R8b1b293b61a44bdf" /><Relationship Type="http://schemas.openxmlformats.org/officeDocument/2006/relationships/presProps" Target="/ppt/presProps.xml" Id="Re076efc7c73f4a2a" /><Relationship Type="http://schemas.openxmlformats.org/officeDocument/2006/relationships/viewProps" Target="/ppt/viewProps.xml" Id="Rabb7fa9400954828" /><Relationship Type="http://schemas.openxmlformats.org/officeDocument/2006/relationships/tableStyles" Target="/ppt/tableStyles.xml" Id="Rf3417427f561450b" /><Relationship Type="http://schemas.microsoft.com/office/2018/10/relationships/authors" Target="/ppt/authors.xml" Id="Raf7d7cf8cd904263" /><Relationship Type="http://schemas.openxmlformats.org/officeDocument/2006/relationships/slide" Target="/ppt/slides/slide1.xml" Id="Rb7e6ac2d7c3d40bf" /><Relationship Type="http://schemas.openxmlformats.org/officeDocument/2006/relationships/slide" Target="/ppt/slides/slide2.xml" Id="R3e2a922facb5494c" /><Relationship Type="http://schemas.openxmlformats.org/officeDocument/2006/relationships/slide" Target="/ppt/slides/slide3.xml" Id="Rb798034353c14b14" /><Relationship Type="http://schemas.openxmlformats.org/officeDocument/2006/relationships/slide" Target="/ppt/slides/slide4.xml" Id="Re708e6a4456f4470" /><Relationship Type="http://schemas.openxmlformats.org/officeDocument/2006/relationships/slide" Target="/ppt/slides/slide5.xml" Id="R5851faee6bdb46e5" /><Relationship Type="http://schemas.openxmlformats.org/officeDocument/2006/relationships/slide" Target="/ppt/slides/slide6.xml" Id="R368e169b2dea4cac" /><Relationship Type="http://schemas.openxmlformats.org/officeDocument/2006/relationships/slide" Target="/ppt/slides/slide7.xml" Id="Rb4a235bf68624c83" /><Relationship Type="http://schemas.openxmlformats.org/officeDocument/2006/relationships/slide" Target="/ppt/slides/slide8.xml" Id="R9541c43901614835" /><Relationship Type="http://schemas.openxmlformats.org/officeDocument/2006/relationships/slide" Target="/ppt/slides/slide9.xml" Id="Rdecee9f43d2e4739" /><Relationship Type="http://schemas.openxmlformats.org/officeDocument/2006/relationships/slide" Target="/ppt/slides/slide10.xml" Id="R6f686356f4624ab6" /><Relationship Type="http://schemas.openxmlformats.org/officeDocument/2006/relationships/slide" Target="/ppt/slides/slide11.xml" Id="Rc40d5d0b66664a76" /><Relationship Type="http://schemas.openxmlformats.org/officeDocument/2006/relationships/slide" Target="/ppt/slides/slide12.xml" Id="R1d97af13bd88483d" /><Relationship Type="http://schemas.openxmlformats.org/officeDocument/2006/relationships/slide" Target="/ppt/slides/slide13.xml" Id="R8e151a45203e49aa" /><Relationship Type="http://schemas.openxmlformats.org/officeDocument/2006/relationships/slide" Target="/ppt/slides/slide14.xml" Id="Rfe0f260a526849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c594c710b7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Western PPT">
      <a:dk1>
        <a:srgbClr val="000000"/>
      </a:dk1>
      <a:lt1>
        <a:srgbClr val="FFFFFF"/>
      </a:lt1>
      <a:dk2>
        <a:srgbClr val="4F2683"/>
      </a:dk2>
      <a:lt2>
        <a:srgbClr val="E7E6E6"/>
      </a:lt2>
      <a:accent1>
        <a:srgbClr val="8F55E0"/>
      </a:accent1>
      <a:accent2>
        <a:srgbClr val="7DEAFB"/>
      </a:accent2>
      <a:accent3>
        <a:srgbClr val="B9F876"/>
      </a:accent3>
      <a:accent4>
        <a:srgbClr val="F0A757"/>
      </a:accent4>
      <a:accent5>
        <a:srgbClr val="8F55E0"/>
      </a:accent5>
      <a:accent6>
        <a:srgbClr val="7DEAFB"/>
      </a:accent6>
      <a:hlink>
        <a:srgbClr val="4F2683"/>
      </a:hlink>
      <a:folHlink>
        <a:srgbClr val="81828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stern 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ce1d623bc4936" /><Relationship Type="http://schemas.openxmlformats.org/officeDocument/2006/relationships/notesMaster" Target="/ppt/notesMasters/notesMaster1.xml" Id="R4560dcc6754b4e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647743cd248b8" /><Relationship Type="http://schemas.openxmlformats.org/officeDocument/2006/relationships/notesMaster" Target="/ppt/notesMasters/notesMaster1.xml" Id="Ra9932a2a8f77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d5dc0587754abb" /><Relationship Type="http://schemas.openxmlformats.org/officeDocument/2006/relationships/notesMaster" Target="/ppt/notesMasters/notesMaster1.xml" Id="R16d8c583350846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56670573314369" /><Relationship Type="http://schemas.openxmlformats.org/officeDocument/2006/relationships/notesMaster" Target="/ppt/notesMasters/notesMaster1.xml" Id="R387c17b7505849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91acd9ea7d48f0" /><Relationship Type="http://schemas.openxmlformats.org/officeDocument/2006/relationships/notesMaster" Target="/ppt/notesMasters/notesMaster1.xml" Id="R65828d3c9d8e42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b66122e5fc4275" /><Relationship Type="http://schemas.openxmlformats.org/officeDocument/2006/relationships/notesMaster" Target="/ppt/notesMasters/notesMaster1.xml" Id="Rad6d9d04741a43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49331a6b1e40bd" /><Relationship Type="http://schemas.openxmlformats.org/officeDocument/2006/relationships/notesMaster" Target="/ppt/notesMasters/notesMaster1.xml" Id="R7d7ba82289c248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ef0f37718e4cba" /><Relationship Type="http://schemas.openxmlformats.org/officeDocument/2006/relationships/notesMaster" Target="/ppt/notesMasters/notesMaster1.xml" Id="R92a1d5858f74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5a30460ee0442c" /><Relationship Type="http://schemas.openxmlformats.org/officeDocument/2006/relationships/notesMaster" Target="/ppt/notesMasters/notesMaster1.xml" Id="Rf56b8ff08b0f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ca0ce7e123452d" /><Relationship Type="http://schemas.openxmlformats.org/officeDocument/2006/relationships/notesMaster" Target="/ppt/notesMasters/notesMaster1.xml" Id="Rf6bf82c92c6e41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67f48970174ff0" /><Relationship Type="http://schemas.openxmlformats.org/officeDocument/2006/relationships/notesMaster" Target="/ppt/notesMasters/notesMaster1.xml" Id="R9ba0139cd3ae46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e2fc5f3e4a49fc" /><Relationship Type="http://schemas.openxmlformats.org/officeDocument/2006/relationships/notesMaster" Target="/ppt/notesMasters/notesMaster1.xml" Id="R027af2a23bf84c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bd6a6755624d3f" /><Relationship Type="http://schemas.openxmlformats.org/officeDocument/2006/relationships/notesMaster" Target="/ppt/notesMasters/notesMaster1.xml" Id="Rb948bc5620f04d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94af40d2714a98" /><Relationship Type="http://schemas.openxmlformats.org/officeDocument/2006/relationships/notesMaster" Target="/ppt/notesMasters/notesMaster1.xml" Id="R47414f078c15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update explains how the testing design evolved, what the current evidence supports, and which decisions remain.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/Users/liuziqi/Documents/西大Graduate/Project_base/进度日志/会议/2026July16th/2026July16thpptx.pptx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evaluation as several separate questions, not one accuracy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only as a short reminder of the evidence labels used by the detector.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/Users/liuziqi/Documents/西大Graduate/Project_base/进度日志/会议/2026July16th/2026July16thpptx.pptx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 design changed because the BCB pilots exposed an input-validity problem, not because the numbers were inconvenient.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/Users/liuziqi/Documents/西大Graduate/Project_base/Code/Meng_ProjectBased_DetectCodeSimilar/code-sim/results/bcb_smoke/scored/summary.md</a:t>
            </a:r>
          </a:p>
          <a:p xmlns:a="http://schemas.openxmlformats.org/drawingml/2006/main">
            <a:r>
              <a:t>- /Users/liuziqi/Documents/西大Graduate/Project_base/Code/Meng_ProjectBased_DetectCodeSimilar/code-sim/results/bcb_full_scored/summary.md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/Users/liuziqi/Documents/西大Graduate/Project_base/Code/Meng_ProjectBased_DetectCodeSimilar/code-sim/results/formal-v1/ANALYSIS.md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input validity and full-path completion are measured outcomes, not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smoke run gave a useful category pattern, but 118 of 140 pairs used source fallback because the wrapped fragments lost their original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/Users/liuziqi/Documents/西大Graduate/Project_base/Code/Meng_ProjectBased_DetectCodeSimilar/code-sim/results/bcb_smoke/scored/summary.md</a:t>
            </a:r>
          </a:p>
          <a:p xmlns:a="http://schemas.openxmlformats.org/drawingml/2006/main">
            <a:r>
              <a:t>- /Users/liuziqi/Documents/西大Graduate/Project_base/Code/Meng_ProjectBased_DetectCodeSimilar/code-sim/results/bcb_smoke/run.jsonl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Detection and type-match are shown separately. MT3 remains the main diagnostic weakness; VST3 detection is high but type recovery is much lower.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/Users/liuziqi/Documents/西大Graduate/Project_base/Code/Meng_ProjectBased_DetectCodeSimilar/code-sim/results/bcb_full_scored/summary.md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July wrapper-fragment runs stay visible as engineering evidence, but they cannot be mixed with the planned clean-room BCB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E2-adapted supplementary instrument: controlled and compilable, but not identical to official MIF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/Users/liuziqi/Documents/西大Graduate/Project_base/Code/Meng_ProjectBased_DetectCodeSimilar/code-sim/results/formal-v1/FREEZE.md</a:t>
            </a:r>
          </a:p>
          <a:p xmlns:a="http://schemas.openxmlformats.org/drawingml/2006/main">
            <a:r>
              <a:t>- /Users/liuziqi/Documents/西大Graduate/Project_base/Code/Meng_ProjectBased_DetectCodeSimilar/mutation-gen/src/main/java/com/ziqi/mutgen/RegionCorpusGenerator.java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lesson is methodological: reference derivation must be auditable, and raw detector output must remain immutable.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/Users/liuziqi/Documents/西大Graduate/Project_base/Code/Meng_ProjectBased_DetectCodeSimilar/code-sim/results/formal-v1/ANALYSIS.md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four batches contain 1,000 status=ok and 1,000 SOURCE_PLUS_WALA_SMT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/Users/liuziqi/Documents/西大Graduate/Project_base/Code/Meng_ProjectBased_DetectCodeSimilar/code-sim/results/formal-v1/ANALYSIS.md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/Users/liuziqi/Documents/西大Graduate/Project_base/Code/Meng_ProjectBased_DetectCodeSimilar/code-sim/results/formal-v1/batch1/raw/merged.jsonl.gz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/Users/liuziqi/Documents/西大Graduate/Project_base/Code/Meng_ProjectBased_DetectCodeSimilar/code-sim/results/formal-v1/batch2/raw/merged.jsonl.gz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/Users/liuziqi/Documents/西大Graduate/Project_base/Code/Meng_ProjectBased_DetectCodeSimilar/code-sim/results/formal-v1/batch3/raw/merged.jsonl.gz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/Users/liuziqi/Documents/西大Graduate/Project_base/Code/Meng_ProjectBased_DetectCodeSimilar/code-sim/results/formal-v1/batch4/raw/merged.jsonl.gz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mutation type-correct rates. Blank-line and block-comment percentages are deliberately not shown because the analysis proves they are not measurable at statement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/Users/liuziqi/Documents/西大Graduate/Project_base/Code/Meng_ProjectBased_DetectCodeSimilar/code-sim/results/formal-v1/ANALYSIS.md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strict-product false-positive definition counts any emitted region. Most extra outputs are exploratory POSSIBLE_T4_CANDIDATE regions, not asserted syntactic clones.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prompts: approve the clean-room BCB run; confirm the final GT rule; validate the separate Batch 5 arm; choose the negative-pair scale; freeze the paper claim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/Users/liuziqi/Documents/西大Graduate/Project_base/Code/Meng_ProjectBased_DetectCodeSimilar/code-sim/evaluation/paper_evaluation_protocol.md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/Users/liuziqi/Documents/西大Graduate/Project_base/Code/Meng_ProjectBased_DetectCodeSimilar/code-sim/results/formal-v1/HANDOFF.md</a:t>
            </a:r>
          </a:p>
          <a:p xmlns:a="http://schemas.openxmlformats.org/drawingml/2006/main">
            <a:r>
              <a:t>- /Users/liuziqi/Documents/西大Graduate/Project_base/Code/Meng_ProjectBased_DetectCodeSimilar/code-sim/results/formal-v1/RESULTS.md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9e27de523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91c69f3d041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643d700174b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ce782dbd442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19c487b784b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574cdcc9d43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3dc7d883b40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d9fff993947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45a6b0f684b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f9783eced468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230c1c78743c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BEE511-B03C-1057-AC41-916778E865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98BC20E-8A67-2533-0BEE-42FA56BA1F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E3950C-D78D-4FFD-7918-9AF623BD3D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7E8B0F-AB04-3D2D-70E0-A209AC0AFA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813569-AF66-DC5C-197E-0EAF21154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EA5EC0-6F2E-1D49-9980-EEDE825FB3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FF80C1-C4ED-D9CD-20D3-EF632343A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7C28C4-0874-D93E-7FBD-E964E8BF3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D7ACA2-8B6C-77F9-5D9F-47324639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1BD387-471D-4EA7-FF61-64F548DDEC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5C49DD-5F74-B022-C969-4E000A887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188530-7F00-F90D-4003-EAD54EBD48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885BA3-93F9-8A28-143D-D7D1E32C6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3C4454-4C7A-C5CA-C5B6-4FFBA2E7B4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240780-7644-D8E0-BF20-1B3A4140A8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7865DF-8228-AE80-2DDE-764E95A045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5AD19D-43B0-BEC0-872E-72DAFCACDA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E8CC55-D408-6132-BA6A-999BF5D5CA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129F1D-29C9-6E5A-4A6B-CC3D1A9E31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E02292-DDAE-231B-B53E-09E535AC1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FC4B30A-12AA-B23B-8E92-282088A051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79E8380-3F11-1CD5-D6EB-527B9716E2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9B26C14-3F56-E521-3BB8-405DE83CA2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6D5304-777D-69A0-50DA-5BFF62FBD6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FC7157-CBA5-526F-5917-1E123BE5C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364761E-FBFE-40C6-D0B9-C8134BD199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C95254-AFC3-E6D2-EE19-6B1F031D50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2D7A6BE-CFA2-2FDA-9A86-AF5573A41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A657E0-7335-D103-ABCA-DFACDBFAA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8CEA00-56DC-F8AD-4DDD-C228A585C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FF75F3-4099-0A9F-F38E-881A13A92B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13B34D-22B5-A821-8983-F49DB21052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03AD5E-FC21-5E9B-3670-0BB3CD7F6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CCD3907-A0CA-19F3-CECC-5B2E6613DE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1A9D52-EC75-D287-905F-3E6D81BE99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3C4E19A-2F95-8AC6-4154-FC72AF8B21F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E14A2CB-2278-F53C-97EE-46C64B6842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8B3B7F-01E6-CE81-DD4F-39527D9764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9516590-4901-71B2-0E21-774BDEAD7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1B3527-9C73-8E44-7416-930F102A15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2E3B4A-1C4D-6D14-00BE-4F286E8E3B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30EBEA-37C1-CB02-3E0E-A04778C5BA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F0942E-D0E9-70F4-A8A0-A72264F615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42CB505-12D9-0A3C-7DA7-DD7D57F77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51F388-A3F9-6AB6-79A9-FF78AF488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A1B9B0-A8E0-8E33-992C-94059DA08F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6C6898-6FB5-5C09-0A7E-0C493C4A87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f11d38aae9440e" /><Relationship Type="http://schemas.openxmlformats.org/officeDocument/2006/relationships/slideLayout" Target="/ppt/slideLayouts/slideLayout1.xml" Id="Rd7613ead32314d37" /><Relationship Type="http://schemas.openxmlformats.org/officeDocument/2006/relationships/slideLayout" Target="/ppt/slideLayouts/slideLayout2.xml" Id="Rb278409f67b14369" /><Relationship Type="http://schemas.openxmlformats.org/officeDocument/2006/relationships/slideLayout" Target="/ppt/slideLayouts/slideLayout3.xml" Id="Radef277c73ef4608" /><Relationship Type="http://schemas.openxmlformats.org/officeDocument/2006/relationships/slideLayout" Target="/ppt/slideLayouts/slideLayout4.xml" Id="R84312b2193b9458f" /><Relationship Type="http://schemas.openxmlformats.org/officeDocument/2006/relationships/slideLayout" Target="/ppt/slideLayouts/slideLayout5.xml" Id="R490ccc3d94614667" /><Relationship Type="http://schemas.openxmlformats.org/officeDocument/2006/relationships/slideLayout" Target="/ppt/slideLayouts/slideLayout6.xml" Id="R70ef5171a6054328" /><Relationship Type="http://schemas.openxmlformats.org/officeDocument/2006/relationships/slideLayout" Target="/ppt/slideLayouts/slideLayout7.xml" Id="R21c1b754774c4030" /><Relationship Type="http://schemas.openxmlformats.org/officeDocument/2006/relationships/slideLayout" Target="/ppt/slideLayouts/slideLayout8.xml" Id="R9993ca80558644b5" /><Relationship Type="http://schemas.openxmlformats.org/officeDocument/2006/relationships/slideLayout" Target="/ppt/slideLayouts/slideLayout9.xml" Id="Rb82995d8a6b6473f" /><Relationship Type="http://schemas.openxmlformats.org/officeDocument/2006/relationships/slideLayout" Target="/ppt/slideLayouts/slideLayout10.xml" Id="R0b59bb14f6344993" /><Relationship Type="http://schemas.openxmlformats.org/officeDocument/2006/relationships/slideLayout" Target="/ppt/slideLayouts/slideLayout11.xml" Id="R74fd5fab94044b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CB4F55D-EBE1-D1EA-B810-A44789748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5976" y="1365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96B3D9-9094-5036-3A11-8F8CBAC82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5976" y="1619625"/>
            <a:ext cx="10867824" cy="40699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BC310F-0E2B-DC6C-3F47-15607130F1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85976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49AEEE3-55E4-E540-917E-4045A83131DD}" type="datetimeFigureOut">
              <a:t>7/6/26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324943-18B3-1648-247B-4434148D20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613ead32314d37"/>
    <p:sldLayoutId xmlns:r="http://schemas.openxmlformats.org/officeDocument/2006/relationships" id="2147483650" r:id="Rb278409f67b14369"/>
    <p:sldLayoutId xmlns:r="http://schemas.openxmlformats.org/officeDocument/2006/relationships" id="2147483651" r:id="Radef277c73ef4608"/>
    <p:sldLayoutId xmlns:r="http://schemas.openxmlformats.org/officeDocument/2006/relationships" id="2147483652" r:id="R84312b2193b9458f"/>
    <p:sldLayoutId xmlns:r="http://schemas.openxmlformats.org/officeDocument/2006/relationships" id="2147483653" r:id="R490ccc3d94614667"/>
    <p:sldLayoutId xmlns:r="http://schemas.openxmlformats.org/officeDocument/2006/relationships" id="2147483654" r:id="R70ef5171a6054328"/>
    <p:sldLayoutId xmlns:r="http://schemas.openxmlformats.org/officeDocument/2006/relationships" id="2147483655" r:id="R21c1b754774c4030"/>
    <p:sldLayoutId xmlns:r="http://schemas.openxmlformats.org/officeDocument/2006/relationships" id="2147483656" r:id="R9993ca80558644b5"/>
    <p:sldLayoutId xmlns:r="http://schemas.openxmlformats.org/officeDocument/2006/relationships" id="2147483657" r:id="Rb82995d8a6b6473f"/>
    <p:sldLayoutId xmlns:r="http://schemas.openxmlformats.org/officeDocument/2006/relationships" id="2147483658" r:id="R0b59bb14f6344993"/>
    <p:sldLayoutId xmlns:r="http://schemas.openxmlformats.org/officeDocument/2006/relationships" id="2147483659" r:id="R74fd5fab94044b2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Tahoma"/>
          <a:ea typeface="Tahoma"/>
          <a:cs typeface="Tahom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Clr>
          <a:schemeClr val="accent1"/>
        </a:buClr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Western PPT">
      <a:dk1>
        <a:srgbClr val="000000"/>
      </a:dk1>
      <a:lt1>
        <a:srgbClr val="FFFFFF"/>
      </a:lt1>
      <a:dk2>
        <a:srgbClr val="4F2683"/>
      </a:dk2>
      <a:lt2>
        <a:srgbClr val="E7E6E6"/>
      </a:lt2>
      <a:accent1>
        <a:srgbClr val="8F55E0"/>
      </a:accent1>
      <a:accent2>
        <a:srgbClr val="7DEAFB"/>
      </a:accent2>
      <a:accent3>
        <a:srgbClr val="B9F876"/>
      </a:accent3>
      <a:accent4>
        <a:srgbClr val="F0A757"/>
      </a:accent4>
      <a:accent5>
        <a:srgbClr val="8F55E0"/>
      </a:accent5>
      <a:accent6>
        <a:srgbClr val="7DEAFB"/>
      </a:accent6>
      <a:hlink>
        <a:srgbClr val="4F2683"/>
      </a:hlink>
      <a:folHlink>
        <a:srgbClr val="81828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stern 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749ac3f944e43" /><Relationship Type="http://schemas.openxmlformats.org/officeDocument/2006/relationships/image" Target="/ppt/media/image.jpeg" Id="R29ae39462a9946d5" /><Relationship Type="http://schemas.openxmlformats.org/officeDocument/2006/relationships/image" Target="/ppt/media/image.png" Id="R2fc13c9d8be0438b" /><Relationship Type="http://schemas.openxmlformats.org/officeDocument/2006/relationships/notesSlide" Target="/ppt/notesSlides/notesSlide1.xml" Id="Re133b83df6604f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7b6485b984e26" /><Relationship Type="http://schemas.openxmlformats.org/officeDocument/2006/relationships/image" Target="/ppt/media/image2.png" Id="R6df9e83066c24d82" /><Relationship Type="http://schemas.openxmlformats.org/officeDocument/2006/relationships/notesSlide" Target="/ppt/notesSlides/notesSlide2.xml" Id="R49f08005318a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13f8f816416c" /><Relationship Type="http://schemas.openxmlformats.org/officeDocument/2006/relationships/image" Target="/ppt/media/image2.png" Id="Rf3142abd4347473c" /><Relationship Type="http://schemas.openxmlformats.org/officeDocument/2006/relationships/notesSlide" Target="/ppt/notesSlides/notesSlide3.xml" Id="R9298cdff53fe4f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7fa941caf4533" /><Relationship Type="http://schemas.openxmlformats.org/officeDocument/2006/relationships/notesSlide" Target="/ppt/notesSlides/notesSlide4.xml" Id="R94962620389443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e6d52a9b64e0b" /><Relationship Type="http://schemas.openxmlformats.org/officeDocument/2006/relationships/notesSlide" Target="/ppt/notesSlides/notesSlide5.xml" Id="R99ba5b1e5d9247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7e1cf30fe4e8a" /><Relationship Type="http://schemas.openxmlformats.org/officeDocument/2006/relationships/image" Target="/ppt/media/image2.png" Id="Ra53cac44c841487e" /><Relationship Type="http://schemas.openxmlformats.org/officeDocument/2006/relationships/notesSlide" Target="/ppt/notesSlides/notesSlide6.xml" Id="Rc904d8f9fec441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852893b444ed7" /><Relationship Type="http://schemas.openxmlformats.org/officeDocument/2006/relationships/image" Target="/ppt/media/image2.png" Id="R348ae3f8911f4569" /><Relationship Type="http://schemas.openxmlformats.org/officeDocument/2006/relationships/notesSlide" Target="/ppt/notesSlides/notesSlide7.xml" Id="Rb21353a2965643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1c93d63e4a1f" /><Relationship Type="http://schemas.openxmlformats.org/officeDocument/2006/relationships/image" Target="/ppt/media/image2.png" Id="Rc012f89bcf334afe" /><Relationship Type="http://schemas.openxmlformats.org/officeDocument/2006/relationships/notesSlide" Target="/ppt/notesSlides/notesSlide8.xml" Id="Rca7aed83560f4f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b6b759214a98" /><Relationship Type="http://schemas.openxmlformats.org/officeDocument/2006/relationships/notesSlide" Target="/ppt/notesSlides/notesSlide9.xml" Id="R1d21ccf3fd4946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20821ac15422e" /><Relationship Type="http://schemas.openxmlformats.org/officeDocument/2006/relationships/notesSlide" Target="/ppt/notesSlides/notesSlide10.xml" Id="Rf9b4e12ffd2b4b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1083793d14fcd" /><Relationship Type="http://schemas.openxmlformats.org/officeDocument/2006/relationships/image" Target="/ppt/media/image2.png" Id="R2b8a3fcdce0c4c7d" /><Relationship Type="http://schemas.openxmlformats.org/officeDocument/2006/relationships/notesSlide" Target="/ppt/notesSlides/notesSlide11.xml" Id="R722145488d0247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4e62f139b40e9" /><Relationship Type="http://schemas.openxmlformats.org/officeDocument/2006/relationships/image" Target="/ppt/media/image2.png" Id="Re5e65fdc31fc43d1" /><Relationship Type="http://schemas.openxmlformats.org/officeDocument/2006/relationships/notesSlide" Target="/ppt/notesSlides/notesSlide12.xml" Id="Rd29ed5e0d1c640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4fb8346ad49b2" /><Relationship Type="http://schemas.openxmlformats.org/officeDocument/2006/relationships/image" Target="/ppt/media/image2.png" Id="Re710fce1648f488c" /><Relationship Type="http://schemas.openxmlformats.org/officeDocument/2006/relationships/notesSlide" Target="/ppt/notesSlides/notesSlide13.xml" Id="R73b4173e52e747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d97bb43264e9d" /><Relationship Type="http://schemas.openxmlformats.org/officeDocument/2006/relationships/notesSlide" Target="/ppt/notesSlides/notesSlide14.xml" Id="Ra41db7d533d84e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e39462a9946d5"/>
          <a:srcRect xmlns:a="http://schemas.openxmlformats.org/drawingml/2006/main" l="16857" t="12141" r="0" b="4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06898C-50D6-75E4-07D9-B50D8815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91" y="517072"/>
            <a:ext cx="5477109" cy="5823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55E0">
              <a:alpha val="7997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75AB4-34B4-0C00-7D14-5E794C32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51" y="2883321"/>
            <a:ext cx="4634120" cy="1446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Code Similarity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Detection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0755CC-5279-A85A-0B6D-EC3D3D9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51" y="4403740"/>
            <a:ext cx="5013689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Meng Project Progress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Ziqi Liu · 29 July 2026</a:t>
            </a:r>
          </a:p>
        </p:txBody>
      </p:sp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13c9d8be043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051" y="890305"/>
            <a:ext cx="2825758" cy="670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31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5" y="401303"/>
            <a:ext cx="692958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Evaluation Question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9e83066c2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F2806E-48DD-C1D1-3F24-E99A484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24" y="1545029"/>
            <a:ext cx="6929585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15000"/>
              </a:lnSpc>
              <a:buFont typeface="Symbol"/>
              <a:buChar char=""/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Detect, type, reject, and explain</a:t>
            </a:r>
            <a:r>
              <a:rPr sz="20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 valid code pairs.</a:t>
            </a:r>
          </a:p>
        </p:txBody>
      </p:sp>
    </p:spTree>
    <p:extLst>
      <p:ext uri="{BB962C8B-B14F-4D97-AF65-F5344CB8AC3E}">
        <p14:creationId xmlns:p14="http://schemas.microsoft.com/office/powerpoint/2010/main" val="2585514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4FCE4-F5BA-3C40-9535-4B55829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782669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Exact same code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Comments or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whitespace only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ABD91D-5DA9-0937-773A-14AA71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022076"/>
            <a:ext cx="286242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1FE22C-3EAA-E2CA-CD17-51237E7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93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DF44A3-B528-7BA9-2058-080981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4" y="2020143"/>
            <a:ext cx="2871987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T2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03D9A2-9FEC-8BF1-2D5D-F82A8AD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41" y="2782669"/>
            <a:ext cx="28624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Same structure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Identifiers or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literals changed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E258EA-8DBB-794F-5145-473D622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72" y="2782668"/>
            <a:ext cx="2862420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FF0000"/>
                </a:solidFill>
                <a:latin typeface="Aptos"/>
                <a:ea typeface="Aptos"/>
                <a:cs typeface="Aptos"/>
              </a:rPr>
              <a:t>Structural edit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Insert, delete,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or wrap statements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514426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Similarity Types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42abd434747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9A584-276F-367F-CE69-565B9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92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54822D-600D-38E0-99D7-0A6A26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45" y="2782668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Semantic clone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Different structure,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same behavior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EF4423-0555-CC17-B84B-969FAD6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TEXTUAL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A18234-4B72-9CC5-99E9-EC66FBB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72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T2 / T3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B7461A-A9EA-FD81-149B-7474B46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SEMANTIC</a:t>
            </a:r>
          </a:p>
        </p:txBody>
      </p:sp>
    </p:spTree>
    <p:extLst>
      <p:ext uri="{BB962C8B-B14F-4D97-AF65-F5344CB8AC3E}">
        <p14:creationId xmlns:p14="http://schemas.microsoft.com/office/powerpoint/2010/main" val="3311056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3B71A1-E541-50E6-064E-52D35929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1006307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Testing Design – Evidence Evolution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D16A00-33F1-D3EA-351B-14FBD8D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2285151"/>
            <a:ext cx="781881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75231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8E991D-CC25-B10C-7187-28B8C71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31" y="3289328"/>
            <a:ext cx="7866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Full</a:t>
            </a:r>
          </a:p>
        </p:txBody>
      </p:sp>
      <p:sp>
        <p:nvSpPr>
          <p:cNvPr id="4" name="Cross 3">
            <a:extLst xmlns:a="http://schemas.openxmlformats.org/drawingml/2006/main">
              <a:ext uri="{FF2B5EF4-FFF2-40B4-BE49-F238E27FC236}">
                <a16:creationId xmlns:a16="http://schemas.microsoft.com/office/drawing/2014/main" id="{057637A3-2652-477E-9BAC-37E0F452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59" y="2817526"/>
            <a:ext cx="320634" cy="308759"/>
          </a:xfrm>
          <a:prstGeom xmlns:a="http://schemas.openxmlformats.org/drawingml/2006/main" prst="plus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E188BC9D-64A3-C478-FD02-ABBC2FB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321" y="2778086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59D488-4C36-DC8C-FB68-80D61B74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21" y="2771990"/>
            <a:ext cx="107273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AEA54-F1DA-F26C-38AA-C8EDA33A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486" y="3176847"/>
            <a:ext cx="20798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(wrapper inputs)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C7B83BA4-84FD-1E9F-3233-A5A4694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27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7F1561B-EBF1-3557-A60C-F0E401F7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80" y="2775038"/>
            <a:ext cx="5725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65567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Issue</a:t>
            </a: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B484F950-BAA5-BB2F-7040-0B31CA8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71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09AAC0-4723-24F0-34D1-B5F97ECF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524" y="2775038"/>
            <a:ext cx="5725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73202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4" name="Right Arrow 13">
            <a:extLst xmlns:a="http://schemas.openxmlformats.org/drawingml/2006/main">
              <a:ext uri="{FF2B5EF4-FFF2-40B4-BE49-F238E27FC236}">
                <a16:creationId xmlns:a16="http://schemas.microsoft.com/office/drawing/2014/main" id="{CCA3B3D3-3384-A46D-58BD-BE3A71A2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993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A271DF4-0BC9-8111-E59A-03E7F26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546" y="2775038"/>
            <a:ext cx="5725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70749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3 GT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1CDF8EE0-DEF4-7837-BC8F-FFD846B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184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E3DD62C-D665-C67B-0299-59325FFE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51" y="2733694"/>
            <a:ext cx="107753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Formal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F1F110B-59CE-E5E6-9423-B1271D2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65" y="3172100"/>
            <a:ext cx="138371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(4,000 pairs)</a:t>
            </a:r>
          </a:p>
        </p:txBody>
      </p:sp>
    </p:spTree>
    <p:extLst>
      <p:ext uri="{BB962C8B-B14F-4D97-AF65-F5344CB8AC3E}">
        <p14:creationId xmlns:p14="http://schemas.microsoft.com/office/powerpoint/2010/main" val="39878095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B6FB25-DE15-FDF3-5EAE-F29396F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1007118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Testing Design – Full Semantic Path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0704F0-2F34-F13B-ADDF-F1409A9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50" y="1162369"/>
            <a:ext cx="10437732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Validate complete Java inputs before scoring</a:t>
            </a:r>
          </a:p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Compile with deterministic stub assistance</a:t>
            </a:r>
          </a:p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Run WALA + region matching + SMT</a:t>
            </a:r>
          </a:p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Preserve raw output; score with separate references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232665-496C-1585-5617-D41D47F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78" y="3957541"/>
            <a:ext cx="781881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4993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File 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2FA780-4455-347F-EA36-A038272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33" y="4961718"/>
            <a:ext cx="7866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4393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File B</a:t>
            </a:r>
          </a:p>
        </p:txBody>
      </p:sp>
      <p:sp>
        <p:nvSpPr>
          <p:cNvPr id="4" name="Cross 3">
            <a:extLst xmlns:a="http://schemas.openxmlformats.org/drawingml/2006/main">
              <a:ext uri="{FF2B5EF4-FFF2-40B4-BE49-F238E27FC236}">
                <a16:creationId xmlns:a16="http://schemas.microsoft.com/office/drawing/2014/main" id="{96724523-4C33-96CB-894E-93679BB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1" y="4489916"/>
            <a:ext cx="320634" cy="308759"/>
          </a:xfrm>
          <a:prstGeom xmlns:a="http://schemas.openxmlformats.org/drawingml/2006/main" prst="plus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7A97C235-4F8F-D606-E023-A76A9E3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338" y="4487175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E64FDFF-B01B-11FA-0C60-D4211EA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689" y="4357651"/>
            <a:ext cx="68800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JDK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584F8D-C3CA-8584-9234-28BF946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513" y="4765915"/>
            <a:ext cx="178035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(stubs if needed)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FC2D3742-4C9D-FD09-496D-AC4A3003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460" y="4437560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80DE22-179C-16F6-21B5-3EC939F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953" y="4337618"/>
            <a:ext cx="201080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WALA + SMT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60EB44-DB26-698F-2FB6-EC5329B4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106" y="4753286"/>
            <a:ext cx="54865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(graphs · regions · evidence)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D729B8-9A53-62DE-5ADF-E46BC00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76" y="5718033"/>
            <a:ext cx="171200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Typed Result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3CC543-C903-0DED-EDE5-5B166068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585" y="6136275"/>
            <a:ext cx="398198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(T1 · T2 · T3 · possible T4)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CA4E62F0-845D-2AF7-8260-FBCE414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25168" y="522966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3309251-1DD9-BED2-CECA-631207A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750" y="5727166"/>
            <a:ext cx="180158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Scoring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821640E-E606-CFE0-DA27-0902280F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39" y="6136275"/>
            <a:ext cx="521501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(c-match · type · localization)</a:t>
            </a:r>
          </a:p>
        </p:txBody>
      </p:sp>
      <p:sp>
        <p:nvSpPr>
          <p:cNvPr id="20" name="Right Arrow 19">
            <a:extLst xmlns:a="http://schemas.openxmlformats.org/drawingml/2006/main">
              <a:ext uri="{FF2B5EF4-FFF2-40B4-BE49-F238E27FC236}">
                <a16:creationId xmlns:a16="http://schemas.microsoft.com/office/drawing/2014/main" id="{65ED37C2-AD34-0C25-E4F7-EFCA512B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58659" y="5818852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48773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4FCE4-F5BA-3C40-9535-4B55829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782669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92D050"/>
                </a:solidFill>
                <a:latin typeface="Aptos"/>
                <a:ea typeface="Aptos"/>
                <a:cs typeface="Aptos"/>
              </a:rPr>
              <a:t>95–100% detection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T1 type 95%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T2 type 95%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ABD91D-5DA9-0937-773A-14AA71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022076"/>
            <a:ext cx="286242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T1 / T2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1FE22C-3EAA-E2CA-CD17-51237E7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93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VST3 / MT3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DF44A3-B528-7BA9-2058-080981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4" y="2020143"/>
            <a:ext cx="2871987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ST3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03D9A2-9FEC-8BF1-2D5D-F82A8AD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41" y="2782669"/>
            <a:ext cx="286242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92D050"/>
                </a:solidFill>
                <a:latin typeface="Aptos"/>
                <a:ea typeface="Aptos"/>
                <a:cs typeface="Aptos"/>
              </a:rPr>
              <a:t>100% detection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100% type match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E258EA-8DBB-794F-5145-473D622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72" y="2782668"/>
            <a:ext cx="2862420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VST3: 100% detect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65% type</a:t>
            </a:r>
          </a:p>
          <a:p xmlns:a="http://schemas.openxmlformats.org/drawingml/2006/main">
            <a:pPr algn="ctr">
              <a:buNone/>
            </a:pPr>
            <a:r>
              <a:rPr sz="1600">
                <a:solidFill>
                  <a:srgbClr val="FF0000"/>
                </a:solidFill>
                <a:latin typeface="Tahoma"/>
                <a:ea typeface="Tahoma"/>
                <a:cs typeface="Tahoma"/>
              </a:rP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MT3: only 15%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514426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BCB Smoke – 140 Pairs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cac44c841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9A584-276F-367F-CE69-565B9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92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VALIDITY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54822D-600D-38E0-99D7-0A6A26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45" y="2782668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22 / 140 full path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118 source fallback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FF0000"/>
                </a:solidFill>
                <a:latin typeface="Aptos"/>
                <a:ea typeface="Aptos"/>
                <a:cs typeface="Aptos"/>
              </a:rPr>
              <a:t>wrapper lost context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EF4423-0555-CC17-B84B-969FAD6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TEXTUAL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A18234-4B72-9CC5-99E9-EC66FBB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72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T3 BANDS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B7461A-A9EA-FD81-149B-7474B46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DIAGNOSTIC</a:t>
            </a:r>
          </a:p>
        </p:txBody>
      </p:sp>
    </p:spTree>
    <p:extLst>
      <p:ext uri="{BB962C8B-B14F-4D97-AF65-F5344CB8AC3E}">
        <p14:creationId xmlns:p14="http://schemas.microsoft.com/office/powerpoint/2010/main" val="3311056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4FCE4-F5BA-3C40-9535-4B55829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782669"/>
            <a:ext cx="2862420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T1 97.62% detect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96.15% type</a:t>
            </a:r>
          </a:p>
          <a:p xmlns:a="http://schemas.openxmlformats.org/drawingml/2006/main">
            <a:pPr algn="ctr">
              <a:buNone/>
            </a:pPr>
            <a:r>
              <a:rPr sz="1600">
                <a:solidFill>
                  <a:srgbClr val="000000"/>
                </a:solidFill>
                <a:latin typeface="Tahoma"/>
                <a:ea typeface="Tahoma"/>
                <a:cs typeface="Tahoma"/>
              </a:rP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T2 99.98% detect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95.41% type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ABD91D-5DA9-0937-773A-14AA71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022076"/>
            <a:ext cx="286242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T1 / T2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1FE22C-3EAA-E2CA-CD17-51237E7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93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MT3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DF44A3-B528-7BA9-2058-080981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4" y="2020143"/>
            <a:ext cx="2871987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ST3 / VST3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03D9A2-9FEC-8BF1-2D5D-F82A8AD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41" y="2782669"/>
            <a:ext cx="286242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ST3 93.14% / 85.70%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VST3 97.37% / 60.92%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E258EA-8DBB-794F-5145-473D622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72" y="2782668"/>
            <a:ext cx="2862420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29.71% detection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FF0000"/>
                </a:solidFill>
                <a:latin typeface="Aptos"/>
                <a:ea typeface="Aptos"/>
                <a:cs typeface="Aptos"/>
              </a:rPr>
              <a:t>29.70% type match</a:t>
            </a:r>
          </a:p>
          <a:p xmlns:a="http://schemas.openxmlformats.org/drawingml/2006/main">
            <a:pPr algn="ctr">
              <a:buNone/>
            </a:pPr>
            <a:r>
              <a:rPr sz="1600">
                <a:solidFill>
                  <a:srgbClr val="FF0000"/>
                </a:solidFill>
                <a:latin typeface="Tahoma"/>
                <a:ea typeface="Tahoma"/>
                <a:cs typeface="Tahoma"/>
              </a:rP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82,193 pairs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514426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BCB Full – Diagnostic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ae3f8911f4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9A584-276F-367F-CE69-565B9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92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NON-CLONE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54822D-600D-38E0-99D7-0A6A26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45" y="2782668"/>
            <a:ext cx="2862420" cy="1341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92D050"/>
                </a:solidFill>
                <a:latin typeface="Aptos"/>
                <a:ea typeface="Aptos"/>
                <a:cs typeface="Aptos"/>
              </a:rPr>
              <a:t>99.85%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correct rejection</a:t>
            </a:r>
          </a:p>
          <a:p xmlns:a="http://schemas.openxmlformats.org/drawingml/2006/main">
            <a:pPr algn="ctr">
              <a:buNone/>
            </a:pPr>
            <a:r>
              <a:rPr sz="1600">
                <a:latin typeface="Tahoma"/>
                <a:ea typeface="Tahoma"/>
                <a:cs typeface="Tahoma"/>
              </a:rP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2,000 pairs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EF4423-0555-CC17-B84B-969FAD6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A18234-4B72-9CC5-99E9-EC66FBB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72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T3 BANDS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B7461A-A9EA-FD81-149B-7474B46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</p:spTree>
    <p:extLst>
      <p:ext uri="{BB962C8B-B14F-4D97-AF65-F5344CB8AC3E}">
        <p14:creationId xmlns:p14="http://schemas.microsoft.com/office/powerpoint/2010/main" val="3311056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5" y="401303"/>
            <a:ext cx="692958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BCB Decision – Quarantine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2f89bcf334a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F2806E-48DD-C1D1-3F24-E99A484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24" y="1545029"/>
            <a:ext cx="6929585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15000"/>
              </a:lnSpc>
              <a:buFont typeface="Symbol"/>
              <a:buChar char=""/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Rerun</a:t>
            </a:r>
            <a:r>
              <a:rPr sz="20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complete files</a:t>
            </a:r>
            <a:r>
              <a:rPr sz="20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 before making </a:t>
            </a:r>
            <a:r>
              <a:rPr sz="2000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paper claims</a:t>
            </a:r>
            <a:r>
              <a:rPr sz="20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55141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B6FB25-DE15-FDF3-5EAE-F29396F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1007118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Mutation Corpus – Controlled &amp; Compilable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0704F0-2F34-F13B-ADDF-F1409A9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50" y="1162369"/>
            <a:ext cx="10437732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Start from self-contained CodeNet Java250 solutions</a:t>
            </a:r>
          </a:p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Apply one type-safe Spoon mutation per pair</a:t>
            </a:r>
          </a:p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Require compilation before detector execution</a:t>
            </a:r>
          </a:p>
          <a:p xmlns:a="http://schemas.openxmlformats.org/drawingml/2006/main">
            <a:pPr marL="28" indent="-14" algn="l">
              <a:spcAft>
                <a:spcPts val="14"/>
              </a:spcAft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Keep the MIF adaptation explicit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232665-496C-1585-5617-D41D47F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78" y="3957541"/>
            <a:ext cx="781881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72831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Seed 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2FA780-4455-347F-EA36-A038272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33" y="4961718"/>
            <a:ext cx="7866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57928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Mutant B</a:t>
            </a:r>
          </a:p>
        </p:txBody>
      </p:sp>
      <p:sp>
        <p:nvSpPr>
          <p:cNvPr id="4" name="Cross 3">
            <a:extLst xmlns:a="http://schemas.openxmlformats.org/drawingml/2006/main">
              <a:ext uri="{FF2B5EF4-FFF2-40B4-BE49-F238E27FC236}">
                <a16:creationId xmlns:a16="http://schemas.microsoft.com/office/drawing/2014/main" id="{96724523-4C33-96CB-894E-93679BB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1" y="4489916"/>
            <a:ext cx="320634" cy="308759"/>
          </a:xfrm>
          <a:prstGeom xmlns:a="http://schemas.openxmlformats.org/drawingml/2006/main" prst="plus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7A97C235-4F8F-D606-E023-A76A9E3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338" y="4487175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E64FDFF-B01B-11FA-0C60-D4211EA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689" y="4357651"/>
            <a:ext cx="68800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67944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Spoon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584F8D-C3CA-8584-9234-28BF946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513" y="4765915"/>
            <a:ext cx="178035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(one known edit)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FC2D3742-4C9D-FD09-496D-AC4A3003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460" y="4437560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80DE22-179C-16F6-21B5-3EC939F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953" y="4337618"/>
            <a:ext cx="201080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Compile Check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60EB44-DB26-698F-2FB6-EC5329B4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106" y="4753286"/>
            <a:ext cx="54865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(type-safe · one operator · one pair)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D729B8-9A53-62DE-5ADF-E46BC00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76" y="5718033"/>
            <a:ext cx="171200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3 Truths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3CC543-C903-0DED-EDE5-5B166068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585" y="6136275"/>
            <a:ext cx="398198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(clone interval · mutation · untouched)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CA4E62F0-845D-2AF7-8260-FBCE414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25168" y="522966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3309251-1DD9-BED2-CECA-631207A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750" y="5727166"/>
            <a:ext cx="180158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821640E-E606-CFE0-DA27-0902280F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39" y="6136275"/>
            <a:ext cx="521501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(capture · type · IoU)</a:t>
            </a:r>
          </a:p>
        </p:txBody>
      </p:sp>
      <p:sp>
        <p:nvSpPr>
          <p:cNvPr id="20" name="Right Arrow 19">
            <a:extLst xmlns:a="http://schemas.openxmlformats.org/drawingml/2006/main">
              <a:ext uri="{FF2B5EF4-FFF2-40B4-BE49-F238E27FC236}">
                <a16:creationId xmlns:a16="http://schemas.microsoft.com/office/drawing/2014/main" id="{65ED37C2-AD34-0C25-E4F7-EFCA512B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58659" y="5818852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487737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42F338-0830-9EC0-4873-5AA53C7D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1007118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Ground Truth – Corrections Stay Auditable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E36B76E-B4A6-8F93-5300-492E3B0B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50" y="1162369"/>
            <a:ext cx="10437732" cy="1631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Arial"/>
              <a:buChar char="•"/>
              <a:defRPr sz="2000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4F2683"/>
                </a:solidFill>
                <a:latin typeface="Aptos"/>
                <a:ea typeface="Aptos"/>
                <a:cs typeface="Aptos"/>
              </a:rPr>
              <a:t>Detector output never changed. Only justified reference rules were recomputed and the preserved output was rescored.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0693522-AB0E-8B94-9AE8-7DB8FC36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84" y="2326747"/>
            <a:ext cx="123463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80263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Raw output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7DAA9D-4D7B-3692-D826-44BA8F5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39" y="3330924"/>
            <a:ext cx="123944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GT rules</a:t>
            </a:r>
          </a:p>
        </p:txBody>
      </p:sp>
      <p:sp>
        <p:nvSpPr>
          <p:cNvPr id="4" name="Cross 3">
            <a:extLst xmlns:a="http://schemas.openxmlformats.org/drawingml/2006/main">
              <a:ext uri="{FF2B5EF4-FFF2-40B4-BE49-F238E27FC236}">
                <a16:creationId xmlns:a16="http://schemas.microsoft.com/office/drawing/2014/main" id="{FE4BA519-BA93-6F2B-C2F6-33A26FB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21" y="2850745"/>
            <a:ext cx="320634" cy="308759"/>
          </a:xfrm>
          <a:prstGeom xmlns:a="http://schemas.openxmlformats.org/drawingml/2006/main" prst="plus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204C129A-2F39-00A4-2B82-6A4962EE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775" y="2824425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1EF6F44-7783-EC84-8872-7388773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794" y="2749435"/>
            <a:ext cx="260353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Wrap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D66CC4B-2A5B-6672-1D10-399ECF34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07" y="3182082"/>
            <a:ext cx="256192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(7.3% → 99.8%)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65A3B6F4-F388-CF50-8977-E86868C9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13" y="2781582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08BE02-567A-F5DE-92DF-138C950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93" y="2657312"/>
            <a:ext cx="177644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Rename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D04EB9-F91D-8266-C0DD-29E77020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920" y="3057422"/>
            <a:ext cx="569803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(88.3% → 99.5%; split scattered runs)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43E3792-0825-88D8-352A-7A0D14EC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331" y="4068873"/>
            <a:ext cx="1423788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Reindent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DEA15F-BA8D-7486-8575-F49BD73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442" y="4449424"/>
            <a:ext cx="2253566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(94.8% → 98.7%)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7706F3D2-6EDF-86BF-FC01-A39078E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66813" y="3579680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CC9EF97-5439-2A55-2D5B-D08442C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992" y="4073416"/>
            <a:ext cx="293061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Insert / Delete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CE3FD23-5403-3F75-B445-A9CE665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580" y="4482526"/>
            <a:ext cx="340118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8074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(corrected operators: separate Batch 5 arm)</a:t>
            </a:r>
          </a:p>
        </p:txBody>
      </p:sp>
      <p:sp>
        <p:nvSpPr>
          <p:cNvPr id="20" name="Right Arrow 19">
            <a:extLst xmlns:a="http://schemas.openxmlformats.org/drawingml/2006/main">
              <a:ext uri="{FF2B5EF4-FFF2-40B4-BE49-F238E27FC236}">
                <a16:creationId xmlns:a16="http://schemas.microsoft.com/office/drawing/2014/main" id="{B43B8509-F766-A8C2-1A94-412B277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869096" y="4156102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9825237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4FCE4-F5BA-3C40-9535-4B55829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782669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pairs scored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batches 1–4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scored_v4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ABD91D-5DA9-0937-773A-14AA71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022076"/>
            <a:ext cx="286242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4,000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1FE22C-3EAA-E2CA-CD17-51237E7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93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249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DF44A3-B528-7BA9-2058-080981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4" y="2020143"/>
            <a:ext cx="2871987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16,353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03D9A2-9FEC-8BF1-2D5D-F82A8AD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41" y="2782669"/>
            <a:ext cx="28624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references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clone, mutation,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and untouched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E258EA-8DBB-794F-5145-473D622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72" y="2782668"/>
            <a:ext cx="2862420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CodeNet problems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clustered confidence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intervals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514426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Formal Run – 4,000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a3fcdce0c4c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9A584-276F-367F-CE69-565B9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92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54822D-600D-38E0-99D7-0A6A26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45" y="2782668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status = ok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full WALA + SMT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92D050"/>
                </a:solidFill>
                <a:latin typeface="Aptos"/>
                <a:ea typeface="Aptos"/>
                <a:cs typeface="Aptos"/>
              </a:rPr>
              <a:t>zero fallback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EF4423-0555-CC17-B84B-969FAD6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PAIRS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A18234-4B72-9CC5-99E9-EC66FBB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72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B7461A-A9EA-FD81-149B-7474B46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FULL PATH</a:t>
            </a:r>
          </a:p>
        </p:txBody>
      </p:sp>
    </p:spTree>
    <p:extLst>
      <p:ext uri="{BB962C8B-B14F-4D97-AF65-F5344CB8AC3E}">
        <p14:creationId xmlns:p14="http://schemas.microsoft.com/office/powerpoint/2010/main" val="3311056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4FCE4-F5BA-3C40-9535-4B55829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782669"/>
            <a:ext cx="2862420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wrap 99.8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string 99.7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rename 99.5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reindent 98.7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int 98.3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ABD91D-5DA9-0937-773A-14AA71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022076"/>
            <a:ext cx="286242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98.3–99.8%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1FE22C-3EAA-E2CA-CD17-51237E7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93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78.2%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DF44A3-B528-7BA9-2058-080981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4" y="2020143"/>
            <a:ext cx="2871987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88.8–89.0%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03D9A2-9FEC-8BF1-2D5D-F82A8AD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41" y="2782669"/>
            <a:ext cx="28624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insert 88.8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delete 89.0</a:t>
            </a:r>
          </a:p>
          <a:p xmlns:a="http://schemas.openxmlformats.org/drawingml/2006/main">
            <a:pPr algn="ctr">
              <a:buNone/>
            </a:pPr>
            <a:r>
              <a:rPr sz="1600">
                <a:latin typeface="Tahoma"/>
                <a:ea typeface="Tahoma"/>
                <a:cs typeface="Tahoma"/>
              </a:rP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FF0000"/>
                </a:solidFill>
                <a:latin typeface="Aptos"/>
                <a:ea typeface="Aptos"/>
                <a:cs typeface="Aptos"/>
              </a:rPr>
              <a:t>corpus artifacts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E258EA-8DBB-794F-5145-473D622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72" y="2782668"/>
            <a:ext cx="2862420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end-of-line comment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statement extent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partly captures it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514426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Operator Results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65fdc31fc43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9A584-276F-367F-CE69-565B9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92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UNTESTABLE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54822D-600D-38E0-99D7-0A6A26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45" y="2782668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blank line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block comment</a:t>
            </a:r>
          </a:p>
          <a:p xmlns:a="http://schemas.openxmlformats.org/drawingml/2006/main">
            <a:pPr algn="ctr">
              <a:buNone/>
            </a:pPr>
            <a:r>
              <a:rPr sz="1600">
                <a:solidFill>
                  <a:srgbClr val="FF0000"/>
                </a:solidFill>
                <a:latin typeface="Tahoma"/>
                <a:ea typeface="Tahoma"/>
                <a:cs typeface="Tahoma"/>
              </a:rP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no statement extent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EF4423-0555-CC17-B84B-969FAD6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A18234-4B72-9CC5-99E9-EC66FBB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72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B7461A-A9EA-FD81-149B-7474B46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DO NOT QUOTE</a:t>
            </a:r>
          </a:p>
        </p:txBody>
      </p:sp>
    </p:spTree>
    <p:extLst>
      <p:ext uri="{BB962C8B-B14F-4D97-AF65-F5344CB8AC3E}">
        <p14:creationId xmlns:p14="http://schemas.microsoft.com/office/powerpoint/2010/main" val="3311056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4FCE4-F5BA-3C40-9535-4B55829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782669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no output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92D050"/>
                </a:solidFill>
                <a:latin typeface="Aptos"/>
                <a:ea typeface="Aptos"/>
                <a:cs typeface="Aptos"/>
              </a:rPr>
              <a:t>correct rejection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ABD91D-5DA9-0937-773A-14AA71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11" y="2022076"/>
            <a:ext cx="286242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81 / 100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1FE22C-3EAA-E2CA-CD17-51237E7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993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2 / 100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DF44A3-B528-7BA9-2058-08098156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4" y="2020143"/>
            <a:ext cx="2871987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19 / 100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03D9A2-9FEC-8BF1-2D5D-F82A8AD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41" y="2782669"/>
            <a:ext cx="286242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any output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FF0000"/>
                </a:solidFill>
                <a:latin typeface="Aptos"/>
                <a:ea typeface="Aptos"/>
                <a:cs typeface="Aptos"/>
              </a:rPr>
              <a:t>strict-product FP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0E258EA-8DBB-794F-5145-473D622B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72" y="2782668"/>
            <a:ext cx="2862420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claimed T1 / T2 / T3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1 × T2 · 1 × T3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9E6AB4-9ED5-3E69-8F2C-71EF663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514426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Negative Pilot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0fce1648f48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0378" y="5848350"/>
            <a:ext cx="2743197" cy="65475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69A584-276F-367F-CE69-565B9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92" y="2022076"/>
            <a:ext cx="287198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4F2683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T4?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54822D-600D-38E0-99D7-0A6A26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45" y="2782668"/>
            <a:ext cx="286242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4F2683"/>
                </a:solidFill>
                <a:latin typeface="Aptos"/>
                <a:ea typeface="Aptos"/>
                <a:cs typeface="Aptos"/>
              </a:rPr>
              <a:t>21 candidates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shared contest-code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Aptos"/>
                <a:ea typeface="Aptos"/>
                <a:cs typeface="Aptos"/>
              </a:rPr>
              <a:t>I/O scaffolding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EF4423-0555-CC17-B84B-969FAD6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A18234-4B72-9CC5-99E9-EC66FBB8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72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0B7461A-A9EA-FD81-149B-7474B46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803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EXPLORATORY</a:t>
            </a:r>
          </a:p>
        </p:txBody>
      </p:sp>
    </p:spTree>
    <p:extLst>
      <p:ext uri="{BB962C8B-B14F-4D97-AF65-F5344CB8AC3E}">
        <p14:creationId xmlns:p14="http://schemas.microsoft.com/office/powerpoint/2010/main" val="3311056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3B71A1-E541-50E6-064E-52D35929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401303"/>
            <a:ext cx="1006307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>
                <a:solidFill>
                  <a:srgbClr val="4F2683"/>
                </a:solidFill>
                <a:latin typeface="Aptos Display"/>
                <a:ea typeface="Aptos Display"/>
                <a:cs typeface="Aptos Display"/>
              </a:rPr>
              <a:t>Discussion – Next Experiments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D16A00-33F1-D3EA-351B-14FBD8D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76" y="2285151"/>
            <a:ext cx="781881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6422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8E991D-CC25-B10C-7187-28B8C71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31" y="3289328"/>
            <a:ext cx="7866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6354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Items</a:t>
            </a:r>
          </a:p>
        </p:txBody>
      </p:sp>
      <p:sp>
        <p:nvSpPr>
          <p:cNvPr id="4" name="Cross 3">
            <a:extLst xmlns:a="http://schemas.openxmlformats.org/drawingml/2006/main">
              <a:ext uri="{FF2B5EF4-FFF2-40B4-BE49-F238E27FC236}">
                <a16:creationId xmlns:a16="http://schemas.microsoft.com/office/drawing/2014/main" id="{057637A3-2652-477E-9BAC-37E0F452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59" y="2817526"/>
            <a:ext cx="320634" cy="308759"/>
          </a:xfrm>
          <a:prstGeom xmlns:a="http://schemas.openxmlformats.org/drawingml/2006/main" prst="plus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ight Arrow 5">
            <a:extLst xmlns:a="http://schemas.openxmlformats.org/drawingml/2006/main">
              <a:ext uri="{FF2B5EF4-FFF2-40B4-BE49-F238E27FC236}">
                <a16:creationId xmlns:a16="http://schemas.microsoft.com/office/drawing/2014/main" id="{E188BC9D-64A3-C478-FD02-ABBC2FB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321" y="2778086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59D488-4C36-DC8C-FB68-80D61B74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21" y="2771990"/>
            <a:ext cx="107273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BCB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AEA54-F1DA-F26C-38AA-C8EDA33A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486" y="3176847"/>
            <a:ext cx="20798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(clean-room run)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C7B83BA4-84FD-1E9F-3233-A5A4694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27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7F1561B-EBF1-3557-A60C-F0E401F7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80" y="2775038"/>
            <a:ext cx="5725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GT</a:t>
            </a: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B484F950-BAA5-BB2F-7040-0B31CA8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71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09AAC0-4723-24F0-34D1-B5F97ECF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524" y="2775038"/>
            <a:ext cx="5725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B5</a:t>
            </a:r>
          </a:p>
        </p:txBody>
      </p:sp>
      <p:sp>
        <p:nvSpPr>
          <p:cNvPr id="14" name="Right Arrow 13">
            <a:extLst xmlns:a="http://schemas.openxmlformats.org/drawingml/2006/main">
              <a:ext uri="{FF2B5EF4-FFF2-40B4-BE49-F238E27FC236}">
                <a16:creationId xmlns:a16="http://schemas.microsoft.com/office/drawing/2014/main" id="{CCA3B3D3-3384-A46D-58BD-BE3A71A2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993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A271DF4-0BC9-8111-E59A-03E7F26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546" y="2775038"/>
            <a:ext cx="5725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72756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Neg.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1CDF8EE0-DEF4-7837-BC8F-FFD846B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184" y="2775038"/>
            <a:ext cx="414824" cy="317423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E3DD62C-D665-C67B-0299-59325FFE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051" y="2733694"/>
            <a:ext cx="107753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F1F110B-59CE-E5E6-9423-B1271D2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65" y="3172100"/>
            <a:ext cx="138371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63907"/>
          </a:bodyPr>
          <a:lstStyle xmlns:a="http://schemas.openxmlformats.org/drawingml/2006/main"/>
          <a:p xmlns:a="http://schemas.openxmlformats.org/drawingml/2006/main">
            <a:pPr algn="ctr">
              <a:defRPr sz="1600">
                <a:solidFill>
                  <a:srgbClr val="818284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818284"/>
                </a:solidFill>
                <a:latin typeface="Aptos"/>
                <a:ea typeface="Aptos"/>
                <a:cs typeface="Aptos"/>
              </a:rPr>
              <a:t>(freeze paper claims)</a:t>
            </a:r>
          </a:p>
        </p:txBody>
      </p:sp>
    </p:spTree>
    <p:extLst>
      <p:ext uri="{BB962C8B-B14F-4D97-AF65-F5344CB8AC3E}">
        <p14:creationId xmlns:p14="http://schemas.microsoft.com/office/powerpoint/2010/main" val="3987809527"/>
      </p:ext>
    </p:extLst>
  </p:cSld>
</p:sld>
</file>

<file path=ppt/theme/theme1.xml><?xml version="1.0" encoding="utf-8"?>
<a:theme xmlns:a="http://schemas.openxmlformats.org/drawingml/2006/main" name="Custom Design">
  <a:themeElements>
    <a:clrScheme name="Western PPT">
      <a:dk1>
        <a:srgbClr val="000000"/>
      </a:dk1>
      <a:lt1>
        <a:srgbClr val="FFFFFF"/>
      </a:lt1>
      <a:dk2>
        <a:srgbClr val="4F2683"/>
      </a:dk2>
      <a:lt2>
        <a:srgbClr val="E7E6E6"/>
      </a:lt2>
      <a:accent1>
        <a:srgbClr val="8F55E0"/>
      </a:accent1>
      <a:accent2>
        <a:srgbClr val="7DEAFB"/>
      </a:accent2>
      <a:accent3>
        <a:srgbClr val="B9F876"/>
      </a:accent3>
      <a:accent4>
        <a:srgbClr val="F0A757"/>
      </a:accent4>
      <a:accent5>
        <a:srgbClr val="8F55E0"/>
      </a:accent5>
      <a:accent6>
        <a:srgbClr val="7DEAFB"/>
      </a:accent6>
      <a:hlink>
        <a:srgbClr val="4F2683"/>
      </a:hlink>
      <a:folHlink>
        <a:srgbClr val="81828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stern 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2026-07-30T03:42:41.0190000Z</dcterms:created>
  <dcterms:modified xsi:type="dcterms:W3CDTF">2026-07-30T03:42:41.0190000Z</dcterms:modified>
</coreProperties>
</file>