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aae6ca3bc24edd" /><Relationship Type="http://schemas.openxmlformats.org/officeDocument/2006/relationships/extended-properties" Target="/docProps/app.xml" Id="Rec85655006b3454c" /><Relationship Type="http://schemas.openxmlformats.org/officeDocument/2006/relationships/officeDocument" Target="/ppt/presentation.xml" Id="R9320232952a7480e" /></Relationships>
</file>

<file path=ppt/presentation.xml><?xml version="1.0" encoding="utf-8"?>
<p:presentation xmlns:p="http://schemas.openxmlformats.org/presentationml/2006/main">
  <p:sldMasterIdLst>
    <p:sldMasterId xmlns:r="http://schemas.openxmlformats.org/officeDocument/2006/relationships" id="2147483648" r:id="Re14e756375874d5d"/>
  </p:sldMasterIdLst>
  <p:notesMasterIdLst>
    <p:notesMasterId xmlns:r="http://schemas.openxmlformats.org/officeDocument/2006/relationships" r:id="Ra8c7c43cb3fd45ad"/>
  </p:notesMasterIdLst>
  <p:sldIdLst>
    <p:sldId xmlns:r="http://schemas.openxmlformats.org/officeDocument/2006/relationships" id="256" r:id="R4228a2934d134d30"/>
    <p:sldId xmlns:r="http://schemas.openxmlformats.org/officeDocument/2006/relationships" id="257" r:id="Rc6e04835eca747db"/>
    <p:sldId xmlns:r="http://schemas.openxmlformats.org/officeDocument/2006/relationships" id="258" r:id="R0812c1b0dba04ee3"/>
    <p:sldId xmlns:r="http://schemas.openxmlformats.org/officeDocument/2006/relationships" id="259" r:id="R08ec56aea6334344"/>
    <p:sldId xmlns:r="http://schemas.openxmlformats.org/officeDocument/2006/relationships" id="260" r:id="Rf2c6e8576c664288"/>
    <p:sldId xmlns:r="http://schemas.openxmlformats.org/officeDocument/2006/relationships" id="261" r:id="R2ea02421935f4623"/>
    <p:sldId xmlns:r="http://schemas.openxmlformats.org/officeDocument/2006/relationships" id="262" r:id="R89e355192c604dd2"/>
    <p:sldId xmlns:r="http://schemas.openxmlformats.org/officeDocument/2006/relationships" id="263" r:id="R3fa88d3982f14bce"/>
    <p:sldId xmlns:r="http://schemas.openxmlformats.org/officeDocument/2006/relationships" id="264" r:id="Ree8bf4cb898d4edc"/>
    <p:sldId xmlns:r="http://schemas.openxmlformats.org/officeDocument/2006/relationships" id="265" r:id="R35022f684e1048e4"/>
    <p:sldId xmlns:r="http://schemas.openxmlformats.org/officeDocument/2006/relationships" id="266" r:id="R046ab4d90aff4666"/>
    <p:sldId xmlns:r="http://schemas.openxmlformats.org/officeDocument/2006/relationships" id="267" r:id="Rbba381b1e9f947df"/>
    <p:sldId xmlns:r="http://schemas.openxmlformats.org/officeDocument/2006/relationships" id="268" r:id="R8c668d0d5fc9469a"/>
    <p:sldId xmlns:r="http://schemas.openxmlformats.org/officeDocument/2006/relationships" id="269" r:id="R8a3d5629f6044c9a"/>
    <p:sldId xmlns:r="http://schemas.openxmlformats.org/officeDocument/2006/relationships" id="270" r:id="R999c67750b57431e"/>
    <p:sldId xmlns:r="http://schemas.openxmlformats.org/officeDocument/2006/relationships" id="271" r:id="R546da267ae58405f"/>
    <p:sldId xmlns:r="http://schemas.openxmlformats.org/officeDocument/2006/relationships" id="272" r:id="Rb4434f9cc4c54ac8"/>
    <p:sldId xmlns:r="http://schemas.openxmlformats.org/officeDocument/2006/relationships" id="273" r:id="Reebc14405c924cc0"/>
    <p:sldId xmlns:r="http://schemas.openxmlformats.org/officeDocument/2006/relationships" id="274" r:id="R7fca4eb64c144eb2"/>
    <p:sldId xmlns:r="http://schemas.openxmlformats.org/officeDocument/2006/relationships" id="275" r:id="R026ae0f5cbd9492e"/>
    <p:sldId xmlns:r="http://schemas.openxmlformats.org/officeDocument/2006/relationships" id="276" r:id="R2253b22f65384d5d"/>
    <p:sldId xmlns:r="http://schemas.openxmlformats.org/officeDocument/2006/relationships" id="277" r:id="Rb1687f14732148de"/>
    <p:sldId xmlns:r="http://schemas.openxmlformats.org/officeDocument/2006/relationships" id="278" r:id="R7ba0bcf5e3fa465c"/>
    <p:sldId xmlns:r="http://schemas.openxmlformats.org/officeDocument/2006/relationships" id="279" r:id="Rf0bf9c3927404bfc"/>
  </p:sldIdLst>
  <p:sldSz cx="12192000" cy="6858000"/>
  <p:notesSz cx="6858000" cy="9144000"/>
</p:presentation>
</file>

<file path=ppt/authors.xml><?xml version="1.0" encoding="utf-8"?>
<p188:authorLst xmlns:p188="http://schemas.microsoft.com/office/powerpoint/2018/8/main">
  <p188:author id="{06653A29-79AB-ED40-7E81-7E1B90306C79}" name="Lindsay Wiley" initials="LW" userId="S::larnol9@uwo.ca::f5f5da08-2706-4cc8-9ee9-3303944ea907" providerId="AD"/>
  <p188:author id="{27B49274-4AC4-6CF1-4703-241EE979471F}" name="Crystal Carter" initials="CC" userId="S::ccarte82@uwo.ca::a6bbf219-e6ce-4bec-b1d8-c380711a6edd"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3022c35186c44a9" /><Relationship Type="http://schemas.openxmlformats.org/officeDocument/2006/relationships/slideMaster" Target="/ppt/slideMasters/slideMaster1.xml" Id="Re14e756375874d5d" /><Relationship Type="http://schemas.openxmlformats.org/officeDocument/2006/relationships/notesMaster" Target="/ppt/notesMasters/notesMaster1.xml" Id="Ra8c7c43cb3fd45ad" /><Relationship Type="http://schemas.openxmlformats.org/officeDocument/2006/relationships/presProps" Target="/ppt/presProps.xml" Id="Ra5229b5907f34323" /><Relationship Type="http://schemas.openxmlformats.org/officeDocument/2006/relationships/viewProps" Target="/ppt/viewProps.xml" Id="Red2a1bd7234c46f2" /><Relationship Type="http://schemas.openxmlformats.org/officeDocument/2006/relationships/tableStyles" Target="/ppt/tableStyles.xml" Id="R67884bc7e4b240b7" /><Relationship Type="http://schemas.microsoft.com/office/2018/10/relationships/authors" Target="/ppt/authors.xml" Id="R0190589bbd9a444a" /><Relationship Type="http://schemas.openxmlformats.org/officeDocument/2006/relationships/slide" Target="/ppt/slides/slide1.xml" Id="R4228a2934d134d30" /><Relationship Type="http://schemas.openxmlformats.org/officeDocument/2006/relationships/slide" Target="/ppt/slides/slide2.xml" Id="Rc6e04835eca747db" /><Relationship Type="http://schemas.openxmlformats.org/officeDocument/2006/relationships/slide" Target="/ppt/slides/slide3.xml" Id="R0812c1b0dba04ee3" /><Relationship Type="http://schemas.openxmlformats.org/officeDocument/2006/relationships/slide" Target="/ppt/slides/slide4.xml" Id="R08ec56aea6334344" /><Relationship Type="http://schemas.openxmlformats.org/officeDocument/2006/relationships/slide" Target="/ppt/slides/slide5.xml" Id="Rf2c6e8576c664288" /><Relationship Type="http://schemas.openxmlformats.org/officeDocument/2006/relationships/slide" Target="/ppt/slides/slide6.xml" Id="R2ea02421935f4623" /><Relationship Type="http://schemas.openxmlformats.org/officeDocument/2006/relationships/slide" Target="/ppt/slides/slide7.xml" Id="R89e355192c604dd2" /><Relationship Type="http://schemas.openxmlformats.org/officeDocument/2006/relationships/slide" Target="/ppt/slides/slide8.xml" Id="R3fa88d3982f14bce" /><Relationship Type="http://schemas.openxmlformats.org/officeDocument/2006/relationships/slide" Target="/ppt/slides/slide9.xml" Id="Ree8bf4cb898d4edc" /><Relationship Type="http://schemas.openxmlformats.org/officeDocument/2006/relationships/slide" Target="/ppt/slides/slide10.xml" Id="R35022f684e1048e4" /><Relationship Type="http://schemas.openxmlformats.org/officeDocument/2006/relationships/slide" Target="/ppt/slides/slide11.xml" Id="R046ab4d90aff4666" /><Relationship Type="http://schemas.openxmlformats.org/officeDocument/2006/relationships/slide" Target="/ppt/slides/slide12.xml" Id="Rbba381b1e9f947df" /><Relationship Type="http://schemas.openxmlformats.org/officeDocument/2006/relationships/slide" Target="/ppt/slides/slide13.xml" Id="R8c668d0d5fc9469a" /><Relationship Type="http://schemas.openxmlformats.org/officeDocument/2006/relationships/slide" Target="/ppt/slides/slide14.xml" Id="R8a3d5629f6044c9a" /><Relationship Type="http://schemas.openxmlformats.org/officeDocument/2006/relationships/slide" Target="/ppt/slides/slide15.xml" Id="R999c67750b57431e" /><Relationship Type="http://schemas.openxmlformats.org/officeDocument/2006/relationships/slide" Target="/ppt/slides/slide16.xml" Id="R546da267ae58405f" /><Relationship Type="http://schemas.openxmlformats.org/officeDocument/2006/relationships/slide" Target="/ppt/slides/slide17.xml" Id="Rb4434f9cc4c54ac8" /><Relationship Type="http://schemas.openxmlformats.org/officeDocument/2006/relationships/slide" Target="/ppt/slides/slide18.xml" Id="Reebc14405c924cc0" /><Relationship Type="http://schemas.openxmlformats.org/officeDocument/2006/relationships/slide" Target="/ppt/slides/slide19.xml" Id="R7fca4eb64c144eb2" /><Relationship Type="http://schemas.openxmlformats.org/officeDocument/2006/relationships/slide" Target="/ppt/slides/slide20.xml" Id="R026ae0f5cbd9492e" /><Relationship Type="http://schemas.openxmlformats.org/officeDocument/2006/relationships/slide" Target="/ppt/slides/slide21.xml" Id="R2253b22f65384d5d" /><Relationship Type="http://schemas.openxmlformats.org/officeDocument/2006/relationships/slide" Target="/ppt/slides/slide22.xml" Id="Rb1687f14732148de" /><Relationship Type="http://schemas.openxmlformats.org/officeDocument/2006/relationships/slide" Target="/ppt/slides/slide23.xml" Id="R7ba0bcf5e3fa465c" /><Relationship Type="http://schemas.openxmlformats.org/officeDocument/2006/relationships/slide" Target="/ppt/slides/slide24.xml" Id="Rf0bf9c3927404b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382c2330f142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ustom Design">
  <a:themeElements>
    <a:clrScheme name="Western PPT">
      <a:dk1>
        <a:srgbClr val="000000"/>
      </a:dk1>
      <a:lt1>
        <a:srgbClr val="FFFFFF"/>
      </a:lt1>
      <a:dk2>
        <a:srgbClr val="4F2683"/>
      </a:dk2>
      <a:lt2>
        <a:srgbClr val="E7E6E6"/>
      </a:lt2>
      <a:accent1>
        <a:srgbClr val="8F55E0"/>
      </a:accent1>
      <a:accent2>
        <a:srgbClr val="7DEAFB"/>
      </a:accent2>
      <a:accent3>
        <a:srgbClr val="B9F876"/>
      </a:accent3>
      <a:accent4>
        <a:srgbClr val="F0A757"/>
      </a:accent4>
      <a:accent5>
        <a:srgbClr val="8F55E0"/>
      </a:accent5>
      <a:accent6>
        <a:srgbClr val="7DEAFB"/>
      </a:accent6>
      <a:hlink>
        <a:srgbClr val="4F2683"/>
      </a:hlink>
      <a:folHlink>
        <a:srgbClr val="81828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estern PP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ed1004f15947d2" /><Relationship Type="http://schemas.openxmlformats.org/officeDocument/2006/relationships/notesMaster" Target="/ppt/notesMasters/notesMaster1.xml" Id="Reee10086109c43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631b04b8244393" /><Relationship Type="http://schemas.openxmlformats.org/officeDocument/2006/relationships/notesMaster" Target="/ppt/notesMasters/notesMaster1.xml" Id="R8299820ccb3844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c21d1f3b294692" /><Relationship Type="http://schemas.openxmlformats.org/officeDocument/2006/relationships/notesMaster" Target="/ppt/notesMasters/notesMaster1.xml" Id="R76cb24ffbc2147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730bfeb18e4f99" /><Relationship Type="http://schemas.openxmlformats.org/officeDocument/2006/relationships/notesMaster" Target="/ppt/notesMasters/notesMaster1.xml" Id="R2366764651994c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d79e885d6e4583" /><Relationship Type="http://schemas.openxmlformats.org/officeDocument/2006/relationships/notesMaster" Target="/ppt/notesMasters/notesMaster1.xml" Id="Rbf8b56eb26d54b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250500ec0c4a13" /><Relationship Type="http://schemas.openxmlformats.org/officeDocument/2006/relationships/notesMaster" Target="/ppt/notesMasters/notesMaster1.xml" Id="Re5ee7a3bcf5a4e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5ec8bd14f74df4" /><Relationship Type="http://schemas.openxmlformats.org/officeDocument/2006/relationships/notesMaster" Target="/ppt/notesMasters/notesMaster1.xml" Id="R8aa6923f439747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e9aa7da1b44991" /><Relationship Type="http://schemas.openxmlformats.org/officeDocument/2006/relationships/notesMaster" Target="/ppt/notesMasters/notesMaster1.xml" Id="R14f388fa5f2242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8703d185564c45" /><Relationship Type="http://schemas.openxmlformats.org/officeDocument/2006/relationships/notesMaster" Target="/ppt/notesMasters/notesMaster1.xml" Id="R181cf7a4fd0742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3b93534b884581" /><Relationship Type="http://schemas.openxmlformats.org/officeDocument/2006/relationships/notesMaster" Target="/ppt/notesMasters/notesMaster1.xml" Id="R19b86009dea143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625400ffba46a2" /><Relationship Type="http://schemas.openxmlformats.org/officeDocument/2006/relationships/notesMaster" Target="/ppt/notesMasters/notesMaster1.xml" Id="R1c77098f1c7d42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872e9154fe414f" /><Relationship Type="http://schemas.openxmlformats.org/officeDocument/2006/relationships/notesMaster" Target="/ppt/notesMasters/notesMaster1.xml" Id="R88c91721946046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e3ec1d77a746e9" /><Relationship Type="http://schemas.openxmlformats.org/officeDocument/2006/relationships/notesMaster" Target="/ppt/notesMasters/notesMaster1.xml" Id="R842cb2d362cb41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2bfccb50ad4bbd" /><Relationship Type="http://schemas.openxmlformats.org/officeDocument/2006/relationships/notesMaster" Target="/ppt/notesMasters/notesMaster1.xml" Id="Rb3ad27edf93543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63c8be64b14755" /><Relationship Type="http://schemas.openxmlformats.org/officeDocument/2006/relationships/notesMaster" Target="/ppt/notesMasters/notesMaster1.xml" Id="R178fe375354e40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4dc306dbbb4ced" /><Relationship Type="http://schemas.openxmlformats.org/officeDocument/2006/relationships/notesMaster" Target="/ppt/notesMasters/notesMaster1.xml" Id="R70fd7049e1784b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e5f2bc7cde468c" /><Relationship Type="http://schemas.openxmlformats.org/officeDocument/2006/relationships/notesMaster" Target="/ppt/notesMasters/notesMaster1.xml" Id="Rf7833c555cfc46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4b8dc6e05324e08" /><Relationship Type="http://schemas.openxmlformats.org/officeDocument/2006/relationships/notesMaster" Target="/ppt/notesMasters/notesMaster1.xml" Id="Rdf6b4636801b4ff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27d53d4dbf4985" /><Relationship Type="http://schemas.openxmlformats.org/officeDocument/2006/relationships/notesMaster" Target="/ppt/notesMasters/notesMaster1.xml" Id="Ra112c989635a44c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3fdb51dfc2422f" /><Relationship Type="http://schemas.openxmlformats.org/officeDocument/2006/relationships/notesMaster" Target="/ppt/notesMasters/notesMaster1.xml" Id="R9c842f3521d743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f2e3ce5ce747d4" /><Relationship Type="http://schemas.openxmlformats.org/officeDocument/2006/relationships/notesMaster" Target="/ppt/notesMasters/notesMaster1.xml" Id="Rc7331c5575f547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2f11f4b43e4e45" /><Relationship Type="http://schemas.openxmlformats.org/officeDocument/2006/relationships/notesMaster" Target="/ppt/notesMasters/notesMaster1.xml" Id="R457c20e76a8c4b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1b6f54456274f92" /><Relationship Type="http://schemas.openxmlformats.org/officeDocument/2006/relationships/notesMaster" Target="/ppt/notesMasters/notesMaster1.xml" Id="Rb0222f1f484343d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585eff5e49496b" /><Relationship Type="http://schemas.openxmlformats.org/officeDocument/2006/relationships/notesMaster" Target="/ppt/notesMasters/notesMaster1.xml" Id="R7fe37a2fe87e45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main story: V1 produced useful diagnostics, but invalid inputs limited what could be claimed. V2 makes every tested pair compilable and gives exact ground truth.</a:t>
            </a:r>
          </a:p>
          <a:p xmlns:a="http://schemas.openxmlformats.org/drawingml/2006/main">
            <a:r>
              <a:t/>
            </a:r>
          </a:p>
          <a:p xmlns:a="http://schemas.openxmlformats.org/drawingml/2006/main">
            <a:r>
              <a:t>[Sources]</a:t>
            </a:r>
          </a:p>
          <a:p xmlns:a="http://schemas.openxmlformats.org/drawingml/2006/main">
            <a:r>
              <a:t>- code-sim/results/bcb_full_scored/summary.md</a:t>
            </a:r>
          </a:p>
          <a:p xmlns:a="http://schemas.openxmlformats.org/drawingml/2006/main">
            <a:r>
              <a:t>- code-sim/results/formal-v1/FREEZE.md</a:t>
            </a:r>
          </a:p>
          <a:p xmlns:a="http://schemas.openxmlformats.org/drawingml/2006/main">
            <a:r>
              <a:t>- code-sim/results/formal-v1/HANDOFF.md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six BCB groups, the two test scales, and the 70% coverage scoring rule. The full run is the result set used in the next slides.</a:t>
            </a:r>
          </a:p>
          <a:p xmlns:a="http://schemas.openxmlformats.org/drawingml/2006/main">
            <a:r>
              <a:t/>
            </a:r>
          </a:p>
          <a:p xmlns:a="http://schemas.openxmlformats.org/drawingml/2006/main">
            <a:r>
              <a:t>[Sources]</a:t>
            </a:r>
          </a:p>
          <a:p xmlns:a="http://schemas.openxmlformats.org/drawingml/2006/main">
            <a:r>
              <a:t>- code-sim/results/bcb_smoke/scored/summary.md</a:t>
            </a:r>
          </a:p>
          <a:p xmlns:a="http://schemas.openxmlformats.org/drawingml/2006/main">
            <a:r>
              <a:t>- code-sim/results/bcb_full_scored/summary.md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only to establish scale and class imbalance. MT3 dominates the full dataset, so the overall rate must not be read without the per-group results.</a:t>
            </a:r>
          </a:p>
          <a:p xmlns:a="http://schemas.openxmlformats.org/drawingml/2006/main">
            <a:r>
              <a:t/>
            </a:r>
          </a:p>
          <a:p xmlns:a="http://schemas.openxmlformats.org/drawingml/2006/main">
            <a:r>
              <a:t>[Sources]</a:t>
            </a:r>
          </a:p>
          <a:p xmlns:a="http://schemas.openxmlformats.org/drawingml/2006/main">
            <a:r>
              <a:t>- code-sim/results/bcb_full_scored/summary.md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smoke test looked strong for T1/T2/ST3 and negatives, but MT3 was only 15%. More importantly, only 22 of 140 pairs reached the intended semantic path.</a:t>
            </a:r>
          </a:p>
          <a:p xmlns:a="http://schemas.openxmlformats.org/drawingml/2006/main">
            <a:r>
              <a:t/>
            </a:r>
          </a:p>
          <a:p xmlns:a="http://schemas.openxmlformats.org/drawingml/2006/main">
            <a:r>
              <a:t>[Sources]</a:t>
            </a:r>
          </a:p>
          <a:p xmlns:a="http://schemas.openxmlformats.org/drawingml/2006/main">
            <a:r>
              <a:t>- code-sim/results/bcb_smoke/scored/summary.md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full-run result. T1/T2 detection remained strong. VST3 had a large detection-versus-type gap. MT3 remained the main failure at 29.7%.</a:t>
            </a:r>
          </a:p>
          <a:p xmlns:a="http://schemas.openxmlformats.org/drawingml/2006/main">
            <a:r>
              <a:t/>
            </a:r>
          </a:p>
          <a:p xmlns:a="http://schemas.openxmlformats.org/drawingml/2006/main">
            <a:r>
              <a:t>[Sources]</a:t>
            </a:r>
          </a:p>
          <a:p xmlns:a="http://schemas.openxmlformats.org/drawingml/2006/main">
            <a:r>
              <a:t>- code-sim/results/bcb_full_scored/summary.md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both average and median/P90 because the distribution is highly skewed. Several clone groups have a P90 near 50 seconds, while negatives and T2 are much faster.</a:t>
            </a:r>
          </a:p>
          <a:p xmlns:a="http://schemas.openxmlformats.org/drawingml/2006/main">
            <a:r>
              <a:t/>
            </a:r>
          </a:p>
          <a:p xmlns:a="http://schemas.openxmlformats.org/drawingml/2006/main">
            <a:r>
              <a:t>[Sources]</a:t>
            </a:r>
          </a:p>
          <a:p xmlns:a="http://schemas.openxmlformats.org/drawingml/2006/main">
            <a:r>
              <a:t>- code-sim/results/bcb_full_scored/summary.md</a:t>
            </a:r>
          </a:p>
          <a:p xmlns:a="http://schemas.openxmlformats.org/drawingml/2006/main">
            <a:r>
              <a:t>- code-sim/results/bcb_full_scored/analysis/per_group.csv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Split MT3 into detected, partial coverage, and no region. Then show that the BCB similarity bucket strongly predicts detection, but this still does not resolve the input-validity confound.</a:t>
            </a:r>
          </a:p>
          <a:p xmlns:a="http://schemas.openxmlformats.org/drawingml/2006/main">
            <a:r>
              <a:t/>
            </a:r>
          </a:p>
          <a:p xmlns:a="http://schemas.openxmlformats.org/drawingml/2006/main">
            <a:r>
              <a:t>[Sources]</a:t>
            </a:r>
          </a:p>
          <a:p xmlns:a="http://schemas.openxmlformats.org/drawingml/2006/main">
            <a:r>
              <a:t>- code-sim/results/bcb_full_scored/summary.md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motivation for changing methods. The wrapper preserved the fragment text but not the original compilation context. Stub generation can add external dependencies, but cannot safely invent missing class fields or modify the input fragment.</a:t>
            </a:r>
          </a:p>
          <a:p xmlns:a="http://schemas.openxmlformats.org/drawingml/2006/main">
            <a:r>
              <a:t/>
            </a:r>
          </a:p>
          <a:p xmlns:a="http://schemas.openxmlformats.org/drawingml/2006/main">
            <a:r>
              <a:t>[Sources]</a:t>
            </a:r>
          </a:p>
          <a:p xmlns:a="http://schemas.openxmlformats.org/drawingml/2006/main">
            <a:r>
              <a:t>- code-sim/results/bcb_smoke/scored/summary.md</a:t>
            </a:r>
          </a:p>
          <a:p xmlns:a="http://schemas.openxmlformats.org/drawingml/2006/main">
            <a:r>
              <a:t>- code-sim/results/bcb_full_scored/summary.md</a:t>
            </a:r>
          </a:p>
          <a:p xmlns:a="http://schemas.openxmlformats.org/drawingml/2006/main">
            <a:r>
              <a:t>- code-sim/docs/decision-log.md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claim boundary clearly. BCB remains valuable for diagnosing behavior on known clone categories, but V2 is the main formal design because every input is compilable and the change is controlled.</a:t>
            </a:r>
          </a:p>
          <a:p xmlns:a="http://schemas.openxmlformats.org/drawingml/2006/main">
            <a:r>
              <a:t/>
            </a:r>
          </a:p>
          <a:p xmlns:a="http://schemas.openxmlformats.org/drawingml/2006/main">
            <a:r>
              <a:t>[Sources]</a:t>
            </a:r>
          </a:p>
          <a:p xmlns:a="http://schemas.openxmlformats.org/drawingml/2006/main">
            <a:r>
              <a:t>- code-sim/docs/decision-log.md</a:t>
            </a:r>
          </a:p>
          <a:p xmlns:a="http://schemas.openxmlformats.org/drawingml/2006/main">
            <a:r>
              <a:t>- code-sim/results/formal-v1/FREEZE.md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candidate corpora. CodeNet Java250 had 100% standalone compilation in the sampled check and a large filtered pool, so it was selected for V2.</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code-sim/docs/decision-log.md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were useful failures. The original mutation framework mostly broke compilation. Injection created unintended ground truth. Dynamic execution added instability but did not change 59 syntactic verdicts, so it was disabled.</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code-sim/docs/decision-log.md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unit of evidence. The pair begins from one compilable source, receives exactly one known edit, and both sides pass a compile gate. The mutation location and expected type are recorded as ground truth.</a:t>
            </a:r>
          </a:p>
          <a:p xmlns:a="http://schemas.openxmlformats.org/drawingml/2006/main">
            <a:r>
              <a:t/>
            </a:r>
          </a:p>
          <a:p xmlns:a="http://schemas.openxmlformats.org/drawingml/2006/main">
            <a:r>
              <a:t>[Sources]</a:t>
            </a:r>
          </a:p>
          <a:p xmlns:a="http://schemas.openxmlformats.org/drawingml/2006/main">
            <a:r>
              <a:t>- code-sim/results/formal-v1/FREEZE.md</a:t>
            </a:r>
          </a:p>
          <a:p xmlns:a="http://schemas.openxmlformats.org/drawingml/2006/main">
            <a:r>
              <a:t>- code-sim/results/formal-v1/HANDOFF.md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10 operators. T1 changes layout, T2 changes tokens without changing structure, and T3 changes statements. The type-safe Spoon implementation had zero compilation failures in a 600-mutation validation.</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code-sim/results/formal-v1/FREEZE.md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current evidence base: 4,000 evaluated pairs across four frozen batches, representing 249 CodeNet problems. The 4,000 are admitted pairs after operator applicability and compile checks.</a:t>
            </a:r>
          </a:p>
          <a:p xmlns:a="http://schemas.openxmlformats.org/drawingml/2006/main">
            <a:r>
              <a:t/>
            </a:r>
          </a:p>
          <a:p xmlns:a="http://schemas.openxmlformats.org/drawingml/2006/main">
            <a:r>
              <a:t>[Sources]</a:t>
            </a:r>
          </a:p>
          <a:p xmlns:a="http://schemas.openxmlformats.org/drawingml/2006/main">
            <a:r>
              <a:t>- code-sim/results/formal-v1/FREEZE.md</a:t>
            </a:r>
          </a:p>
          <a:p xmlns:a="http://schemas.openxmlformats.org/drawingml/2006/main">
            <a:r>
              <a:t>- code-sim/results/formal-v1/HANDOFF.md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there are more references than pairs. Each pair has a broad clone interval, one or more mutation references, and untouched references that should remain T1.</a:t>
            </a:r>
          </a:p>
          <a:p xmlns:a="http://schemas.openxmlformats.org/drawingml/2006/main">
            <a:r>
              <a:t/>
            </a:r>
          </a:p>
          <a:p xmlns:a="http://schemas.openxmlformats.org/drawingml/2006/main">
            <a:r>
              <a:t>[Sources]</a:t>
            </a:r>
          </a:p>
          <a:p xmlns:a="http://schemas.openxmlformats.org/drawingml/2006/main">
            <a:r>
              <a:t>- code-sim/results/formal-v1/FREEZE.md</a:t>
            </a:r>
          </a:p>
          <a:p xmlns:a="http://schemas.openxmlformats.org/drawingml/2006/main">
            <a:r>
              <a:t>- code-sim/results/formal-v1/ANALYSIS.md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ground-truth corrections, not model changes. Manual inspection found that the expected regions for wrap, rename, and reindent were underspecified. Raw detector output was not changed.</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code-sim/results/formal-v1/HANDOFF.md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validity improvement. All 4,000 admitted pairs completed successfully, used the full source-plus-WALA-plus-SMT path, and had no fallback execution.</a:t>
            </a:r>
          </a:p>
          <a:p xmlns:a="http://schemas.openxmlformats.org/drawingml/2006/main">
            <a:r>
              <a:t/>
            </a:r>
          </a:p>
          <a:p xmlns:a="http://schemas.openxmlformats.org/drawingml/2006/main">
            <a:r>
              <a:t>[Sources]</a:t>
            </a:r>
          </a:p>
          <a:p xmlns:a="http://schemas.openxmlformats.org/drawingml/2006/main">
            <a:r>
              <a:t>- code-sim/results/formal-v1/FREEZE.md</a:t>
            </a:r>
          </a:p>
          <a:p xmlns:a="http://schemas.openxmlformats.org/drawingml/2006/main">
            <a:r>
              <a:t>- code-sim/results/formal-v1/HANDOFF.md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mutation-level type correctness at 81.6%. Clone-level and untouched-level rates are near 97–98%, but clone-level detection is near-trivial by construction and should not be used as the main detection headline.</a:t>
            </a:r>
          </a:p>
          <a:p xmlns:a="http://schemas.openxmlformats.org/drawingml/2006/main">
            <a:r>
              <a:t/>
            </a:r>
          </a:p>
          <a:p xmlns:a="http://schemas.openxmlformats.org/drawingml/2006/main">
            <a:r>
              <a:t>[Sources]</a:t>
            </a:r>
          </a:p>
          <a:p xmlns:a="http://schemas.openxmlformats.org/drawingml/2006/main">
            <a:r>
              <a:t>- code-sim/results/formal-v1/FREEZE.md</a:t>
            </a:r>
          </a:p>
          <a:p xmlns:a="http://schemas.openxmlformats.org/drawingml/2006/main">
            <a:r>
              <a:t>- code-sim/results/formal-v1/ANALYSIS.md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per-operator result. Seven operators are above 78%, five above 98%. Blank-line and block-comment references are largely unobservable after parsing and pretty-printing, so they should be reported separately rather than treated as ordinary detector misses.</a:t>
            </a:r>
          </a:p>
          <a:p xmlns:a="http://schemas.openxmlformats.org/drawingml/2006/main">
            <a:r>
              <a:t/>
            </a:r>
          </a:p>
          <a:p xmlns:a="http://schemas.openxmlformats.org/drawingml/2006/main">
            <a:r>
              <a:t>[Sources]</a:t>
            </a:r>
          </a:p>
          <a:p xmlns:a="http://schemas.openxmlformats.org/drawingml/2006/main">
            <a:r>
              <a:t>- code-sim/results/formal-v1/FREEZE.md</a:t>
            </a:r>
          </a:p>
          <a:p xmlns:a="http://schemas.openxmlformats.org/drawingml/2006/main">
            <a:r>
              <a:t>- code-sim/results/formal-v1/ANALYSIS.md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Decompose the 4,336 mutation references. There are 3,539 correct, 718 never captured, and 79 captured with the wrong type. Of the 718 uncaptured, 691 belong to the two layout operators that are not stable in the output representation.</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code-sim/results/formal-v1/FREEZE.md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100-pair negative pilot produced 81 no-output cases, 17 exploratory-only cases, and two syntactic clones. Twenty-one outputs may be T4 candidates. The next step is to scale to 1,000 and define how no-output cases are scored.</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code-sim/docs/decision-log.md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operational timing, not a controlled performance benchmark. The median is 44.2 seconds per pair, and region search accounts for 38.1 seconds of the median stage time. Two workers fit the 8 GB host but contention affected some batches.</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code-sim/results/formal-v1/HANDOFF.md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solved engineering issues from remaining claim limitations. The formal path is now valid and structured. The largest open measurement issue is suppression by bounding boxes; negatives and unobservable layout operators also need explicit reporting rules.</a:t>
            </a:r>
          </a:p>
          <a:p xmlns:a="http://schemas.openxmlformats.org/drawingml/2006/main">
            <a:r>
              <a:t/>
            </a:r>
          </a:p>
          <a:p xmlns:a="http://schemas.openxmlformats.org/drawingml/2006/main">
            <a:r>
              <a:t>[Sources]</a:t>
            </a:r>
          </a:p>
          <a:p xmlns:a="http://schemas.openxmlformats.org/drawingml/2006/main">
            <a:r>
              <a:t>- code-sim/results/formal-v1/ANALYSIS.md</a:t>
            </a:r>
          </a:p>
          <a:p xmlns:a="http://schemas.openxmlformats.org/drawingml/2006/main">
            <a:r>
              <a:t>- code-sim/results/formal-v1/HANDOFF.md</a:t>
            </a:r>
          </a:p>
          <a:p xmlns:a="http://schemas.openxmlformats.org/drawingml/2006/main">
            <a:r>
              <a:t>- code-sim/docs/decision-log.md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concrete work plan. Batch 5 uses corrected insert/delete definitions and must remain a separate arm until reconciled. Then scale multi-mutation and negative tests, rerun BCB on original files, and freeze the final claims and performance protocol.</a:t>
            </a:r>
          </a:p>
          <a:p xmlns:a="http://schemas.openxmlformats.org/drawingml/2006/main">
            <a:r>
              <a:t/>
            </a:r>
          </a:p>
          <a:p xmlns:a="http://schemas.openxmlformats.org/drawingml/2006/main">
            <a:r>
              <a:t>[Sources]</a:t>
            </a:r>
          </a:p>
          <a:p xmlns:a="http://schemas.openxmlformats.org/drawingml/2006/main">
            <a:r>
              <a:t>- code-sim/results/formal-v1/HANDOFF.md</a:t>
            </a:r>
          </a:p>
          <a:p xmlns:a="http://schemas.openxmlformats.org/drawingml/2006/main">
            <a:r>
              <a:t>- code-sim/results/formal-v1/batch5/</a:t>
            </a:r>
          </a:p>
          <a:p xmlns:a="http://schemas.openxmlformats.org/drawingml/2006/main">
            <a:r>
              <a:t>- code-sim/docs/decision-log.md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c93386b3594d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d851045ee042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d3c910825d4f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5faed492564e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2a76a030f24a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5175fd54824b1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1aa1788302f441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a40a7d77c47419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81cc6800cf94eb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f7e84566ed8404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20876cb751749a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BEE511-B03C-1057-AC41-916778E865E1}"/>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98BC20E-8A67-2533-0BEE-42FA56BA1FEC}"/>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0E3950C-D78D-4FFD-7918-9AF623BD3D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567E8B0F-AB04-3D2D-70E0-A209AC0AFA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13569-AF66-DC5C-197E-0EAF211549D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1EA5EC0-6F2E-1D49-9980-EEDE825FB3A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CFF80C1-C4ED-D9CD-20D3-EF632343A8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697C28C4-0874-D93E-7FBD-E964E8BF3C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D7ACA2-8B6C-77F9-5D9F-47324639CD6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91BD387-471D-4EA7-FF61-64F548DDEC7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55C49DD-5F74-B022-C969-4E000A887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02188530-7F00-F90D-4003-EAD54EBD48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885BA3-93F9-8A28-143D-D7D1E32C67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D3C4454-4C7A-C5CA-C5B6-4FFBA2E7B461}"/>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36240780-7644-D8E0-BF20-1B3A4140A8F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E37865DF-8228-AE80-2DDE-764E95A045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6" name="Footer Placeholder 5">
            <a:extLst xmlns:a="http://schemas.openxmlformats.org/drawingml/2006/main">
              <a:ext uri="{FF2B5EF4-FFF2-40B4-BE49-F238E27FC236}">
                <a16:creationId xmlns:a16="http://schemas.microsoft.com/office/drawing/2014/main" id="{455AD19D-43B0-BEC0-872E-72DAFCACDA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E8CC55-D408-6132-BA6A-999BF5D5CAD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F129F1D-29C9-6E5A-4A6B-CC3D1A9E31D0}"/>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8E02292-DDAE-231B-B53E-09E535AC14D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FC4B30A-12AA-B23B-8E92-282088A0516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79E8380-3F11-1CD5-D6EB-527B9716E200}"/>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E9B26C14-3F56-E521-3BB8-405DE83CA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8" name="Footer Placeholder 7">
            <a:extLst xmlns:a="http://schemas.openxmlformats.org/drawingml/2006/main">
              <a:ext uri="{FF2B5EF4-FFF2-40B4-BE49-F238E27FC236}">
                <a16:creationId xmlns:a16="http://schemas.microsoft.com/office/drawing/2014/main" id="{406D5304-777D-69A0-50DA-5BFF62FBD6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FC7157-CBA5-526F-5917-1E123BE5CB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E364761E-FBFE-40C6-D0B9-C8134BD199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4" name="Footer Placeholder 3">
            <a:extLst xmlns:a="http://schemas.openxmlformats.org/drawingml/2006/main">
              <a:ext uri="{FF2B5EF4-FFF2-40B4-BE49-F238E27FC236}">
                <a16:creationId xmlns:a16="http://schemas.microsoft.com/office/drawing/2014/main" id="{4EC95254-AFC3-E6D2-EE19-6B1F031D50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2D7A6BE-CFA2-2FDA-9A86-AF5573A410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3" name="Footer Placeholder 2">
            <a:extLst xmlns:a="http://schemas.openxmlformats.org/drawingml/2006/main">
              <a:ext uri="{FF2B5EF4-FFF2-40B4-BE49-F238E27FC236}">
                <a16:creationId xmlns:a16="http://schemas.microsoft.com/office/drawing/2014/main" id="{DAA657E0-7335-D103-ABCA-DFACDBFAA2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8CEA00-56DC-F8AD-4DDD-C228A585C3D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4FF75F3-4099-0A9F-F38E-881A13A92BAD}"/>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E13B34D-22B5-A821-8983-F49DB210528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303AD5E-FC21-5E9B-3670-0BB3CD7F6C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6" name="Footer Placeholder 5">
            <a:extLst xmlns:a="http://schemas.openxmlformats.org/drawingml/2006/main">
              <a:ext uri="{FF2B5EF4-FFF2-40B4-BE49-F238E27FC236}">
                <a16:creationId xmlns:a16="http://schemas.microsoft.com/office/drawing/2014/main" id="{FCCD3907-A0CA-19F3-CECC-5B2E6613DE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1A9D52-EC75-D287-905F-3E6D81BE99F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3C4E19A-2F95-8AC6-4154-FC72AF8B21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1E14A2CB-2278-F53C-97EE-46C64B68424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58B3B7F-01E6-CE81-DD4F-39527D9764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6" name="Footer Placeholder 5">
            <a:extLst xmlns:a="http://schemas.openxmlformats.org/drawingml/2006/main">
              <a:ext uri="{FF2B5EF4-FFF2-40B4-BE49-F238E27FC236}">
                <a16:creationId xmlns:a16="http://schemas.microsoft.com/office/drawing/2014/main" id="{99516590-4901-71B2-0E21-774BDEAD7D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1B3527-9C73-8E44-7416-930F102A158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22E3B4A-1C4D-6D14-00BE-4F286E8E3B0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430EBEA-37C1-CB02-3E0E-A04778C5BA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10F0942E-D0E9-70F4-A8A0-A72264F615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42CB505-12D9-0A3C-7DA7-DD7D57F7702B}"/>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A51F388-A3F9-6AB6-79A9-FF78AF488D3D}"/>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1A1B9B0-A8E0-8E33-992C-94059DA08F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366C6898-6FB5-5C09-0A7E-0C493C4A87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2221a23aa64f1e" /><Relationship Type="http://schemas.openxmlformats.org/officeDocument/2006/relationships/slideLayout" Target="/ppt/slideLayouts/slideLayout1.xml" Id="Rf502e17274b649a8" /><Relationship Type="http://schemas.openxmlformats.org/officeDocument/2006/relationships/slideLayout" Target="/ppt/slideLayouts/slideLayout2.xml" Id="Rb2cbdd816c95442f" /><Relationship Type="http://schemas.openxmlformats.org/officeDocument/2006/relationships/slideLayout" Target="/ppt/slideLayouts/slideLayout3.xml" Id="Rd44526320ace4bc0" /><Relationship Type="http://schemas.openxmlformats.org/officeDocument/2006/relationships/slideLayout" Target="/ppt/slideLayouts/slideLayout4.xml" Id="R1335b6b8465d4aca" /><Relationship Type="http://schemas.openxmlformats.org/officeDocument/2006/relationships/slideLayout" Target="/ppt/slideLayouts/slideLayout5.xml" Id="Rb7dde107ae3547f6" /><Relationship Type="http://schemas.openxmlformats.org/officeDocument/2006/relationships/slideLayout" Target="/ppt/slideLayouts/slideLayout6.xml" Id="Rd2177a54c7664798" /><Relationship Type="http://schemas.openxmlformats.org/officeDocument/2006/relationships/slideLayout" Target="/ppt/slideLayouts/slideLayout7.xml" Id="Rb933a80b8910479d" /><Relationship Type="http://schemas.openxmlformats.org/officeDocument/2006/relationships/slideLayout" Target="/ppt/slideLayouts/slideLayout8.xml" Id="R68afe0e80d0d4442" /><Relationship Type="http://schemas.openxmlformats.org/officeDocument/2006/relationships/slideLayout" Target="/ppt/slideLayouts/slideLayout9.xml" Id="R5053b844239c4d68" /><Relationship Type="http://schemas.openxmlformats.org/officeDocument/2006/relationships/slideLayout" Target="/ppt/slideLayouts/slideLayout10.xml" Id="Rd4d4221b6f034a06" /><Relationship Type="http://schemas.openxmlformats.org/officeDocument/2006/relationships/slideLayout" Target="/ppt/slideLayouts/slideLayout11.xml" Id="R67968784692b411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CB4F55D-EBE1-D1EA-B810-A447897483CC}"/>
              </a:ext>
            </a:extLst>
          </p:cNvPr>
          <p:cNvSpPr>
            <a:spLocks xmlns:a="http://schemas.openxmlformats.org/drawingml/2006/main" noGrp="1"/>
          </p:cNvSpPr>
          <p:nvPr>
            <p:ph type="title" idx="0"/>
          </p:nvPr>
        </p:nvSpPr>
        <p:spPr>
          <a:xfrm xmlns:a="http://schemas.openxmlformats.org/drawingml/2006/main">
            <a:off x="485976" y="1365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196B3D9-9094-5036-3A11-8F8CBAC82426}"/>
              </a:ext>
            </a:extLst>
          </p:cNvPr>
          <p:cNvSpPr>
            <a:spLocks xmlns:a="http://schemas.openxmlformats.org/drawingml/2006/main" noGrp="1"/>
          </p:cNvSpPr>
          <p:nvPr>
            <p:ph type="body" idx="1"/>
          </p:nvPr>
        </p:nvSpPr>
        <p:spPr>
          <a:xfrm xmlns:a="http://schemas.openxmlformats.org/drawingml/2006/main">
            <a:off x="485976" y="1619625"/>
            <a:ext cx="10867824" cy="406997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0BC310F-0E2B-DC6C-3F47-15607130F121}"/>
              </a:ext>
            </a:extLst>
          </p:cNvPr>
          <p:cNvSpPr>
            <a:spLocks xmlns:a="http://schemas.openxmlformats.org/drawingml/2006/main" noGrp="1"/>
          </p:cNvSpPr>
          <p:nvPr>
            <p:ph type="dt" idx="2"/>
          </p:nvPr>
        </p:nvSpPr>
        <p:spPr>
          <a:xfrm xmlns:a="http://schemas.openxmlformats.org/drawingml/2006/main">
            <a:off x="485976"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6F324943-18B3-1648-247B-4434148D20DD}"/>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02e17274b649a8"/>
    <p:sldLayoutId xmlns:r="http://schemas.openxmlformats.org/officeDocument/2006/relationships" id="2147483650" r:id="Rb2cbdd816c95442f"/>
    <p:sldLayoutId xmlns:r="http://schemas.openxmlformats.org/officeDocument/2006/relationships" id="2147483651" r:id="Rd44526320ace4bc0"/>
    <p:sldLayoutId xmlns:r="http://schemas.openxmlformats.org/officeDocument/2006/relationships" id="2147483652" r:id="R1335b6b8465d4aca"/>
    <p:sldLayoutId xmlns:r="http://schemas.openxmlformats.org/officeDocument/2006/relationships" id="2147483653" r:id="Rb7dde107ae3547f6"/>
    <p:sldLayoutId xmlns:r="http://schemas.openxmlformats.org/officeDocument/2006/relationships" id="2147483654" r:id="Rd2177a54c7664798"/>
    <p:sldLayoutId xmlns:r="http://schemas.openxmlformats.org/officeDocument/2006/relationships" id="2147483655" r:id="Rb933a80b8910479d"/>
    <p:sldLayoutId xmlns:r="http://schemas.openxmlformats.org/officeDocument/2006/relationships" id="2147483656" r:id="R68afe0e80d0d4442"/>
    <p:sldLayoutId xmlns:r="http://schemas.openxmlformats.org/officeDocument/2006/relationships" id="2147483657" r:id="R5053b844239c4d68"/>
    <p:sldLayoutId xmlns:r="http://schemas.openxmlformats.org/officeDocument/2006/relationships" id="2147483658" r:id="Rd4d4221b6f034a06"/>
    <p:sldLayoutId xmlns:r="http://schemas.openxmlformats.org/officeDocument/2006/relationships" id="2147483659" r:id="R67968784692b4111"/>
  </p:sldLayoutIdLst>
  <p:txStyles>
    <p:titleStyle>
      <a:lvl1pPr xmlns:a="http://schemas.openxmlformats.org/drawingml/2006/main" algn="l" defTabSz="914400">
        <a:lnSpc>
          <a:spcPct val="90000"/>
        </a:lnSpc>
        <a:spcBef>
          <a:spcPct val="0"/>
        </a:spcBef>
        <a:buNone/>
        <a:defRPr sz="3600" kern="1200">
          <a:solidFill>
            <a:schemeClr val="tx2"/>
          </a:solidFill>
          <a:latin typeface="Tahoma"/>
          <a:ea typeface="Tahoma"/>
          <a:cs typeface="Tahoma"/>
        </a:defRPr>
      </a:lvl1pPr>
    </p:titleStyle>
    <p:bodyStyle>
      <a:lvl1pPr xmlns:a="http://schemas.openxmlformats.org/drawingml/2006/main" marL="228600" indent="-228600" algn="l" defTabSz="914400">
        <a:lnSpc>
          <a:spcPct val="90000"/>
        </a:lnSpc>
        <a:spcBef>
          <a:spcPts val="1000"/>
        </a:spcBef>
        <a:buClr>
          <a:schemeClr val="accent1"/>
        </a:buClr>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Clr>
          <a:schemeClr val="accent1"/>
        </a:buClr>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Clr>
          <a:schemeClr val="accent1"/>
        </a:buClr>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Clr>
          <a:schemeClr val="accent1"/>
        </a:buClr>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Clr>
          <a:schemeClr val="accent1"/>
        </a:buClr>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ustom Design">
  <a:themeElements>
    <a:clrScheme name="Western PPT">
      <a:dk1>
        <a:srgbClr val="000000"/>
      </a:dk1>
      <a:lt1>
        <a:srgbClr val="FFFFFF"/>
      </a:lt1>
      <a:dk2>
        <a:srgbClr val="4F2683"/>
      </a:dk2>
      <a:lt2>
        <a:srgbClr val="E7E6E6"/>
      </a:lt2>
      <a:accent1>
        <a:srgbClr val="8F55E0"/>
      </a:accent1>
      <a:accent2>
        <a:srgbClr val="7DEAFB"/>
      </a:accent2>
      <a:accent3>
        <a:srgbClr val="B9F876"/>
      </a:accent3>
      <a:accent4>
        <a:srgbClr val="F0A757"/>
      </a:accent4>
      <a:accent5>
        <a:srgbClr val="8F55E0"/>
      </a:accent5>
      <a:accent6>
        <a:srgbClr val="7DEAFB"/>
      </a:accent6>
      <a:hlink>
        <a:srgbClr val="4F2683"/>
      </a:hlink>
      <a:folHlink>
        <a:srgbClr val="81828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estern PP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53f94ffb704876" /><Relationship Type="http://schemas.openxmlformats.org/officeDocument/2006/relationships/image" Target="/ppt/media/image.jpeg" Id="Re37ce1af390a46fc" /><Relationship Type="http://schemas.openxmlformats.org/officeDocument/2006/relationships/image" Target="/ppt/media/image.png" Id="R7fb816b90447419e" /><Relationship Type="http://schemas.openxmlformats.org/officeDocument/2006/relationships/notesSlide" Target="/ppt/notesSlides/notesSlide1.xml" Id="Rc193438178df4a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9b8cfe8f6c4076" /><Relationship Type="http://schemas.openxmlformats.org/officeDocument/2006/relationships/image" Target="/ppt/media/image2.png" Id="R3aa05c3c43ce4236" /><Relationship Type="http://schemas.openxmlformats.org/officeDocument/2006/relationships/notesSlide" Target="/ppt/notesSlides/notesSlide2.xml" Id="R4606ed170c384e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0b2f3edb9d4ae7" /><Relationship Type="http://schemas.openxmlformats.org/officeDocument/2006/relationships/image" Target="/ppt/media/image2.png" Id="Rfb59c297c2214736" /><Relationship Type="http://schemas.openxmlformats.org/officeDocument/2006/relationships/notesSlide" Target="/ppt/notesSlides/notesSlide3.xml" Id="Rb9ac43d9082e44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25814ef8824aff" /><Relationship Type="http://schemas.openxmlformats.org/officeDocument/2006/relationships/image" Target="/ppt/media/image2.png" Id="R0a90cf531c254542" /><Relationship Type="http://schemas.openxmlformats.org/officeDocument/2006/relationships/chart" Target="/ppt/slides/charts/chart1.xml" Id="R47e5dca820434ec7" /><Relationship Type="http://schemas.openxmlformats.org/officeDocument/2006/relationships/notesSlide" Target="/ppt/notesSlides/notesSlide4.xml" Id="R2c6b5e04322f4e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2f2504d6284b61" /><Relationship Type="http://schemas.openxmlformats.org/officeDocument/2006/relationships/image" Target="/ppt/media/image2.png" Id="R81b0c112ce394202" /><Relationship Type="http://schemas.openxmlformats.org/officeDocument/2006/relationships/chart" Target="/ppt/slides/charts/chart2.xml" Id="R6a550d9f3d9747fd" /><Relationship Type="http://schemas.openxmlformats.org/officeDocument/2006/relationships/notesSlide" Target="/ppt/notesSlides/notesSlide5.xml" Id="Rfad3d7a84fdd4e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e640f0bf1b4903" /><Relationship Type="http://schemas.openxmlformats.org/officeDocument/2006/relationships/image" Target="/ppt/media/image2.png" Id="Rea6e50ffd0ec423d" /><Relationship Type="http://schemas.openxmlformats.org/officeDocument/2006/relationships/notesSlide" Target="/ppt/notesSlides/notesSlide6.xml" Id="R286bc7b7845a4a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a4cefaa5a449b8" /><Relationship Type="http://schemas.openxmlformats.org/officeDocument/2006/relationships/image" Target="/ppt/media/image2.png" Id="Rb2d20ac243e0471b" /><Relationship Type="http://schemas.openxmlformats.org/officeDocument/2006/relationships/chart" Target="/ppt/slides/charts/chart3.xml" Id="R6f6cdc1c93974906" /><Relationship Type="http://schemas.openxmlformats.org/officeDocument/2006/relationships/notesSlide" Target="/ppt/notesSlides/notesSlide7.xml" Id="Rb750f07cee3747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03acf5c72a487c" /><Relationship Type="http://schemas.openxmlformats.org/officeDocument/2006/relationships/image" Target="/ppt/media/image2.png" Id="R4c2f2231c79f4931" /><Relationship Type="http://schemas.openxmlformats.org/officeDocument/2006/relationships/notesSlide" Target="/ppt/notesSlides/notesSlide8.xml" Id="R8776f65f5fd54f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14e342bbc1454a" /><Relationship Type="http://schemas.openxmlformats.org/officeDocument/2006/relationships/image" Target="/ppt/media/image2.png" Id="R1d4d09a784474bf7" /><Relationship Type="http://schemas.openxmlformats.org/officeDocument/2006/relationships/notesSlide" Target="/ppt/notesSlides/notesSlide9.xml" Id="R36a4317a27274c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f7d163d65a4252" /><Relationship Type="http://schemas.openxmlformats.org/officeDocument/2006/relationships/image" Target="/ppt/media/image2.png" Id="R5217393f0e124337" /><Relationship Type="http://schemas.openxmlformats.org/officeDocument/2006/relationships/chart" Target="/ppt/slides/charts/chart4.xml" Id="Rb61c4090b4c043e1" /><Relationship Type="http://schemas.openxmlformats.org/officeDocument/2006/relationships/notesSlide" Target="/ppt/notesSlides/notesSlide10.xml" Id="Rb9ad01a5090a4e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bd98a5ed70422a" /><Relationship Type="http://schemas.openxmlformats.org/officeDocument/2006/relationships/image" Target="/ppt/media/image2.png" Id="R8d7db2088c834642" /><Relationship Type="http://schemas.openxmlformats.org/officeDocument/2006/relationships/notesSlide" Target="/ppt/notesSlides/notesSlide11.xml" Id="R3bead0202d0d47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6f4636c44f4db1" /><Relationship Type="http://schemas.openxmlformats.org/officeDocument/2006/relationships/image" Target="/ppt/media/image2.png" Id="Rcaca427df4b64c98" /><Relationship Type="http://schemas.openxmlformats.org/officeDocument/2006/relationships/notesSlide" Target="/ppt/notesSlides/notesSlide12.xml" Id="R14261ff458a34a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6a628b91aa9494c" /><Relationship Type="http://schemas.openxmlformats.org/officeDocument/2006/relationships/image" Target="/ppt/media/image2.png" Id="R99aa12c65cbb42a3" /><Relationship Type="http://schemas.openxmlformats.org/officeDocument/2006/relationships/notesSlide" Target="/ppt/notesSlides/notesSlide13.xml" Id="Rf52b8d2b5dd941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33dc9149ca47d2" /><Relationship Type="http://schemas.openxmlformats.org/officeDocument/2006/relationships/image" Target="/ppt/media/image2.png" Id="R43aec9bc9f16448d" /><Relationship Type="http://schemas.openxmlformats.org/officeDocument/2006/relationships/notesSlide" Target="/ppt/notesSlides/notesSlide14.xml" Id="R8c0e498e842a44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86bc17d3ca437b" /><Relationship Type="http://schemas.openxmlformats.org/officeDocument/2006/relationships/image" Target="/ppt/media/image2.png" Id="Rb5662429901f4472" /><Relationship Type="http://schemas.openxmlformats.org/officeDocument/2006/relationships/notesSlide" Target="/ppt/notesSlides/notesSlide15.xml" Id="Rc6c85ded7f3042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43cec523a4e4b72" /><Relationship Type="http://schemas.openxmlformats.org/officeDocument/2006/relationships/image" Target="/ppt/media/image2.png" Id="R198a4a779feb4694" /><Relationship Type="http://schemas.openxmlformats.org/officeDocument/2006/relationships/chart" Target="/ppt/slides/charts/chart5.xml" Id="R6de5fb56e58f4e90" /><Relationship Type="http://schemas.openxmlformats.org/officeDocument/2006/relationships/notesSlide" Target="/ppt/notesSlides/notesSlide16.xml" Id="R7f107b00210949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e58807e54864601" /><Relationship Type="http://schemas.openxmlformats.org/officeDocument/2006/relationships/image" Target="/ppt/media/image2.png" Id="R01797ed94cdd48d7" /><Relationship Type="http://schemas.openxmlformats.org/officeDocument/2006/relationships/notesSlide" Target="/ppt/notesSlides/notesSlide17.xml" Id="Rb71ac45c19184b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5057748109647ae" /><Relationship Type="http://schemas.openxmlformats.org/officeDocument/2006/relationships/image" Target="/ppt/media/image2.png" Id="R310f0a50916e4c47" /><Relationship Type="http://schemas.openxmlformats.org/officeDocument/2006/relationships/chart" Target="/ppt/slides/charts/chart6.xml" Id="Rfbe267d003cb4c6f" /><Relationship Type="http://schemas.openxmlformats.org/officeDocument/2006/relationships/notesSlide" Target="/ppt/notesSlides/notesSlide18.xml" Id="Rea3154ea976a41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b8ce99d6a2a4a51" /><Relationship Type="http://schemas.openxmlformats.org/officeDocument/2006/relationships/image" Target="/ppt/media/image2.png" Id="Rb74c0d2e831e454a" /><Relationship Type="http://schemas.openxmlformats.org/officeDocument/2006/relationships/notesSlide" Target="/ppt/notesSlides/notesSlide19.xml" Id="R9f94bfb357e84aa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d3d5ccec23543d0" /><Relationship Type="http://schemas.openxmlformats.org/officeDocument/2006/relationships/image" Target="/ppt/media/image2.png" Id="R72f984f078364dad" /><Relationship Type="http://schemas.openxmlformats.org/officeDocument/2006/relationships/notesSlide" Target="/ppt/notesSlides/notesSlide20.xml" Id="R733c3b732ce945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2c816db1fca440e" /><Relationship Type="http://schemas.openxmlformats.org/officeDocument/2006/relationships/image" Target="/ppt/media/image2.png" Id="Ra674f0999d254634" /><Relationship Type="http://schemas.openxmlformats.org/officeDocument/2006/relationships/notesSlide" Target="/ppt/notesSlides/notesSlide21.xml" Id="R70b95437fe4241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1246b9a06954bf6" /><Relationship Type="http://schemas.openxmlformats.org/officeDocument/2006/relationships/image" Target="/ppt/media/image2.png" Id="R10326aa715ec4530" /><Relationship Type="http://schemas.openxmlformats.org/officeDocument/2006/relationships/notesSlide" Target="/ppt/notesSlides/notesSlide22.xml" Id="Ra9d70770f5fc45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383012a4e09465f" /><Relationship Type="http://schemas.openxmlformats.org/officeDocument/2006/relationships/image" Target="/ppt/media/image2.png" Id="R8ba8515c6f35486a" /><Relationship Type="http://schemas.openxmlformats.org/officeDocument/2006/relationships/notesSlide" Target="/ppt/notesSlides/notesSlide23.xml" Id="Raf37bd9911014c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3eb920e32324bcc" /><Relationship Type="http://schemas.openxmlformats.org/officeDocument/2006/relationships/image" Target="/ppt/media/image2.png" Id="R7bd9728c39a5491d" /><Relationship Type="http://schemas.openxmlformats.org/officeDocument/2006/relationships/notesSlide" Target="/ppt/notesSlides/notesSlide24.xml" Id="Ra8ba3a41fe514e2e" /></Relationships>
</file>

<file path=ppt/slides/charts/chart1.xml><?xml version="1.0" encoding="utf-8"?>
<c:chartSpace xmlns:c="http://schemas.openxmlformats.org/drawingml/2006/chart">
  <c:lang val="en-US"/>
  <c:chart>
    <c:plotArea>
      <c:barChart>
        <c:barDir val="bar"/>
        <c:grouping val="clustered"/>
        <c:varyColors val="0"/>
        <c:ser>
          <c:idx val="0"/>
          <c:order val="0"/>
          <c:tx>
            <c:v>Detected / rejected</c:v>
          </c:tx>
          <c:spPr>
            <a:solidFill xmlns:a="http://schemas.openxmlformats.org/drawingml/2006/main">
              <a:srgbClr val="4F2683"/>
            </a:solidFill>
            <a:ln xmlns:a="http://schemas.openxmlformats.org/drawingml/2006/main" w="0">
              <a:solidFill>
                <a:srgbClr val="4F2683"/>
              </a:solidFill>
              <a:prstDash val="solid"/>
            </a:ln>
          </c:spPr>
          <c:cat>
            <c:strLit>
              <c:ptCount val="6"/>
              <c:pt idx="0">
                <c:v>T1</c:v>
              </c:pt>
              <c:pt idx="1">
                <c:v>T2</c:v>
              </c:pt>
              <c:pt idx="2">
                <c:v>VST3</c:v>
              </c:pt>
              <c:pt idx="3">
                <c:v>ST3</c:v>
              </c:pt>
              <c:pt idx="4">
                <c:v>MT3</c:v>
              </c:pt>
              <c:pt idx="5">
                <c:v>Negative</c:v>
              </c:pt>
            </c:strLit>
          </c:cat>
          <c:val>
            <c:numLit>
              <c:formatCode>General</c:formatCode>
              <c:ptCount val="6"/>
              <c:pt idx="0">
                <c:v>95</c:v>
              </c:pt>
              <c:pt idx="1">
                <c:v>100</c:v>
              </c:pt>
              <c:pt idx="2">
                <c:v>100</c:v>
              </c:pt>
              <c:pt idx="3">
                <c:v>100</c:v>
              </c:pt>
              <c:pt idx="4">
                <c:v>15</c:v>
              </c:pt>
              <c:pt idx="5">
                <c:v>100</c:v>
              </c:pt>
            </c:numLit>
          </c:val>
        </c:ser>
        <c:ser>
          <c:idx val="1"/>
          <c:order val="1"/>
          <c:tx>
            <c:v>Correct type</c:v>
          </c:tx>
          <c:spPr>
            <a:solidFill xmlns:a="http://schemas.openxmlformats.org/drawingml/2006/main">
              <a:srgbClr val="7AC943"/>
            </a:solidFill>
            <a:ln xmlns:a="http://schemas.openxmlformats.org/drawingml/2006/main" w="0">
              <a:solidFill>
                <a:srgbClr val="7AC943"/>
              </a:solidFill>
              <a:prstDash val="solid"/>
            </a:ln>
          </c:spPr>
          <c:cat>
            <c:strLit>
              <c:ptCount val="6"/>
              <c:pt idx="0">
                <c:v>T1</c:v>
              </c:pt>
              <c:pt idx="1">
                <c:v>T2</c:v>
              </c:pt>
              <c:pt idx="2">
                <c:v>VST3</c:v>
              </c:pt>
              <c:pt idx="3">
                <c:v>ST3</c:v>
              </c:pt>
              <c:pt idx="4">
                <c:v>MT3</c:v>
              </c:pt>
              <c:pt idx="5">
                <c:v>Negative</c:v>
              </c:pt>
            </c:strLit>
          </c:cat>
          <c:val>
            <c:numLit>
              <c:formatCode>General</c:formatCode>
              <c:ptCount val="6"/>
              <c:pt idx="0">
                <c:v>95</c:v>
              </c:pt>
              <c:pt idx="1">
                <c:v>95</c:v>
              </c:pt>
              <c:pt idx="2">
                <c:v>65</c:v>
              </c:pt>
              <c:pt idx="3">
                <c:v>100</c:v>
              </c:pt>
              <c:pt idx="4">
                <c:v>15</c:v>
              </c:pt>
              <c:pt idx="5">
                <c:v>100</c:v>
              </c:pt>
            </c:numLit>
          </c:val>
        </c:ser>
        <c:dLbls>
          <c:txPr>
            <a:bodyPr xmlns:a="http://schemas.openxmlformats.org/drawingml/2006/main" anchorCtr="1"/>
            <a:lstStyle xmlns:a="http://schemas.openxmlformats.org/drawingml/2006/main"/>
            <a:p xmlns:a="http://schemas.openxmlformats.org/drawingml/2006/main">
              <a:pPr>
                <a:defRPr sz="900" b="1">
                  <a:solidFill>
                    <a:srgbClr val="23232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7E6E6"/>
              </a:solidFill>
              <a:prstDash val="solid"/>
            </a:ln>
          </c:spPr>
        </c:majorGridlines>
        <c:numFmt formatCode="0&quot;%&quot;"/>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2323"/>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6666"/>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Detected / rejected</c:v>
          </c:tx>
          <c:spPr>
            <a:solidFill xmlns:a="http://schemas.openxmlformats.org/drawingml/2006/main">
              <a:srgbClr val="4F2683"/>
            </a:solidFill>
            <a:ln xmlns:a="http://schemas.openxmlformats.org/drawingml/2006/main" w="0">
              <a:solidFill>
                <a:srgbClr val="4F2683"/>
              </a:solidFill>
              <a:prstDash val="solid"/>
            </a:ln>
          </c:spPr>
          <c:cat>
            <c:strLit>
              <c:ptCount val="6"/>
              <c:pt idx="0">
                <c:v>T1</c:v>
              </c:pt>
              <c:pt idx="1">
                <c:v>T2</c:v>
              </c:pt>
              <c:pt idx="2">
                <c:v>VST3</c:v>
              </c:pt>
              <c:pt idx="3">
                <c:v>ST3</c:v>
              </c:pt>
              <c:pt idx="4">
                <c:v>MT3</c:v>
              </c:pt>
              <c:pt idx="5">
                <c:v>Negative</c:v>
              </c:pt>
            </c:strLit>
          </c:cat>
          <c:val>
            <c:numLit>
              <c:formatCode>General</c:formatCode>
              <c:ptCount val="6"/>
              <c:pt idx="0">
                <c:v>97.62</c:v>
              </c:pt>
              <c:pt idx="1">
                <c:v>99.98</c:v>
              </c:pt>
              <c:pt idx="2">
                <c:v>97.37</c:v>
              </c:pt>
              <c:pt idx="3">
                <c:v>93.14</c:v>
              </c:pt>
              <c:pt idx="4">
                <c:v>29.71</c:v>
              </c:pt>
              <c:pt idx="5">
                <c:v>99.85</c:v>
              </c:pt>
            </c:numLit>
          </c:val>
        </c:ser>
        <c:ser>
          <c:idx val="1"/>
          <c:order val="1"/>
          <c:tx>
            <c:v>Correct type</c:v>
          </c:tx>
          <c:spPr>
            <a:solidFill xmlns:a="http://schemas.openxmlformats.org/drawingml/2006/main">
              <a:srgbClr val="7AC943"/>
            </a:solidFill>
            <a:ln xmlns:a="http://schemas.openxmlformats.org/drawingml/2006/main" w="0">
              <a:solidFill>
                <a:srgbClr val="7AC943"/>
              </a:solidFill>
              <a:prstDash val="solid"/>
            </a:ln>
          </c:spPr>
          <c:cat>
            <c:strLit>
              <c:ptCount val="6"/>
              <c:pt idx="0">
                <c:v>T1</c:v>
              </c:pt>
              <c:pt idx="1">
                <c:v>T2</c:v>
              </c:pt>
              <c:pt idx="2">
                <c:v>VST3</c:v>
              </c:pt>
              <c:pt idx="3">
                <c:v>ST3</c:v>
              </c:pt>
              <c:pt idx="4">
                <c:v>MT3</c:v>
              </c:pt>
              <c:pt idx="5">
                <c:v>Negative</c:v>
              </c:pt>
            </c:strLit>
          </c:cat>
          <c:val>
            <c:numLit>
              <c:formatCode>General</c:formatCode>
              <c:ptCount val="6"/>
              <c:pt idx="0">
                <c:v>96.15</c:v>
              </c:pt>
              <c:pt idx="1">
                <c:v>95.41</c:v>
              </c:pt>
              <c:pt idx="2">
                <c:v>60.92</c:v>
              </c:pt>
              <c:pt idx="3">
                <c:v>85.7</c:v>
              </c:pt>
              <c:pt idx="4">
                <c:v>29.7</c:v>
              </c:pt>
              <c:pt idx="5">
                <c:v>99.85</c:v>
              </c:pt>
            </c:numLit>
          </c:val>
        </c:ser>
        <c:dLbls>
          <c:txPr>
            <a:bodyPr xmlns:a="http://schemas.openxmlformats.org/drawingml/2006/main" anchorCtr="1"/>
            <a:lstStyle xmlns:a="http://schemas.openxmlformats.org/drawingml/2006/main"/>
            <a:p xmlns:a="http://schemas.openxmlformats.org/drawingml/2006/main">
              <a:pPr>
                <a:defRPr sz="900" b="1">
                  <a:solidFill>
                    <a:srgbClr val="23232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7E6E6"/>
              </a:solidFill>
              <a:prstDash val="solid"/>
            </a:ln>
          </c:spPr>
        </c:majorGridlines>
        <c:numFmt formatCode="0.0&quot;%&quot;"/>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2323"/>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6666"/>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lineChart>
        <c:grouping val="standard"/>
        <c:ser>
          <c:idx val="0"/>
          <c:order val="0"/>
          <c:tx>
            <c:v>Detected</c:v>
          </c:tx>
          <c:spPr>
            <a:ln xmlns:a="http://schemas.openxmlformats.org/drawingml/2006/main" w="28575">
              <a:solidFill>
                <a:srgbClr val="4F2683"/>
              </a:solidFill>
              <a:prstDash val="solid"/>
            </a:ln>
          </c:spPr>
          <c:marker>
            <c:symbol val="circle"/>
            <c:size val="6"/>
          </c:marker>
          <c:cat>
            <c:numLit>
              <c:formatCode>General</c:formatCode>
              <c:ptCount val="10"/>
              <c:pt idx="0">
                <c:v>.50</c:v>
              </c:pt>
              <c:pt idx="1">
                <c:v>.55</c:v>
              </c:pt>
              <c:pt idx="2">
                <c:v>.60</c:v>
              </c:pt>
              <c:pt idx="3">
                <c:v>.65</c:v>
              </c:pt>
              <c:pt idx="4">
                <c:v>.70</c:v>
              </c:pt>
              <c:pt idx="5">
                <c:v>.75</c:v>
              </c:pt>
              <c:pt idx="6">
                <c:v>.80</c:v>
              </c:pt>
              <c:pt idx="7">
                <c:v>.85</c:v>
              </c:pt>
              <c:pt idx="8">
                <c:v>.90</c:v>
              </c:pt>
              <c:pt idx="9">
                <c:v>.95</c:v>
              </c:pt>
            </c:numLit>
          </c:cat>
          <c:val>
            <c:numLit>
              <c:formatCode>0"%"</c:formatCode>
              <c:ptCount val="10"/>
              <c:pt idx="0">
                <c:v>19.52</c:v>
              </c:pt>
              <c:pt idx="1">
                <c:v>33.41</c:v>
              </c:pt>
              <c:pt idx="2">
                <c:v>51.71</c:v>
              </c:pt>
              <c:pt idx="3">
                <c:v>70.22</c:v>
              </c:pt>
              <c:pt idx="4">
                <c:v>88.07</c:v>
              </c:pt>
              <c:pt idx="5">
                <c:v>95.33</c:v>
              </c:pt>
              <c:pt idx="6">
                <c:v>91.37</c:v>
              </c:pt>
              <c:pt idx="7">
                <c:v>99.17</c:v>
              </c:pt>
              <c:pt idx="8">
                <c:v>99.01</c:v>
              </c:pt>
              <c:pt idx="9">
                <c:v>95.14</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666666"/>
                    </a:solidFill>
                  </a:rPr>
                  <a:t>BCB similarity</a:t>
                </a:r>
              </a:p>
            </c:rich>
          </c:tx>
          <c:txPr>
            <a:bodyPr xmlns:a="http://schemas.openxmlformats.org/drawingml/2006/main" anchorCtr="1"/>
            <a:lstStyle xmlns:a="http://schemas.openxmlformats.org/drawingml/2006/main"/>
            <a:p xmlns:a="http://schemas.openxmlformats.org/drawingml/2006/main">
              <a:pPr>
                <a:defRPr sz="975">
                  <a:solidFill>
                    <a:srgbClr val="666666"/>
                  </a:solidFill>
                </a:defRPr>
              </a:pPr>
            </a:p>
          </c:txPr>
        </c:title>
        <c:numFmt formatCode="General"/>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defRPr>
            </a:pPr>
          </a:p>
        </c:txPr>
        <c:crossAx val="48672768"/>
        <c:lblAlgn val="ctr"/>
        <c:lblOffset val="100"/>
        <c:noMultiLvlLbl val="0"/>
      </c:catAx>
      <c:valAx>
        <c:axId val="48672768"/>
        <c:scaling>
          <c:orientation val="minMax"/>
          <c:max val="100"/>
          <c:min val="0"/>
        </c:scaling>
        <c:delete val="0"/>
        <c:axPos val="l"/>
        <c:majorGridlines>
          <c:spPr>
            <a:ln xmlns:a="http://schemas.openxmlformats.org/drawingml/2006/main" w="9525">
              <a:solidFill>
                <a:srgbClr val="E7E6E6"/>
              </a:solidFill>
              <a:prstDash val="solid"/>
            </a:ln>
          </c:spPr>
        </c:majorGridlines>
        <c:numFmt formatCode="0&quot;%&quot;"/>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Standalone compile rate</c:v>
          </c:tx>
          <c:spPr>
            <a:solidFill xmlns:a="http://schemas.openxmlformats.org/drawingml/2006/main">
              <a:srgbClr val="4F2683"/>
            </a:solidFill>
            <a:ln xmlns:a="http://schemas.openxmlformats.org/drawingml/2006/main" w="0">
              <a:solidFill>
                <a:srgbClr val="4F2683"/>
              </a:solidFill>
              <a:prstDash val="solid"/>
            </a:ln>
          </c:spPr>
          <c:cat>
            <c:strLit>
              <c:ptCount val="3"/>
              <c:pt idx="0">
                <c:v>CodeNet</c:v>
              </c:pt>
              <c:pt idx="1">
                <c:v>TheAlgorithms</c:v>
              </c:pt>
              <c:pt idx="2">
                <c:v>IJaDataset</c:v>
              </c:pt>
            </c:strLit>
          </c:cat>
          <c:val>
            <c:numLit>
              <c:formatCode>General</c:formatCode>
              <c:ptCount val="3"/>
              <c:pt idx="0">
                <c:v>100</c:v>
              </c:pt>
              <c:pt idx="1">
                <c:v>78</c:v>
              </c:pt>
              <c:pt idx="2">
                <c:v>14</c:v>
              </c:pt>
            </c:numLit>
          </c:val>
        </c:ser>
        <c:dLbls>
          <c:txPr>
            <a:bodyPr xmlns:a="http://schemas.openxmlformats.org/drawingml/2006/main" anchorCtr="1"/>
            <a:lstStyle xmlns:a="http://schemas.openxmlformats.org/drawingml/2006/main"/>
            <a:p xmlns:a="http://schemas.openxmlformats.org/drawingml/2006/main">
              <a:pPr>
                <a:defRPr sz="1050" b="1">
                  <a:solidFill>
                    <a:srgbClr val="23232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7E6E6"/>
              </a:solidFill>
              <a:prstDash val="solid"/>
            </a:ln>
          </c:spPr>
        </c:majorGridlines>
        <c:numFmt formatCode="0&quot;%&quot;"/>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2323"/>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5.xml><?xml version="1.0" encoding="utf-8"?>
<c:chartSpace xmlns:c="http://schemas.openxmlformats.org/drawingml/2006/chart">
  <c:lang val="en-US"/>
  <c:chart>
    <c:plotArea>
      <c:barChart>
        <c:barDir val="bar"/>
        <c:grouping val="clustered"/>
        <c:varyColors val="0"/>
        <c:ser>
          <c:idx val="0"/>
          <c:order val="0"/>
          <c:tx>
            <c:v>Before GT fix</c:v>
          </c:tx>
          <c:spPr>
            <a:solidFill xmlns:a="http://schemas.openxmlformats.org/drawingml/2006/main">
              <a:srgbClr val="E7E6E6"/>
            </a:solidFill>
            <a:ln xmlns:a="http://schemas.openxmlformats.org/drawingml/2006/main" w="0">
              <a:solidFill>
                <a:srgbClr val="E7E6E6"/>
              </a:solidFill>
              <a:prstDash val="solid"/>
            </a:ln>
          </c:spPr>
          <c:cat>
            <c:strLit>
              <c:ptCount val="3"/>
              <c:pt idx="0">
                <c:v>Wrap statement</c:v>
              </c:pt>
              <c:pt idx="1">
                <c:v>Rename local</c:v>
              </c:pt>
              <c:pt idx="2">
                <c:v>Reindent</c:v>
              </c:pt>
            </c:strLit>
          </c:cat>
          <c:val>
            <c:numLit>
              <c:formatCode>General</c:formatCode>
              <c:ptCount val="3"/>
              <c:pt idx="0">
                <c:v>7.3</c:v>
              </c:pt>
              <c:pt idx="1">
                <c:v>88.3</c:v>
              </c:pt>
              <c:pt idx="2">
                <c:v>94.8</c:v>
              </c:pt>
            </c:numLit>
          </c:val>
        </c:ser>
        <c:ser>
          <c:idx val="1"/>
          <c:order val="1"/>
          <c:tx>
            <c:v>After GT fix</c:v>
          </c:tx>
          <c:spPr>
            <a:solidFill xmlns:a="http://schemas.openxmlformats.org/drawingml/2006/main">
              <a:srgbClr val="4F2683"/>
            </a:solidFill>
            <a:ln xmlns:a="http://schemas.openxmlformats.org/drawingml/2006/main" w="0">
              <a:solidFill>
                <a:srgbClr val="4F2683"/>
              </a:solidFill>
              <a:prstDash val="solid"/>
            </a:ln>
          </c:spPr>
          <c:cat>
            <c:strLit>
              <c:ptCount val="3"/>
              <c:pt idx="0">
                <c:v>Wrap statement</c:v>
              </c:pt>
              <c:pt idx="1">
                <c:v>Rename local</c:v>
              </c:pt>
              <c:pt idx="2">
                <c:v>Reindent</c:v>
              </c:pt>
            </c:strLit>
          </c:cat>
          <c:val>
            <c:numLit>
              <c:formatCode>General</c:formatCode>
              <c:ptCount val="3"/>
              <c:pt idx="0">
                <c:v>99.8</c:v>
              </c:pt>
              <c:pt idx="1">
                <c:v>99.5</c:v>
              </c:pt>
              <c:pt idx="2">
                <c:v>98.7</c:v>
              </c:pt>
            </c:numLit>
          </c:val>
        </c:ser>
        <c:dLbls>
          <c:txPr>
            <a:bodyPr xmlns:a="http://schemas.openxmlformats.org/drawingml/2006/main" anchorCtr="1"/>
            <a:lstStyle xmlns:a="http://schemas.openxmlformats.org/drawingml/2006/main"/>
            <a:p xmlns:a="http://schemas.openxmlformats.org/drawingml/2006/main">
              <a:pPr>
                <a:defRPr sz="975" b="1">
                  <a:solidFill>
                    <a:srgbClr val="23232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7E6E6"/>
              </a:solidFill>
              <a:prstDash val="solid"/>
            </a:ln>
          </c:spPr>
        </c:majorGridlines>
        <c:numFmt formatCode="0.0&quot;%&quot;"/>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2323"/>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6666"/>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6.xml><?xml version="1.0" encoding="utf-8"?>
<c:chartSpace xmlns:c="http://schemas.openxmlformats.org/drawingml/2006/chart">
  <c:lang val="en-US"/>
  <c:chart>
    <c:plotArea>
      <c:barChart>
        <c:barDir val="bar"/>
        <c:grouping val="clustered"/>
        <c:varyColors val="0"/>
        <c:ser>
          <c:idx val="0"/>
          <c:order val="0"/>
          <c:tx>
            <c:v>Matched</c:v>
          </c:tx>
          <c:spPr>
            <a:solidFill xmlns:a="http://schemas.openxmlformats.org/drawingml/2006/main">
              <a:srgbClr val="4F2683"/>
            </a:solidFill>
            <a:ln xmlns:a="http://schemas.openxmlformats.org/drawingml/2006/main" w="0">
              <a:solidFill>
                <a:srgbClr val="4F2683"/>
              </a:solidFill>
              <a:prstDash val="solid"/>
            </a:ln>
          </c:spPr>
          <c:cat>
            <c:strLit>
              <c:ptCount val="3"/>
              <c:pt idx="0">
                <c:v>Clone interval</c:v>
              </c:pt>
              <c:pt idx="1">
                <c:v>Mutation region</c:v>
              </c:pt>
              <c:pt idx="2">
                <c:v>Untouched region</c:v>
              </c:pt>
            </c:strLit>
          </c:cat>
          <c:val>
            <c:numLit>
              <c:formatCode>General</c:formatCode>
              <c:ptCount val="3"/>
              <c:pt idx="0">
                <c:v>97</c:v>
              </c:pt>
              <c:pt idx="1">
                <c:v>83.4</c:v>
              </c:pt>
              <c:pt idx="2">
                <c:v>98.2</c:v>
              </c:pt>
            </c:numLit>
          </c:val>
        </c:ser>
        <c:ser>
          <c:idx val="1"/>
          <c:order val="1"/>
          <c:tx>
            <c:v>Correct type</c:v>
          </c:tx>
          <c:spPr>
            <a:solidFill xmlns:a="http://schemas.openxmlformats.org/drawingml/2006/main">
              <a:srgbClr val="7AC943"/>
            </a:solidFill>
            <a:ln xmlns:a="http://schemas.openxmlformats.org/drawingml/2006/main" w="0">
              <a:solidFill>
                <a:srgbClr val="7AC943"/>
              </a:solidFill>
              <a:prstDash val="solid"/>
            </a:ln>
          </c:spPr>
          <c:cat>
            <c:strLit>
              <c:ptCount val="3"/>
              <c:pt idx="0">
                <c:v>Clone interval</c:v>
              </c:pt>
              <c:pt idx="1">
                <c:v>Mutation region</c:v>
              </c:pt>
              <c:pt idx="2">
                <c:v>Untouched region</c:v>
              </c:pt>
            </c:strLit>
          </c:cat>
          <c:val>
            <c:numLit>
              <c:formatCode>General</c:formatCode>
              <c:ptCount val="3"/>
              <c:pt idx="0">
                <c:v>96.9</c:v>
              </c:pt>
              <c:pt idx="1">
                <c:v>81.6</c:v>
              </c:pt>
              <c:pt idx="2">
                <c:v>98.1</c:v>
              </c:pt>
            </c:numLit>
          </c:val>
        </c:ser>
        <c:dLbls>
          <c:txPr>
            <a:bodyPr xmlns:a="http://schemas.openxmlformats.org/drawingml/2006/main" anchorCtr="1"/>
            <a:lstStyle xmlns:a="http://schemas.openxmlformats.org/drawingml/2006/main"/>
            <a:p xmlns:a="http://schemas.openxmlformats.org/drawingml/2006/main">
              <a:pPr>
                <a:defRPr sz="1050" b="1">
                  <a:solidFill>
                    <a:srgbClr val="23232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7E6E6"/>
              </a:solidFill>
              <a:prstDash val="solid"/>
            </a:ln>
          </c:spPr>
        </c:majorGridlines>
        <c:numFmt formatCode="0.0&quot;%&quot;"/>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7E6E6"/>
            </a:solidFill>
            <a:prstDash val="solid"/>
          </a:ln>
        </c:spPr>
        <c:txPr>
          <a:bodyPr xmlns:a="http://schemas.openxmlformats.org/drawingml/2006/main" anchorCtr="1"/>
          <a:lstStyle xmlns:a="http://schemas.openxmlformats.org/drawingml/2006/main"/>
          <a:p xmlns:a="http://schemas.openxmlformats.org/drawingml/2006/main">
            <a:pPr>
              <a:defRPr sz="1350">
                <a:solidFill>
                  <a:srgbClr val="232323"/>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6666"/>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e37ce1af390a46fc"/>
          <a:srcRect xmlns:a="http://schemas.openxmlformats.org/drawingml/2006/main" l="16857" t="12141" r="0" b="471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Rectangle 3">
            <a:extLst xmlns:a="http://schemas.openxmlformats.org/drawingml/2006/main">
              <a:ext uri="{FF2B5EF4-FFF2-40B4-BE49-F238E27FC236}">
                <a16:creationId xmlns:a16="http://schemas.microsoft.com/office/drawing/2014/main" id="{0106898C-50D6-75E4-07D9-B50D881531D0}"/>
              </a:ext>
            </a:extLst>
          </p:cNvPr>
          <p:cNvSpPr>
            <a:spLocks xmlns:a="http://schemas.openxmlformats.org/drawingml/2006/main" noGrp="1"/>
          </p:cNvSpPr>
          <p:nvPr/>
        </p:nvSpPr>
        <p:spPr>
          <a:xfrm xmlns:a="http://schemas.openxmlformats.org/drawingml/2006/main">
            <a:off x="618891" y="517072"/>
            <a:ext cx="5477109" cy="5823857"/>
          </a:xfrm>
          <a:prstGeom xmlns:a="http://schemas.openxmlformats.org/drawingml/2006/main" prst="rect">
            <a:avLst/>
          </a:prstGeom>
          <a:solidFill xmlns:a="http://schemas.openxmlformats.org/drawingml/2006/main">
            <a:srgbClr val="8F55E0">
              <a:alpha val="79978"/>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C775AB4-34B4-0C00-7D14-5E794C3251B8}"/>
              </a:ext>
            </a:extLst>
          </p:cNvPr>
          <p:cNvSpPr>
            <a:spLocks xmlns:a="http://schemas.openxmlformats.org/drawingml/2006/main" noGrp="1"/>
          </p:cNvSpPr>
          <p:nvPr/>
        </p:nvSpPr>
        <p:spPr>
          <a:xfrm xmlns:a="http://schemas.openxmlformats.org/drawingml/2006/main">
            <a:off x="874014" y="2724150"/>
            <a:ext cx="4857750" cy="165735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b">
            <a:normAutofit fontScale="100000"/>
          </a:bodyPr>
          <a:lstStyle xmlns:a="http://schemas.openxmlformats.org/drawingml/2006/main"/>
          <a:p xmlns:a="http://schemas.openxmlformats.org/drawingml/2006/main">
            <a:pPr algn="l">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Evaluation Design</a:t>
            </a:r>
          </a:p>
          <a:p xmlns:a="http://schemas.openxmlformats.org/drawingml/2006/main">
            <a:pPr algn="l">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From BCB to Valid Mutations</a:t>
            </a:r>
          </a:p>
        </p:txBody>
      </p:sp>
      <p:sp>
        <p:nvSpPr>
          <p:cNvPr id="12" name="TextBox 11">
            <a:extLst xmlns:a="http://schemas.openxmlformats.org/drawingml/2006/main">
              <a:ext uri="{FF2B5EF4-FFF2-40B4-BE49-F238E27FC236}">
                <a16:creationId xmlns:a16="http://schemas.microsoft.com/office/drawing/2014/main" id="{9F0755CC-5279-A85A-0B6D-EC3D3D9580B7}"/>
              </a:ext>
            </a:extLst>
          </p:cNvPr>
          <p:cNvSpPr>
            <a:spLocks xmlns:a="http://schemas.openxmlformats.org/drawingml/2006/main" noGrp="1"/>
          </p:cNvSpPr>
          <p:nvPr/>
        </p:nvSpPr>
        <p:spPr>
          <a:xfrm xmlns:a="http://schemas.openxmlformats.org/drawingml/2006/main">
            <a:off x="874014" y="4476750"/>
            <a:ext cx="4857750" cy="1076325"/>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l">
              <a:buNone/>
              <a:defRPr sz="1500">
                <a:solidFill>
                  <a:srgbClr val="FFFFFF"/>
                </a:solidFill>
                <a:latin typeface="Aptos"/>
                <a:ea typeface="Aptos"/>
                <a:cs typeface="Aptos"/>
              </a:defRPr>
            </a:pPr>
            <a:r>
              <a:rPr sz="1500">
                <a:solidFill>
                  <a:srgbClr val="FFFFFF"/>
                </a:solidFill>
                <a:latin typeface="Aptos"/>
                <a:ea typeface="Aptos"/>
                <a:cs typeface="Aptos"/>
              </a:rPr>
              <a:t>V1 results · why the method changed · V2 evidence · next steps</a:t>
            </a:r>
          </a:p>
          <a:p xmlns:a="http://schemas.openxmlformats.org/drawingml/2006/main">
            <a:r>
              <a:t/>
            </a:r>
          </a:p>
          <a:p xmlns:a="http://schemas.openxmlformats.org/drawingml/2006/main">
            <a:pPr algn="l">
              <a:buNone/>
              <a:defRPr sz="1500">
                <a:solidFill>
                  <a:srgbClr val="FFFFFF"/>
                </a:solidFill>
                <a:latin typeface="Aptos"/>
                <a:ea typeface="Aptos"/>
                <a:cs typeface="Aptos"/>
              </a:defRPr>
            </a:pPr>
            <a:r>
              <a:rPr sz="1500">
                <a:solidFill>
                  <a:srgbClr val="FFFFFF"/>
                </a:solidFill>
                <a:latin typeface="Aptos"/>
                <a:ea typeface="Aptos"/>
                <a:cs typeface="Aptos"/>
              </a:rPr>
              <a:t>Ziqi Liu · 30 July 2026</a:t>
            </a:r>
          </a:p>
        </p:txBody>
      </p:sp>
      <p:pic>
        <p:nvPicPr>
          <p:cNvPr id="19" name="Picture 4"/>
          <p:cNvPicPr>
            <a:picLocks xmlns:a="http://schemas.openxmlformats.org/drawingml/2006/main" noChangeAspect="1"/>
          </p:cNvPicPr>
          <p:nvPr/>
        </p:nvPicPr>
        <p:blipFill>
          <a:blip xmlns:r="http://schemas.openxmlformats.org/officeDocument/2006/relationships" xmlns:a="http://schemas.openxmlformats.org/drawingml/2006/main" r:embed="R7fb816b90447419e"/>
          <a:stretch xmlns:a="http://schemas.openxmlformats.org/drawingml/2006/main">
            <a:fillRect l="0" t="0" r="0" b="0"/>
          </a:stretch>
        </p:blipFill>
        <p:spPr>
          <a:xfrm xmlns:a="http://schemas.openxmlformats.org/drawingml/2006/main">
            <a:off x="874051" y="890305"/>
            <a:ext cx="2825758" cy="670025"/>
          </a:xfrm>
          <a:prstGeom xmlns:a="http://schemas.openxmlformats.org/drawingml/2006/main" prst="rect">
            <a:avLst/>
          </a:prstGeom>
        </p:spPr>
      </p:pic>
    </p:spTree>
    <p:extLst>
      <p:ext uri="{BB962C8B-B14F-4D97-AF65-F5344CB8AC3E}">
        <p14:creationId xmlns:p14="http://schemas.microsoft.com/office/powerpoint/2010/main" val="20027314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V1 — What did the BCB test contain?</a:t>
            </a:r>
          </a:p>
        </p:txBody>
      </p:sp>
      <p:pic>
        <p:nvPicPr>
          <p:cNvPr id="50" name="Picture 3"/>
          <p:cNvPicPr>
            <a:picLocks xmlns:a="http://schemas.openxmlformats.org/drawingml/2006/main" noChangeAspect="1"/>
          </p:cNvPicPr>
          <p:nvPr/>
        </p:nvPicPr>
        <p:blipFill>
          <a:blip xmlns:r="http://schemas.openxmlformats.org/officeDocument/2006/relationships" xmlns:a="http://schemas.openxmlformats.org/drawingml/2006/main" r:embed="R3aa05c3c43ce4236"/>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3D66AAD-01F1-4040-88EC-60E8A796A23A}"/>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E4002B"/>
                </a:solidFill>
                <a:latin typeface="Aptos"/>
                <a:ea typeface="Aptos"/>
                <a:cs typeface="Aptos"/>
              </a:defRPr>
            </a:pPr>
            <a:r>
              <a:rPr sz="1050" b="1">
                <a:solidFill>
                  <a:srgbClr val="E4002B"/>
                </a:solidFill>
                <a:latin typeface="Aptos"/>
                <a:ea typeface="Aptos"/>
                <a:cs typeface="Aptos"/>
              </a:rPr>
              <a:t>V1: BCB</a:t>
            </a:r>
          </a:p>
        </p:txBody>
      </p:sp>
      <p:sp>
        <p:nvSpPr>
          <p:cNvPr id="8" name="">
            <a:extLst xmlns:a="http://schemas.openxmlformats.org/drawingml/2006/main">
              <a:ext uri="{FF2B5EF4-FFF2-40B4-BE49-F238E27FC236}">
                <a16:creationId xmlns:a16="http://schemas.microsoft.com/office/drawing/2014/main" id="{665975BF-DCD8-43F0-989E-6017238CC7EB}"/>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Six groups; one score rule; fragments wrapped as Java classes</a:t>
            </a:r>
          </a:p>
        </p:txBody>
      </p:sp>
      <p:sp>
        <p:nvSpPr>
          <p:cNvPr id="9" name="">
            <a:extLst xmlns:a="http://schemas.openxmlformats.org/drawingml/2006/main">
              <a:ext uri="{FF2B5EF4-FFF2-40B4-BE49-F238E27FC236}">
                <a16:creationId xmlns:a16="http://schemas.microsoft.com/office/drawing/2014/main" id="{9D0997C4-4C22-4D94-99C0-75FB1EE4DEA1}"/>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5ADBCEF0-5BC7-4A3C-B017-286DA7E3D8FD}"/>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2 / 24</a:t>
            </a:r>
          </a:p>
        </p:txBody>
      </p:sp>
      <p:sp>
        <p:nvSpPr>
          <p:cNvPr id="11" name="">
            <a:extLst xmlns:a="http://schemas.openxmlformats.org/drawingml/2006/main">
              <a:ext uri="{FF2B5EF4-FFF2-40B4-BE49-F238E27FC236}">
                <a16:creationId xmlns:a16="http://schemas.microsoft.com/office/drawing/2014/main" id="{36142212-6921-45CF-B6C6-134D92060802}"/>
              </a:ext>
            </a:extLst>
          </p:cNvPr>
          <p:cNvSpPr>
            <a:spLocks xmlns:a="http://schemas.openxmlformats.org/drawingml/2006/main" noGrp="1"/>
          </p:cNvSpPr>
          <p:nvPr/>
        </p:nvSpPr>
        <p:spPr>
          <a:xfrm xmlns:a="http://schemas.openxmlformats.org/drawingml/2006/main">
            <a:off x="666750" y="15621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666666"/>
                </a:solidFill>
                <a:latin typeface="Aptos"/>
                <a:ea typeface="Aptos"/>
                <a:cs typeface="Aptos"/>
              </a:defRPr>
            </a:pPr>
            <a:r>
              <a:rPr sz="1050" b="1">
                <a:solidFill>
                  <a:srgbClr val="666666"/>
                </a:solidFill>
                <a:latin typeface="Aptos"/>
                <a:ea typeface="Aptos"/>
                <a:cs typeface="Aptos"/>
              </a:rPr>
              <a:t>GROUP</a:t>
            </a:r>
          </a:p>
        </p:txBody>
      </p:sp>
      <p:sp>
        <p:nvSpPr>
          <p:cNvPr id="12" name="">
            <a:extLst xmlns:a="http://schemas.openxmlformats.org/drawingml/2006/main">
              <a:ext uri="{FF2B5EF4-FFF2-40B4-BE49-F238E27FC236}">
                <a16:creationId xmlns:a16="http://schemas.microsoft.com/office/drawing/2014/main" id="{F5C2B90C-99C1-4A0C-B23A-985BE0DC9490}"/>
              </a:ext>
            </a:extLst>
          </p:cNvPr>
          <p:cNvSpPr>
            <a:spLocks xmlns:a="http://schemas.openxmlformats.org/drawingml/2006/main" noGrp="1"/>
          </p:cNvSpPr>
          <p:nvPr/>
        </p:nvSpPr>
        <p:spPr>
          <a:xfrm xmlns:a="http://schemas.openxmlformats.org/drawingml/2006/main">
            <a:off x="1619250" y="15621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666666"/>
                </a:solidFill>
                <a:latin typeface="Aptos"/>
                <a:ea typeface="Aptos"/>
                <a:cs typeface="Aptos"/>
              </a:defRPr>
            </a:pPr>
            <a:r>
              <a:rPr sz="1050" b="1">
                <a:solidFill>
                  <a:srgbClr val="666666"/>
                </a:solidFill>
                <a:latin typeface="Aptos"/>
                <a:ea typeface="Aptos"/>
                <a:cs typeface="Aptos"/>
              </a:rPr>
              <a:t>WHAT IT TESTS</a:t>
            </a:r>
          </a:p>
        </p:txBody>
      </p:sp>
      <p:sp>
        <p:nvSpPr>
          <p:cNvPr id="13" name="">
            <a:extLst xmlns:a="http://schemas.openxmlformats.org/drawingml/2006/main">
              <a:ext uri="{FF2B5EF4-FFF2-40B4-BE49-F238E27FC236}">
                <a16:creationId xmlns:a16="http://schemas.microsoft.com/office/drawing/2014/main" id="{601B471A-41A9-4852-B84C-1D32DFEFE78A}"/>
              </a:ext>
            </a:extLst>
          </p:cNvPr>
          <p:cNvSpPr>
            <a:spLocks xmlns:a="http://schemas.openxmlformats.org/drawingml/2006/main" noGrp="1"/>
          </p:cNvSpPr>
          <p:nvPr/>
        </p:nvSpPr>
        <p:spPr>
          <a:xfrm xmlns:a="http://schemas.openxmlformats.org/drawingml/2006/main">
            <a:off x="6191250" y="15621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050" b="1">
                <a:solidFill>
                  <a:srgbClr val="666666"/>
                </a:solidFill>
                <a:latin typeface="Aptos"/>
                <a:ea typeface="Aptos"/>
                <a:cs typeface="Aptos"/>
              </a:defRPr>
            </a:pPr>
            <a:r>
              <a:rPr sz="1050" b="1">
                <a:solidFill>
                  <a:srgbClr val="666666"/>
                </a:solidFill>
                <a:latin typeface="Aptos"/>
                <a:ea typeface="Aptos"/>
                <a:cs typeface="Aptos"/>
              </a:rPr>
              <a:t>FULL PAIRS</a:t>
            </a:r>
          </a:p>
        </p:txBody>
      </p:sp>
      <p:sp>
        <p:nvSpPr>
          <p:cNvPr id="14" name="">
            <a:extLst xmlns:a="http://schemas.openxmlformats.org/drawingml/2006/main">
              <a:ext uri="{FF2B5EF4-FFF2-40B4-BE49-F238E27FC236}">
                <a16:creationId xmlns:a16="http://schemas.microsoft.com/office/drawing/2014/main" id="{F2911F6C-23B5-4C91-8903-F62A0418A82B}"/>
              </a:ext>
            </a:extLst>
          </p:cNvPr>
          <p:cNvSpPr>
            <a:spLocks xmlns:a="http://schemas.openxmlformats.org/drawingml/2006/main" noGrp="1"/>
          </p:cNvSpPr>
          <p:nvPr/>
        </p:nvSpPr>
        <p:spPr>
          <a:xfrm xmlns:a="http://schemas.openxmlformats.org/drawingml/2006/main">
            <a:off x="695325" y="2019300"/>
            <a:ext cx="104775" cy="104775"/>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1E3F99-80D2-4142-B86B-80D5E39F2405}"/>
              </a:ext>
            </a:extLst>
          </p:cNvPr>
          <p:cNvSpPr>
            <a:spLocks xmlns:a="http://schemas.openxmlformats.org/drawingml/2006/main" noGrp="1"/>
          </p:cNvSpPr>
          <p:nvPr/>
        </p:nvSpPr>
        <p:spPr>
          <a:xfrm xmlns:a="http://schemas.openxmlformats.org/drawingml/2006/main">
            <a:off x="895350" y="191452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4F2683"/>
                </a:solidFill>
                <a:latin typeface="Aptos"/>
                <a:ea typeface="Aptos"/>
                <a:cs typeface="Aptos"/>
              </a:defRPr>
            </a:pPr>
            <a:r>
              <a:rPr sz="1425" b="1">
                <a:solidFill>
                  <a:srgbClr val="4F2683"/>
                </a:solidFill>
                <a:latin typeface="Aptos"/>
                <a:ea typeface="Aptos"/>
                <a:cs typeface="Aptos"/>
              </a:rPr>
              <a:t>T1</a:t>
            </a:r>
          </a:p>
        </p:txBody>
      </p:sp>
      <p:sp>
        <p:nvSpPr>
          <p:cNvPr id="16" name="">
            <a:extLst xmlns:a="http://schemas.openxmlformats.org/drawingml/2006/main">
              <a:ext uri="{FF2B5EF4-FFF2-40B4-BE49-F238E27FC236}">
                <a16:creationId xmlns:a16="http://schemas.microsoft.com/office/drawing/2014/main" id="{FC58AD81-241A-47BA-B8B9-81953D21190F}"/>
              </a:ext>
            </a:extLst>
          </p:cNvPr>
          <p:cNvSpPr>
            <a:spLocks xmlns:a="http://schemas.openxmlformats.org/drawingml/2006/main" noGrp="1"/>
          </p:cNvSpPr>
          <p:nvPr/>
        </p:nvSpPr>
        <p:spPr>
          <a:xfrm xmlns:a="http://schemas.openxmlformats.org/drawingml/2006/main">
            <a:off x="1619250" y="1914525"/>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Exact / layout-only clone</a:t>
            </a:r>
          </a:p>
        </p:txBody>
      </p:sp>
      <p:sp>
        <p:nvSpPr>
          <p:cNvPr id="17" name="">
            <a:extLst xmlns:a="http://schemas.openxmlformats.org/drawingml/2006/main">
              <a:ext uri="{FF2B5EF4-FFF2-40B4-BE49-F238E27FC236}">
                <a16:creationId xmlns:a16="http://schemas.microsoft.com/office/drawing/2014/main" id="{86EBF93E-3251-4F9A-A6CD-3B7C2D786524}"/>
              </a:ext>
            </a:extLst>
          </p:cNvPr>
          <p:cNvSpPr>
            <a:spLocks xmlns:a="http://schemas.openxmlformats.org/drawingml/2006/main" noGrp="1"/>
          </p:cNvSpPr>
          <p:nvPr/>
        </p:nvSpPr>
        <p:spPr>
          <a:xfrm xmlns:a="http://schemas.openxmlformats.org/drawingml/2006/main">
            <a:off x="6191250" y="191452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350" b="1">
                <a:solidFill>
                  <a:srgbClr val="232323"/>
                </a:solidFill>
                <a:latin typeface="Aptos"/>
                <a:ea typeface="Aptos"/>
                <a:cs typeface="Aptos"/>
              </a:defRPr>
            </a:pPr>
            <a:r>
              <a:rPr sz="1350" b="1">
                <a:solidFill>
                  <a:srgbClr val="232323"/>
                </a:solidFill>
                <a:latin typeface="Aptos"/>
                <a:ea typeface="Aptos"/>
                <a:cs typeface="Aptos"/>
              </a:rPr>
              <a:t>36,756</a:t>
            </a:r>
          </a:p>
        </p:txBody>
      </p:sp>
      <p:sp>
        <p:nvSpPr>
          <p:cNvPr id="18" name="">
            <a:extLst xmlns:a="http://schemas.openxmlformats.org/drawingml/2006/main">
              <a:ext uri="{FF2B5EF4-FFF2-40B4-BE49-F238E27FC236}">
                <a16:creationId xmlns:a16="http://schemas.microsoft.com/office/drawing/2014/main" id="{FA9DCFBA-D210-4056-B954-5DE3C4B9C9AD}"/>
              </a:ext>
            </a:extLst>
          </p:cNvPr>
          <p:cNvSpPr>
            <a:spLocks xmlns:a="http://schemas.openxmlformats.org/drawingml/2006/main" noGrp="1"/>
          </p:cNvSpPr>
          <p:nvPr/>
        </p:nvSpPr>
        <p:spPr>
          <a:xfrm xmlns:a="http://schemas.openxmlformats.org/drawingml/2006/main">
            <a:off x="666750" y="2324100"/>
            <a:ext cx="6905625"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9" name="">
            <a:extLst xmlns:a="http://schemas.openxmlformats.org/drawingml/2006/main">
              <a:ext uri="{FF2B5EF4-FFF2-40B4-BE49-F238E27FC236}">
                <a16:creationId xmlns:a16="http://schemas.microsoft.com/office/drawing/2014/main" id="{23FBA56A-B59F-4A93-95FC-F953C622686D}"/>
              </a:ext>
            </a:extLst>
          </p:cNvPr>
          <p:cNvSpPr>
            <a:spLocks xmlns:a="http://schemas.openxmlformats.org/drawingml/2006/main" noGrp="1"/>
          </p:cNvSpPr>
          <p:nvPr/>
        </p:nvSpPr>
        <p:spPr>
          <a:xfrm xmlns:a="http://schemas.openxmlformats.org/drawingml/2006/main">
            <a:off x="695325" y="2552700"/>
            <a:ext cx="104775" cy="104775"/>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BB23DB2-84B7-4E9F-9CBF-905DB9D1C6EA}"/>
              </a:ext>
            </a:extLst>
          </p:cNvPr>
          <p:cNvSpPr>
            <a:spLocks xmlns:a="http://schemas.openxmlformats.org/drawingml/2006/main" noGrp="1"/>
          </p:cNvSpPr>
          <p:nvPr/>
        </p:nvSpPr>
        <p:spPr>
          <a:xfrm xmlns:a="http://schemas.openxmlformats.org/drawingml/2006/main">
            <a:off x="895350" y="244792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4F2683"/>
                </a:solidFill>
                <a:latin typeface="Aptos"/>
                <a:ea typeface="Aptos"/>
                <a:cs typeface="Aptos"/>
              </a:defRPr>
            </a:pPr>
            <a:r>
              <a:rPr sz="1425" b="1">
                <a:solidFill>
                  <a:srgbClr val="4F2683"/>
                </a:solidFill>
                <a:latin typeface="Aptos"/>
                <a:ea typeface="Aptos"/>
                <a:cs typeface="Aptos"/>
              </a:rPr>
              <a:t>T2</a:t>
            </a:r>
          </a:p>
        </p:txBody>
      </p:sp>
      <p:sp>
        <p:nvSpPr>
          <p:cNvPr id="21" name="">
            <a:extLst xmlns:a="http://schemas.openxmlformats.org/drawingml/2006/main">
              <a:ext uri="{FF2B5EF4-FFF2-40B4-BE49-F238E27FC236}">
                <a16:creationId xmlns:a16="http://schemas.microsoft.com/office/drawing/2014/main" id="{867A1442-6F27-4EA8-819B-B00153C4993D}"/>
              </a:ext>
            </a:extLst>
          </p:cNvPr>
          <p:cNvSpPr>
            <a:spLocks xmlns:a="http://schemas.openxmlformats.org/drawingml/2006/main" noGrp="1"/>
          </p:cNvSpPr>
          <p:nvPr/>
        </p:nvSpPr>
        <p:spPr>
          <a:xfrm xmlns:a="http://schemas.openxmlformats.org/drawingml/2006/main">
            <a:off x="1619250" y="2447925"/>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Renamed identifiers / literals</a:t>
            </a:r>
          </a:p>
        </p:txBody>
      </p:sp>
      <p:sp>
        <p:nvSpPr>
          <p:cNvPr id="22" name="">
            <a:extLst xmlns:a="http://schemas.openxmlformats.org/drawingml/2006/main">
              <a:ext uri="{FF2B5EF4-FFF2-40B4-BE49-F238E27FC236}">
                <a16:creationId xmlns:a16="http://schemas.microsoft.com/office/drawing/2014/main" id="{DA6EF10D-6DA1-4400-BEAF-FE900CD4857A}"/>
              </a:ext>
            </a:extLst>
          </p:cNvPr>
          <p:cNvSpPr>
            <a:spLocks xmlns:a="http://schemas.openxmlformats.org/drawingml/2006/main" noGrp="1"/>
          </p:cNvSpPr>
          <p:nvPr/>
        </p:nvSpPr>
        <p:spPr>
          <a:xfrm xmlns:a="http://schemas.openxmlformats.org/drawingml/2006/main">
            <a:off x="6191250" y="244792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350" b="1">
                <a:solidFill>
                  <a:srgbClr val="232323"/>
                </a:solidFill>
                <a:latin typeface="Aptos"/>
                <a:ea typeface="Aptos"/>
                <a:cs typeface="Aptos"/>
              </a:defRPr>
            </a:pPr>
            <a:r>
              <a:rPr sz="1350" b="1">
                <a:solidFill>
                  <a:srgbClr val="232323"/>
                </a:solidFill>
                <a:latin typeface="Aptos"/>
                <a:ea typeface="Aptos"/>
                <a:cs typeface="Aptos"/>
              </a:rPr>
              <a:t>4,204</a:t>
            </a:r>
          </a:p>
        </p:txBody>
      </p:sp>
      <p:sp>
        <p:nvSpPr>
          <p:cNvPr id="23" name="">
            <a:extLst xmlns:a="http://schemas.openxmlformats.org/drawingml/2006/main">
              <a:ext uri="{FF2B5EF4-FFF2-40B4-BE49-F238E27FC236}">
                <a16:creationId xmlns:a16="http://schemas.microsoft.com/office/drawing/2014/main" id="{609191D4-74D6-4FC7-A89B-1E45BA43B4D0}"/>
              </a:ext>
            </a:extLst>
          </p:cNvPr>
          <p:cNvSpPr>
            <a:spLocks xmlns:a="http://schemas.openxmlformats.org/drawingml/2006/main" noGrp="1"/>
          </p:cNvSpPr>
          <p:nvPr/>
        </p:nvSpPr>
        <p:spPr>
          <a:xfrm xmlns:a="http://schemas.openxmlformats.org/drawingml/2006/main">
            <a:off x="666750" y="2857500"/>
            <a:ext cx="6905625"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24" name="">
            <a:extLst xmlns:a="http://schemas.openxmlformats.org/drawingml/2006/main">
              <a:ext uri="{FF2B5EF4-FFF2-40B4-BE49-F238E27FC236}">
                <a16:creationId xmlns:a16="http://schemas.microsoft.com/office/drawing/2014/main" id="{8EDB630F-D856-492B-9DEA-7A9993ADD2AA}"/>
              </a:ext>
            </a:extLst>
          </p:cNvPr>
          <p:cNvSpPr>
            <a:spLocks xmlns:a="http://schemas.openxmlformats.org/drawingml/2006/main" noGrp="1"/>
          </p:cNvSpPr>
          <p:nvPr/>
        </p:nvSpPr>
        <p:spPr>
          <a:xfrm xmlns:a="http://schemas.openxmlformats.org/drawingml/2006/main">
            <a:off x="695325" y="3086100"/>
            <a:ext cx="104775" cy="104775"/>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DC72FF8-4057-45A3-85EF-1C20B3675F1D}"/>
              </a:ext>
            </a:extLst>
          </p:cNvPr>
          <p:cNvSpPr>
            <a:spLocks xmlns:a="http://schemas.openxmlformats.org/drawingml/2006/main" noGrp="1"/>
          </p:cNvSpPr>
          <p:nvPr/>
        </p:nvSpPr>
        <p:spPr>
          <a:xfrm xmlns:a="http://schemas.openxmlformats.org/drawingml/2006/main">
            <a:off x="895350" y="298132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4F2683"/>
                </a:solidFill>
                <a:latin typeface="Aptos"/>
                <a:ea typeface="Aptos"/>
                <a:cs typeface="Aptos"/>
              </a:defRPr>
            </a:pPr>
            <a:r>
              <a:rPr sz="1425" b="1">
                <a:solidFill>
                  <a:srgbClr val="4F2683"/>
                </a:solidFill>
                <a:latin typeface="Aptos"/>
                <a:ea typeface="Aptos"/>
                <a:cs typeface="Aptos"/>
              </a:rPr>
              <a:t>VST3</a:t>
            </a:r>
          </a:p>
        </p:txBody>
      </p:sp>
      <p:sp>
        <p:nvSpPr>
          <p:cNvPr id="26" name="">
            <a:extLst xmlns:a="http://schemas.openxmlformats.org/drawingml/2006/main">
              <a:ext uri="{FF2B5EF4-FFF2-40B4-BE49-F238E27FC236}">
                <a16:creationId xmlns:a16="http://schemas.microsoft.com/office/drawing/2014/main" id="{D4A2BEB9-5E66-4A54-ADF0-09C08A7060AB}"/>
              </a:ext>
            </a:extLst>
          </p:cNvPr>
          <p:cNvSpPr>
            <a:spLocks xmlns:a="http://schemas.openxmlformats.org/drawingml/2006/main" noGrp="1"/>
          </p:cNvSpPr>
          <p:nvPr/>
        </p:nvSpPr>
        <p:spPr>
          <a:xfrm xmlns:a="http://schemas.openxmlformats.org/drawingml/2006/main">
            <a:off x="1619250" y="2981325"/>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Very strong Type-3</a:t>
            </a:r>
          </a:p>
        </p:txBody>
      </p:sp>
      <p:sp>
        <p:nvSpPr>
          <p:cNvPr id="27" name="">
            <a:extLst xmlns:a="http://schemas.openxmlformats.org/drawingml/2006/main">
              <a:ext uri="{FF2B5EF4-FFF2-40B4-BE49-F238E27FC236}">
                <a16:creationId xmlns:a16="http://schemas.microsoft.com/office/drawing/2014/main" id="{94DFC2A7-8E3B-4C4A-9E72-7AD929A74E87}"/>
              </a:ext>
            </a:extLst>
          </p:cNvPr>
          <p:cNvSpPr>
            <a:spLocks xmlns:a="http://schemas.openxmlformats.org/drawingml/2006/main" noGrp="1"/>
          </p:cNvSpPr>
          <p:nvPr/>
        </p:nvSpPr>
        <p:spPr>
          <a:xfrm xmlns:a="http://schemas.openxmlformats.org/drawingml/2006/main">
            <a:off x="6191250" y="298132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350" b="1">
                <a:solidFill>
                  <a:srgbClr val="232323"/>
                </a:solidFill>
                <a:latin typeface="Aptos"/>
                <a:ea typeface="Aptos"/>
                <a:cs typeface="Aptos"/>
              </a:defRPr>
            </a:pPr>
            <a:r>
              <a:rPr sz="1350" b="1">
                <a:solidFill>
                  <a:srgbClr val="232323"/>
                </a:solidFill>
                <a:latin typeface="Aptos"/>
                <a:ea typeface="Aptos"/>
                <a:cs typeface="Aptos"/>
              </a:rPr>
              <a:t>4,184</a:t>
            </a:r>
          </a:p>
        </p:txBody>
      </p:sp>
      <p:sp>
        <p:nvSpPr>
          <p:cNvPr id="28" name="">
            <a:extLst xmlns:a="http://schemas.openxmlformats.org/drawingml/2006/main">
              <a:ext uri="{FF2B5EF4-FFF2-40B4-BE49-F238E27FC236}">
                <a16:creationId xmlns:a16="http://schemas.microsoft.com/office/drawing/2014/main" id="{82E9399F-4861-46D6-883C-C78E07582182}"/>
              </a:ext>
            </a:extLst>
          </p:cNvPr>
          <p:cNvSpPr>
            <a:spLocks xmlns:a="http://schemas.openxmlformats.org/drawingml/2006/main" noGrp="1"/>
          </p:cNvSpPr>
          <p:nvPr/>
        </p:nvSpPr>
        <p:spPr>
          <a:xfrm xmlns:a="http://schemas.openxmlformats.org/drawingml/2006/main">
            <a:off x="666750" y="3390900"/>
            <a:ext cx="6905625"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29" name="">
            <a:extLst xmlns:a="http://schemas.openxmlformats.org/drawingml/2006/main">
              <a:ext uri="{FF2B5EF4-FFF2-40B4-BE49-F238E27FC236}">
                <a16:creationId xmlns:a16="http://schemas.microsoft.com/office/drawing/2014/main" id="{067495E6-160E-40EE-AAC7-25F19A765631}"/>
              </a:ext>
            </a:extLst>
          </p:cNvPr>
          <p:cNvSpPr>
            <a:spLocks xmlns:a="http://schemas.openxmlformats.org/drawingml/2006/main" noGrp="1"/>
          </p:cNvSpPr>
          <p:nvPr/>
        </p:nvSpPr>
        <p:spPr>
          <a:xfrm xmlns:a="http://schemas.openxmlformats.org/drawingml/2006/main">
            <a:off x="695325" y="3619500"/>
            <a:ext cx="104775" cy="104775"/>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C6B6191-A79C-40E3-9617-C71DDB9D9151}"/>
              </a:ext>
            </a:extLst>
          </p:cNvPr>
          <p:cNvSpPr>
            <a:spLocks xmlns:a="http://schemas.openxmlformats.org/drawingml/2006/main" noGrp="1"/>
          </p:cNvSpPr>
          <p:nvPr/>
        </p:nvSpPr>
        <p:spPr>
          <a:xfrm xmlns:a="http://schemas.openxmlformats.org/drawingml/2006/main">
            <a:off x="895350" y="351472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4F2683"/>
                </a:solidFill>
                <a:latin typeface="Aptos"/>
                <a:ea typeface="Aptos"/>
                <a:cs typeface="Aptos"/>
              </a:defRPr>
            </a:pPr>
            <a:r>
              <a:rPr sz="1425" b="1">
                <a:solidFill>
                  <a:srgbClr val="4F2683"/>
                </a:solidFill>
                <a:latin typeface="Aptos"/>
                <a:ea typeface="Aptos"/>
                <a:cs typeface="Aptos"/>
              </a:rPr>
              <a:t>ST3</a:t>
            </a:r>
          </a:p>
        </p:txBody>
      </p:sp>
      <p:sp>
        <p:nvSpPr>
          <p:cNvPr id="31" name="">
            <a:extLst xmlns:a="http://schemas.openxmlformats.org/drawingml/2006/main">
              <a:ext uri="{FF2B5EF4-FFF2-40B4-BE49-F238E27FC236}">
                <a16:creationId xmlns:a16="http://schemas.microsoft.com/office/drawing/2014/main" id="{3CB175C8-CD83-475E-A8E5-5EF40277B2D4}"/>
              </a:ext>
            </a:extLst>
          </p:cNvPr>
          <p:cNvSpPr>
            <a:spLocks xmlns:a="http://schemas.openxmlformats.org/drawingml/2006/main" noGrp="1"/>
          </p:cNvSpPr>
          <p:nvPr/>
        </p:nvSpPr>
        <p:spPr>
          <a:xfrm xmlns:a="http://schemas.openxmlformats.org/drawingml/2006/main">
            <a:off x="1619250" y="3514725"/>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Strong Type-3</a:t>
            </a:r>
          </a:p>
        </p:txBody>
      </p:sp>
      <p:sp>
        <p:nvSpPr>
          <p:cNvPr id="32" name="">
            <a:extLst xmlns:a="http://schemas.openxmlformats.org/drawingml/2006/main">
              <a:ext uri="{FF2B5EF4-FFF2-40B4-BE49-F238E27FC236}">
                <a16:creationId xmlns:a16="http://schemas.microsoft.com/office/drawing/2014/main" id="{10669F26-7E0C-4605-BD37-43124F3D3128}"/>
              </a:ext>
            </a:extLst>
          </p:cNvPr>
          <p:cNvSpPr>
            <a:spLocks xmlns:a="http://schemas.openxmlformats.org/drawingml/2006/main" noGrp="1"/>
          </p:cNvSpPr>
          <p:nvPr/>
        </p:nvSpPr>
        <p:spPr>
          <a:xfrm xmlns:a="http://schemas.openxmlformats.org/drawingml/2006/main">
            <a:off x="6191250" y="351472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350" b="1">
                <a:solidFill>
                  <a:srgbClr val="232323"/>
                </a:solidFill>
                <a:latin typeface="Aptos"/>
                <a:ea typeface="Aptos"/>
                <a:cs typeface="Aptos"/>
              </a:defRPr>
            </a:pPr>
            <a:r>
              <a:rPr sz="1350" b="1">
                <a:solidFill>
                  <a:srgbClr val="232323"/>
                </a:solidFill>
                <a:latin typeface="Aptos"/>
                <a:ea typeface="Aptos"/>
                <a:cs typeface="Aptos"/>
              </a:rPr>
              <a:t>15,141</a:t>
            </a:r>
          </a:p>
        </p:txBody>
      </p:sp>
      <p:sp>
        <p:nvSpPr>
          <p:cNvPr id="33" name="">
            <a:extLst xmlns:a="http://schemas.openxmlformats.org/drawingml/2006/main">
              <a:ext uri="{FF2B5EF4-FFF2-40B4-BE49-F238E27FC236}">
                <a16:creationId xmlns:a16="http://schemas.microsoft.com/office/drawing/2014/main" id="{EB48DE64-E485-45F3-975A-B8BEA336BEE0}"/>
              </a:ext>
            </a:extLst>
          </p:cNvPr>
          <p:cNvSpPr>
            <a:spLocks xmlns:a="http://schemas.openxmlformats.org/drawingml/2006/main" noGrp="1"/>
          </p:cNvSpPr>
          <p:nvPr/>
        </p:nvSpPr>
        <p:spPr>
          <a:xfrm xmlns:a="http://schemas.openxmlformats.org/drawingml/2006/main">
            <a:off x="666750" y="3924300"/>
            <a:ext cx="6905625"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34" name="">
            <a:extLst xmlns:a="http://schemas.openxmlformats.org/drawingml/2006/main">
              <a:ext uri="{FF2B5EF4-FFF2-40B4-BE49-F238E27FC236}">
                <a16:creationId xmlns:a16="http://schemas.microsoft.com/office/drawing/2014/main" id="{F3C27093-D1A1-4E23-A1EB-7EAA3AE18071}"/>
              </a:ext>
            </a:extLst>
          </p:cNvPr>
          <p:cNvSpPr>
            <a:spLocks xmlns:a="http://schemas.openxmlformats.org/drawingml/2006/main" noGrp="1"/>
          </p:cNvSpPr>
          <p:nvPr/>
        </p:nvSpPr>
        <p:spPr>
          <a:xfrm xmlns:a="http://schemas.openxmlformats.org/drawingml/2006/main">
            <a:off x="695325" y="4152900"/>
            <a:ext cx="104775" cy="104775"/>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779CE4C-8C01-4901-B07F-3E915888E3E4}"/>
              </a:ext>
            </a:extLst>
          </p:cNvPr>
          <p:cNvSpPr>
            <a:spLocks xmlns:a="http://schemas.openxmlformats.org/drawingml/2006/main" noGrp="1"/>
          </p:cNvSpPr>
          <p:nvPr/>
        </p:nvSpPr>
        <p:spPr>
          <a:xfrm xmlns:a="http://schemas.openxmlformats.org/drawingml/2006/main">
            <a:off x="895350" y="404812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4F2683"/>
                </a:solidFill>
                <a:latin typeface="Aptos"/>
                <a:ea typeface="Aptos"/>
                <a:cs typeface="Aptos"/>
              </a:defRPr>
            </a:pPr>
            <a:r>
              <a:rPr sz="1425" b="1">
                <a:solidFill>
                  <a:srgbClr val="4F2683"/>
                </a:solidFill>
                <a:latin typeface="Aptos"/>
                <a:ea typeface="Aptos"/>
                <a:cs typeface="Aptos"/>
              </a:rPr>
              <a:t>MT3</a:t>
            </a:r>
          </a:p>
        </p:txBody>
      </p:sp>
      <p:sp>
        <p:nvSpPr>
          <p:cNvPr id="36" name="">
            <a:extLst xmlns:a="http://schemas.openxmlformats.org/drawingml/2006/main">
              <a:ext uri="{FF2B5EF4-FFF2-40B4-BE49-F238E27FC236}">
                <a16:creationId xmlns:a16="http://schemas.microsoft.com/office/drawing/2014/main" id="{1BAD1B80-6CDF-410A-BD05-B8C0120127BC}"/>
              </a:ext>
            </a:extLst>
          </p:cNvPr>
          <p:cNvSpPr>
            <a:spLocks xmlns:a="http://schemas.openxmlformats.org/drawingml/2006/main" noGrp="1"/>
          </p:cNvSpPr>
          <p:nvPr/>
        </p:nvSpPr>
        <p:spPr>
          <a:xfrm xmlns:a="http://schemas.openxmlformats.org/drawingml/2006/main">
            <a:off x="1619250" y="4048125"/>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Moderate Type-3</a:t>
            </a:r>
          </a:p>
        </p:txBody>
      </p:sp>
      <p:sp>
        <p:nvSpPr>
          <p:cNvPr id="37" name="">
            <a:extLst xmlns:a="http://schemas.openxmlformats.org/drawingml/2006/main">
              <a:ext uri="{FF2B5EF4-FFF2-40B4-BE49-F238E27FC236}">
                <a16:creationId xmlns:a16="http://schemas.microsoft.com/office/drawing/2014/main" id="{4ADBF46F-B097-4FA1-85A2-F0E155672CD9}"/>
              </a:ext>
            </a:extLst>
          </p:cNvPr>
          <p:cNvSpPr>
            <a:spLocks xmlns:a="http://schemas.openxmlformats.org/drawingml/2006/main" noGrp="1"/>
          </p:cNvSpPr>
          <p:nvPr/>
        </p:nvSpPr>
        <p:spPr>
          <a:xfrm xmlns:a="http://schemas.openxmlformats.org/drawingml/2006/main">
            <a:off x="6191250" y="404812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350" b="1">
                <a:solidFill>
                  <a:srgbClr val="232323"/>
                </a:solidFill>
                <a:latin typeface="Aptos"/>
                <a:ea typeface="Aptos"/>
                <a:cs typeface="Aptos"/>
              </a:defRPr>
            </a:pPr>
            <a:r>
              <a:rPr sz="1350" b="1">
                <a:solidFill>
                  <a:srgbClr val="232323"/>
                </a:solidFill>
                <a:latin typeface="Aptos"/>
                <a:ea typeface="Aptos"/>
                <a:cs typeface="Aptos"/>
              </a:rPr>
              <a:t>82,193</a:t>
            </a:r>
          </a:p>
        </p:txBody>
      </p:sp>
      <p:sp>
        <p:nvSpPr>
          <p:cNvPr id="38" name="">
            <a:extLst xmlns:a="http://schemas.openxmlformats.org/drawingml/2006/main">
              <a:ext uri="{FF2B5EF4-FFF2-40B4-BE49-F238E27FC236}">
                <a16:creationId xmlns:a16="http://schemas.microsoft.com/office/drawing/2014/main" id="{B09083E8-5A57-4836-91B3-6AB3DEF48079}"/>
              </a:ext>
            </a:extLst>
          </p:cNvPr>
          <p:cNvSpPr>
            <a:spLocks xmlns:a="http://schemas.openxmlformats.org/drawingml/2006/main" noGrp="1"/>
          </p:cNvSpPr>
          <p:nvPr/>
        </p:nvSpPr>
        <p:spPr>
          <a:xfrm xmlns:a="http://schemas.openxmlformats.org/drawingml/2006/main">
            <a:off x="666750" y="4457700"/>
            <a:ext cx="6905625"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39" name="">
            <a:extLst xmlns:a="http://schemas.openxmlformats.org/drawingml/2006/main">
              <a:ext uri="{FF2B5EF4-FFF2-40B4-BE49-F238E27FC236}">
                <a16:creationId xmlns:a16="http://schemas.microsoft.com/office/drawing/2014/main" id="{78C471DF-8C4C-4FB6-B681-3F7C806A360B}"/>
              </a:ext>
            </a:extLst>
          </p:cNvPr>
          <p:cNvSpPr>
            <a:spLocks xmlns:a="http://schemas.openxmlformats.org/drawingml/2006/main" noGrp="1"/>
          </p:cNvSpPr>
          <p:nvPr/>
        </p:nvSpPr>
        <p:spPr>
          <a:xfrm xmlns:a="http://schemas.openxmlformats.org/drawingml/2006/main">
            <a:off x="695325" y="4686300"/>
            <a:ext cx="104775" cy="104775"/>
          </a:xfrm>
          <a:prstGeom xmlns:a="http://schemas.openxmlformats.org/drawingml/2006/main" prst="ellipse">
            <a:avLst/>
          </a:prstGeom>
          <a:solidFill xmlns:a="http://schemas.openxmlformats.org/drawingml/2006/main">
            <a:srgbClr val="7AC943"/>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923CB4E-069B-409C-838F-28949A9CC9A4}"/>
              </a:ext>
            </a:extLst>
          </p:cNvPr>
          <p:cNvSpPr>
            <a:spLocks xmlns:a="http://schemas.openxmlformats.org/drawingml/2006/main" noGrp="1"/>
          </p:cNvSpPr>
          <p:nvPr/>
        </p:nvSpPr>
        <p:spPr>
          <a:xfrm xmlns:a="http://schemas.openxmlformats.org/drawingml/2006/main">
            <a:off x="895350" y="4581525"/>
            <a:ext cx="100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4F2683"/>
                </a:solidFill>
                <a:latin typeface="Aptos"/>
                <a:ea typeface="Aptos"/>
                <a:cs typeface="Aptos"/>
              </a:defRPr>
            </a:pPr>
            <a:r>
              <a:rPr sz="1050" b="1">
                <a:solidFill>
                  <a:srgbClr val="4F2683"/>
                </a:solidFill>
                <a:latin typeface="Aptos"/>
                <a:ea typeface="Aptos"/>
                <a:cs typeface="Aptos"/>
              </a:rPr>
              <a:t>NON-CLONE</a:t>
            </a:r>
          </a:p>
        </p:txBody>
      </p:sp>
      <p:sp>
        <p:nvSpPr>
          <p:cNvPr id="41" name="">
            <a:extLst xmlns:a="http://schemas.openxmlformats.org/drawingml/2006/main">
              <a:ext uri="{FF2B5EF4-FFF2-40B4-BE49-F238E27FC236}">
                <a16:creationId xmlns:a16="http://schemas.microsoft.com/office/drawing/2014/main" id="{AEE962FE-DA69-44C9-955A-2B3EFFFF5613}"/>
              </a:ext>
            </a:extLst>
          </p:cNvPr>
          <p:cNvSpPr>
            <a:spLocks xmlns:a="http://schemas.openxmlformats.org/drawingml/2006/main" noGrp="1"/>
          </p:cNvSpPr>
          <p:nvPr/>
        </p:nvSpPr>
        <p:spPr>
          <a:xfrm xmlns:a="http://schemas.openxmlformats.org/drawingml/2006/main">
            <a:off x="2047875" y="458152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Unrelated fragments</a:t>
            </a:r>
          </a:p>
        </p:txBody>
      </p:sp>
      <p:sp>
        <p:nvSpPr>
          <p:cNvPr id="42" name="">
            <a:extLst xmlns:a="http://schemas.openxmlformats.org/drawingml/2006/main">
              <a:ext uri="{FF2B5EF4-FFF2-40B4-BE49-F238E27FC236}">
                <a16:creationId xmlns:a16="http://schemas.microsoft.com/office/drawing/2014/main" id="{D463637C-4346-464E-B163-870C43537229}"/>
              </a:ext>
            </a:extLst>
          </p:cNvPr>
          <p:cNvSpPr>
            <a:spLocks xmlns:a="http://schemas.openxmlformats.org/drawingml/2006/main" noGrp="1"/>
          </p:cNvSpPr>
          <p:nvPr/>
        </p:nvSpPr>
        <p:spPr>
          <a:xfrm xmlns:a="http://schemas.openxmlformats.org/drawingml/2006/main">
            <a:off x="6191250" y="458152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350" b="1">
                <a:solidFill>
                  <a:srgbClr val="232323"/>
                </a:solidFill>
                <a:latin typeface="Aptos"/>
                <a:ea typeface="Aptos"/>
                <a:cs typeface="Aptos"/>
              </a:defRPr>
            </a:pPr>
            <a:r>
              <a:rPr sz="1350" b="1">
                <a:solidFill>
                  <a:srgbClr val="232323"/>
                </a:solidFill>
                <a:latin typeface="Aptos"/>
                <a:ea typeface="Aptos"/>
                <a:cs typeface="Aptos"/>
              </a:rPr>
              <a:t>2,000</a:t>
            </a:r>
          </a:p>
        </p:txBody>
      </p:sp>
      <p:sp>
        <p:nvSpPr>
          <p:cNvPr id="43" name="">
            <a:extLst xmlns:a="http://schemas.openxmlformats.org/drawingml/2006/main">
              <a:ext uri="{FF2B5EF4-FFF2-40B4-BE49-F238E27FC236}">
                <a16:creationId xmlns:a16="http://schemas.microsoft.com/office/drawing/2014/main" id="{22295DC3-8DA2-44FB-ACD9-4D6F8785AC6E}"/>
              </a:ext>
            </a:extLst>
          </p:cNvPr>
          <p:cNvSpPr>
            <a:spLocks xmlns:a="http://schemas.openxmlformats.org/drawingml/2006/main" noGrp="1"/>
          </p:cNvSpPr>
          <p:nvPr/>
        </p:nvSpPr>
        <p:spPr>
          <a:xfrm xmlns:a="http://schemas.openxmlformats.org/drawingml/2006/main">
            <a:off x="8239125" y="16573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4F2683"/>
                </a:solidFill>
                <a:latin typeface="Aptos"/>
                <a:ea typeface="Aptos"/>
                <a:cs typeface="Aptos"/>
              </a:defRPr>
            </a:pPr>
            <a:r>
              <a:rPr sz="1200" b="1">
                <a:solidFill>
                  <a:srgbClr val="4F2683"/>
                </a:solidFill>
                <a:latin typeface="Aptos"/>
                <a:ea typeface="Aptos"/>
                <a:cs typeface="Aptos"/>
              </a:rPr>
              <a:t>SCORING</a:t>
            </a:r>
          </a:p>
        </p:txBody>
      </p:sp>
      <p:sp>
        <p:nvSpPr>
          <p:cNvPr id="44" name="">
            <a:extLst xmlns:a="http://schemas.openxmlformats.org/drawingml/2006/main">
              <a:ext uri="{FF2B5EF4-FFF2-40B4-BE49-F238E27FC236}">
                <a16:creationId xmlns:a16="http://schemas.microsoft.com/office/drawing/2014/main" id="{84E7DDAF-3E58-4F91-BD21-FB42D21D559E}"/>
              </a:ext>
            </a:extLst>
          </p:cNvPr>
          <p:cNvSpPr>
            <a:spLocks xmlns:a="http://schemas.openxmlformats.org/drawingml/2006/main" noGrp="1"/>
          </p:cNvSpPr>
          <p:nvPr/>
        </p:nvSpPr>
        <p:spPr>
          <a:xfrm xmlns:a="http://schemas.openxmlformats.org/drawingml/2006/main">
            <a:off x="8239125" y="2133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232323"/>
                </a:solidFill>
                <a:latin typeface="Aptos"/>
                <a:ea typeface="Aptos"/>
                <a:cs typeface="Aptos"/>
              </a:defRPr>
            </a:pPr>
            <a:r>
              <a:rPr sz="1350" b="1">
                <a:solidFill>
                  <a:srgbClr val="232323"/>
                </a:solidFill>
                <a:latin typeface="Aptos"/>
                <a:ea typeface="Aptos"/>
                <a:cs typeface="Aptos"/>
              </a:rPr>
              <a:t>Clone</a:t>
            </a:r>
          </a:p>
        </p:txBody>
      </p:sp>
      <p:sp>
        <p:nvSpPr>
          <p:cNvPr id="45" name="">
            <a:extLst xmlns:a="http://schemas.openxmlformats.org/drawingml/2006/main">
              <a:ext uri="{FF2B5EF4-FFF2-40B4-BE49-F238E27FC236}">
                <a16:creationId xmlns:a16="http://schemas.microsoft.com/office/drawing/2014/main" id="{5D5BA7F6-8F78-4876-AB91-2542A2756594}"/>
              </a:ext>
            </a:extLst>
          </p:cNvPr>
          <p:cNvSpPr>
            <a:spLocks xmlns:a="http://schemas.openxmlformats.org/drawingml/2006/main" noGrp="1"/>
          </p:cNvSpPr>
          <p:nvPr/>
        </p:nvSpPr>
        <p:spPr>
          <a:xfrm xmlns:a="http://schemas.openxmlformats.org/drawingml/2006/main">
            <a:off x="8239125" y="241935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800" b="1">
                <a:solidFill>
                  <a:srgbClr val="4F2683"/>
                </a:solidFill>
                <a:latin typeface="Aptos"/>
                <a:ea typeface="Aptos"/>
                <a:cs typeface="Aptos"/>
              </a:defRPr>
            </a:pPr>
            <a:r>
              <a:rPr sz="1800" b="1">
                <a:solidFill>
                  <a:srgbClr val="4F2683"/>
                </a:solidFill>
                <a:latin typeface="Aptos"/>
                <a:ea typeface="Aptos"/>
                <a:cs typeface="Aptos"/>
              </a:rPr>
              <a:t>≥ 70% region coverage</a:t>
            </a:r>
          </a:p>
        </p:txBody>
      </p:sp>
      <p:sp>
        <p:nvSpPr>
          <p:cNvPr id="46" name="">
            <a:extLst xmlns:a="http://schemas.openxmlformats.org/drawingml/2006/main">
              <a:ext uri="{FF2B5EF4-FFF2-40B4-BE49-F238E27FC236}">
                <a16:creationId xmlns:a16="http://schemas.microsoft.com/office/drawing/2014/main" id="{2D94C631-11AC-4448-A4B6-F20C537AA1BA}"/>
              </a:ext>
            </a:extLst>
          </p:cNvPr>
          <p:cNvSpPr>
            <a:spLocks xmlns:a="http://schemas.openxmlformats.org/drawingml/2006/main" noGrp="1"/>
          </p:cNvSpPr>
          <p:nvPr/>
        </p:nvSpPr>
        <p:spPr>
          <a:xfrm xmlns:a="http://schemas.openxmlformats.org/drawingml/2006/main">
            <a:off x="8239125" y="311467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232323"/>
                </a:solidFill>
                <a:latin typeface="Aptos"/>
                <a:ea typeface="Aptos"/>
                <a:cs typeface="Aptos"/>
              </a:defRPr>
            </a:pPr>
            <a:r>
              <a:rPr sz="1350" b="1">
                <a:solidFill>
                  <a:srgbClr val="232323"/>
                </a:solidFill>
                <a:latin typeface="Aptos"/>
                <a:ea typeface="Aptos"/>
                <a:cs typeface="Aptos"/>
              </a:rPr>
              <a:t>Non-clone</a:t>
            </a:r>
          </a:p>
        </p:txBody>
      </p:sp>
      <p:sp>
        <p:nvSpPr>
          <p:cNvPr id="47" name="">
            <a:extLst xmlns:a="http://schemas.openxmlformats.org/drawingml/2006/main">
              <a:ext uri="{FF2B5EF4-FFF2-40B4-BE49-F238E27FC236}">
                <a16:creationId xmlns:a16="http://schemas.microsoft.com/office/drawing/2014/main" id="{58F6A16A-C4D3-4AA8-A313-37AAC1D48E3D}"/>
              </a:ext>
            </a:extLst>
          </p:cNvPr>
          <p:cNvSpPr>
            <a:spLocks xmlns:a="http://schemas.openxmlformats.org/drawingml/2006/main" noGrp="1"/>
          </p:cNvSpPr>
          <p:nvPr/>
        </p:nvSpPr>
        <p:spPr>
          <a:xfrm xmlns:a="http://schemas.openxmlformats.org/drawingml/2006/main">
            <a:off x="8239125" y="3400425"/>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800" b="1">
                <a:solidFill>
                  <a:srgbClr val="7AC943"/>
                </a:solidFill>
                <a:latin typeface="Aptos"/>
                <a:ea typeface="Aptos"/>
                <a:cs typeface="Aptos"/>
              </a:defRPr>
            </a:pPr>
            <a:r>
              <a:rPr sz="1800" b="1">
                <a:solidFill>
                  <a:srgbClr val="7AC943"/>
                </a:solidFill>
                <a:latin typeface="Aptos"/>
                <a:ea typeface="Aptos"/>
                <a:cs typeface="Aptos"/>
              </a:rPr>
              <a:t>No reported clone</a:t>
            </a:r>
          </a:p>
        </p:txBody>
      </p:sp>
      <p:sp>
        <p:nvSpPr>
          <p:cNvPr id="48" name="">
            <a:extLst xmlns:a="http://schemas.openxmlformats.org/drawingml/2006/main">
              <a:ext uri="{FF2B5EF4-FFF2-40B4-BE49-F238E27FC236}">
                <a16:creationId xmlns:a16="http://schemas.microsoft.com/office/drawing/2014/main" id="{32F0AA29-BD3C-4828-B566-8893D28300AE}"/>
              </a:ext>
            </a:extLst>
          </p:cNvPr>
          <p:cNvSpPr>
            <a:spLocks xmlns:a="http://schemas.openxmlformats.org/drawingml/2006/main" noGrp="1"/>
          </p:cNvSpPr>
          <p:nvPr/>
        </p:nvSpPr>
        <p:spPr>
          <a:xfrm xmlns:a="http://schemas.openxmlformats.org/drawingml/2006/main">
            <a:off x="8239125" y="4286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Smoke set: 20 per clone group + 40 negatives = 140 pairs</a:t>
            </a:r>
          </a:p>
        </p:txBody>
      </p:sp>
    </p:spTree>
    <p:extLst>
      <p:ext uri="{BB962C8B-B14F-4D97-AF65-F5344CB8AC3E}">
        <p14:creationId xmlns:p14="http://schemas.microsoft.com/office/powerpoint/2010/main" val="2585514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V1 — The full run scaled to 144,478 pairs</a:t>
            </a:r>
          </a:p>
        </p:txBody>
      </p:sp>
      <p:pic>
        <p:nvPicPr>
          <p:cNvPr id="40" name="Picture 3"/>
          <p:cNvPicPr>
            <a:picLocks xmlns:a="http://schemas.openxmlformats.org/drawingml/2006/main" noChangeAspect="1"/>
          </p:cNvPicPr>
          <p:nvPr/>
        </p:nvPicPr>
        <p:blipFill>
          <a:blip xmlns:r="http://schemas.openxmlformats.org/officeDocument/2006/relationships" xmlns:a="http://schemas.openxmlformats.org/drawingml/2006/main" r:embed="Rfb59c297c2214736"/>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392A560-33A5-490F-AA80-D9371BA51056}"/>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E4002B"/>
                </a:solidFill>
                <a:latin typeface="Aptos"/>
                <a:ea typeface="Aptos"/>
                <a:cs typeface="Aptos"/>
              </a:defRPr>
            </a:pPr>
            <a:r>
              <a:rPr sz="1050" b="1">
                <a:solidFill>
                  <a:srgbClr val="E4002B"/>
                </a:solidFill>
                <a:latin typeface="Aptos"/>
                <a:ea typeface="Aptos"/>
                <a:cs typeface="Aptos"/>
              </a:rPr>
              <a:t>V1: BCB</a:t>
            </a:r>
          </a:p>
        </p:txBody>
      </p:sp>
      <p:sp>
        <p:nvSpPr>
          <p:cNvPr id="8" name="">
            <a:extLst xmlns:a="http://schemas.openxmlformats.org/drawingml/2006/main">
              <a:ext uri="{FF2B5EF4-FFF2-40B4-BE49-F238E27FC236}">
                <a16:creationId xmlns:a16="http://schemas.microsoft.com/office/drawing/2014/main" id="{FB194986-8F76-4B97-9B90-1F14F48F87EA}"/>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MT3 is 57% of all pairs</a:t>
            </a:r>
          </a:p>
        </p:txBody>
      </p:sp>
      <p:sp>
        <p:nvSpPr>
          <p:cNvPr id="9" name="">
            <a:extLst xmlns:a="http://schemas.openxmlformats.org/drawingml/2006/main">
              <a:ext uri="{FF2B5EF4-FFF2-40B4-BE49-F238E27FC236}">
                <a16:creationId xmlns:a16="http://schemas.microsoft.com/office/drawing/2014/main" id="{F3A83623-EDE8-435A-90D6-7205E0822573}"/>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9D1AD339-1E60-416A-BDA7-69143158CF01}"/>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3 / 24</a:t>
            </a:r>
          </a:p>
        </p:txBody>
      </p:sp>
      <p:sp>
        <p:nvSpPr>
          <p:cNvPr id="11" name="">
            <a:extLst xmlns:a="http://schemas.openxmlformats.org/drawingml/2006/main">
              <a:ext uri="{FF2B5EF4-FFF2-40B4-BE49-F238E27FC236}">
                <a16:creationId xmlns:a16="http://schemas.microsoft.com/office/drawing/2014/main" id="{83CEAC5C-CB40-48C3-B357-662D7512A638}"/>
              </a:ext>
            </a:extLst>
          </p:cNvPr>
          <p:cNvSpPr>
            <a:spLocks xmlns:a="http://schemas.openxmlformats.org/drawingml/2006/main" noGrp="1"/>
          </p:cNvSpPr>
          <p:nvPr/>
        </p:nvSpPr>
        <p:spPr>
          <a:xfrm xmlns:a="http://schemas.openxmlformats.org/drawingml/2006/main">
            <a:off x="619125" y="1571625"/>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144,478</a:t>
            </a:r>
          </a:p>
        </p:txBody>
      </p:sp>
      <p:sp>
        <p:nvSpPr>
          <p:cNvPr id="12" name="">
            <a:extLst xmlns:a="http://schemas.openxmlformats.org/drawingml/2006/main">
              <a:ext uri="{FF2B5EF4-FFF2-40B4-BE49-F238E27FC236}">
                <a16:creationId xmlns:a16="http://schemas.microsoft.com/office/drawing/2014/main" id="{9363CED8-1701-41FA-8602-7FE6042A1F66}"/>
              </a:ext>
            </a:extLst>
          </p:cNvPr>
          <p:cNvSpPr>
            <a:spLocks xmlns:a="http://schemas.openxmlformats.org/drawingml/2006/main" noGrp="1"/>
          </p:cNvSpPr>
          <p:nvPr/>
        </p:nvSpPr>
        <p:spPr>
          <a:xfrm xmlns:a="http://schemas.openxmlformats.org/drawingml/2006/main">
            <a:off x="619125" y="22383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total pairs</a:t>
            </a:r>
          </a:p>
        </p:txBody>
      </p:sp>
      <p:sp>
        <p:nvSpPr>
          <p:cNvPr id="13" name="">
            <a:extLst xmlns:a="http://schemas.openxmlformats.org/drawingml/2006/main">
              <a:ext uri="{FF2B5EF4-FFF2-40B4-BE49-F238E27FC236}">
                <a16:creationId xmlns:a16="http://schemas.microsoft.com/office/drawing/2014/main" id="{D6D9492C-74C8-4F15-B1D8-D278C4ABA1D4}"/>
              </a:ext>
            </a:extLst>
          </p:cNvPr>
          <p:cNvSpPr>
            <a:spLocks xmlns:a="http://schemas.openxmlformats.org/drawingml/2006/main" noGrp="1"/>
          </p:cNvSpPr>
          <p:nvPr/>
        </p:nvSpPr>
        <p:spPr>
          <a:xfrm xmlns:a="http://schemas.openxmlformats.org/drawingml/2006/main">
            <a:off x="619125" y="25717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140-pair smoke → full BCB run</a:t>
            </a:r>
          </a:p>
        </p:txBody>
      </p:sp>
      <p:sp>
        <p:nvSpPr>
          <p:cNvPr id="14" name="">
            <a:extLst xmlns:a="http://schemas.openxmlformats.org/drawingml/2006/main">
              <a:ext uri="{FF2B5EF4-FFF2-40B4-BE49-F238E27FC236}">
                <a16:creationId xmlns:a16="http://schemas.microsoft.com/office/drawing/2014/main" id="{4D9A56E3-3746-49FE-906C-8415A79D396F}"/>
              </a:ext>
            </a:extLst>
          </p:cNvPr>
          <p:cNvSpPr>
            <a:spLocks xmlns:a="http://schemas.openxmlformats.org/drawingml/2006/main" noGrp="1"/>
          </p:cNvSpPr>
          <p:nvPr/>
        </p:nvSpPr>
        <p:spPr>
          <a:xfrm xmlns:a="http://schemas.openxmlformats.org/drawingml/2006/main">
            <a:off x="3476625" y="1733550"/>
            <a:ext cx="85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T1</a:t>
            </a:r>
          </a:p>
        </p:txBody>
      </p:sp>
      <p:sp>
        <p:nvSpPr>
          <p:cNvPr id="15" name="">
            <a:extLst xmlns:a="http://schemas.openxmlformats.org/drawingml/2006/main">
              <a:ext uri="{FF2B5EF4-FFF2-40B4-BE49-F238E27FC236}">
                <a16:creationId xmlns:a16="http://schemas.microsoft.com/office/drawing/2014/main" id="{DC92F62F-D11D-4FF8-897F-AD9A2D3EB990}"/>
              </a:ext>
            </a:extLst>
          </p:cNvPr>
          <p:cNvSpPr>
            <a:spLocks xmlns:a="http://schemas.openxmlformats.org/drawingml/2006/main" noGrp="1"/>
          </p:cNvSpPr>
          <p:nvPr/>
        </p:nvSpPr>
        <p:spPr>
          <a:xfrm xmlns:a="http://schemas.openxmlformats.org/drawingml/2006/main">
            <a:off x="4476750" y="1752600"/>
            <a:ext cx="5334000" cy="23812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2D48F7-5551-4B7A-95B6-156B6DF422A6}"/>
              </a:ext>
            </a:extLst>
          </p:cNvPr>
          <p:cNvSpPr>
            <a:spLocks xmlns:a="http://schemas.openxmlformats.org/drawingml/2006/main" noGrp="1"/>
          </p:cNvSpPr>
          <p:nvPr/>
        </p:nvSpPr>
        <p:spPr>
          <a:xfrm xmlns:a="http://schemas.openxmlformats.org/drawingml/2006/main">
            <a:off x="4476750" y="1752600"/>
            <a:ext cx="2385319" cy="23812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3326AA-DE37-4611-8A1F-0B88681A5458}"/>
              </a:ext>
            </a:extLst>
          </p:cNvPr>
          <p:cNvSpPr>
            <a:spLocks xmlns:a="http://schemas.openxmlformats.org/drawingml/2006/main" noGrp="1"/>
          </p:cNvSpPr>
          <p:nvPr/>
        </p:nvSpPr>
        <p:spPr>
          <a:xfrm xmlns:a="http://schemas.openxmlformats.org/drawingml/2006/main">
            <a:off x="9925050" y="1714500"/>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36,756</a:t>
            </a:r>
          </a:p>
        </p:txBody>
      </p:sp>
      <p:sp>
        <p:nvSpPr>
          <p:cNvPr id="18" name="">
            <a:extLst xmlns:a="http://schemas.openxmlformats.org/drawingml/2006/main">
              <a:ext uri="{FF2B5EF4-FFF2-40B4-BE49-F238E27FC236}">
                <a16:creationId xmlns:a16="http://schemas.microsoft.com/office/drawing/2014/main" id="{C43EC59A-8DC8-4560-AD7B-0884B84BAD19}"/>
              </a:ext>
            </a:extLst>
          </p:cNvPr>
          <p:cNvSpPr>
            <a:spLocks xmlns:a="http://schemas.openxmlformats.org/drawingml/2006/main" noGrp="1"/>
          </p:cNvSpPr>
          <p:nvPr/>
        </p:nvSpPr>
        <p:spPr>
          <a:xfrm xmlns:a="http://schemas.openxmlformats.org/drawingml/2006/main">
            <a:off x="3476625" y="2314575"/>
            <a:ext cx="85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T2</a:t>
            </a:r>
          </a:p>
        </p:txBody>
      </p:sp>
      <p:sp>
        <p:nvSpPr>
          <p:cNvPr id="19" name="">
            <a:extLst xmlns:a="http://schemas.openxmlformats.org/drawingml/2006/main">
              <a:ext uri="{FF2B5EF4-FFF2-40B4-BE49-F238E27FC236}">
                <a16:creationId xmlns:a16="http://schemas.microsoft.com/office/drawing/2014/main" id="{9A447DE4-B1A5-4EED-A7D7-E6B1D5A18AF7}"/>
              </a:ext>
            </a:extLst>
          </p:cNvPr>
          <p:cNvSpPr>
            <a:spLocks xmlns:a="http://schemas.openxmlformats.org/drawingml/2006/main" noGrp="1"/>
          </p:cNvSpPr>
          <p:nvPr/>
        </p:nvSpPr>
        <p:spPr>
          <a:xfrm xmlns:a="http://schemas.openxmlformats.org/drawingml/2006/main">
            <a:off x="4476750" y="2333625"/>
            <a:ext cx="5334000" cy="23812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A8EC398-9D1E-4135-8C1D-2E12EA12B11C}"/>
              </a:ext>
            </a:extLst>
          </p:cNvPr>
          <p:cNvSpPr>
            <a:spLocks xmlns:a="http://schemas.openxmlformats.org/drawingml/2006/main" noGrp="1"/>
          </p:cNvSpPr>
          <p:nvPr/>
        </p:nvSpPr>
        <p:spPr>
          <a:xfrm xmlns:a="http://schemas.openxmlformats.org/drawingml/2006/main">
            <a:off x="4476750" y="2333625"/>
            <a:ext cx="272823" cy="23812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26B3E14-3393-4530-BE63-DD28F9B78CCC}"/>
              </a:ext>
            </a:extLst>
          </p:cNvPr>
          <p:cNvSpPr>
            <a:spLocks xmlns:a="http://schemas.openxmlformats.org/drawingml/2006/main" noGrp="1"/>
          </p:cNvSpPr>
          <p:nvPr/>
        </p:nvSpPr>
        <p:spPr>
          <a:xfrm xmlns:a="http://schemas.openxmlformats.org/drawingml/2006/main">
            <a:off x="9925050" y="2295525"/>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4,204</a:t>
            </a:r>
          </a:p>
        </p:txBody>
      </p:sp>
      <p:sp>
        <p:nvSpPr>
          <p:cNvPr id="22" name="">
            <a:extLst xmlns:a="http://schemas.openxmlformats.org/drawingml/2006/main">
              <a:ext uri="{FF2B5EF4-FFF2-40B4-BE49-F238E27FC236}">
                <a16:creationId xmlns:a16="http://schemas.microsoft.com/office/drawing/2014/main" id="{1ABFE62A-2647-4F33-BBDE-3F6E0F2F076D}"/>
              </a:ext>
            </a:extLst>
          </p:cNvPr>
          <p:cNvSpPr>
            <a:spLocks xmlns:a="http://schemas.openxmlformats.org/drawingml/2006/main" noGrp="1"/>
          </p:cNvSpPr>
          <p:nvPr/>
        </p:nvSpPr>
        <p:spPr>
          <a:xfrm xmlns:a="http://schemas.openxmlformats.org/drawingml/2006/main">
            <a:off x="3476625" y="2895600"/>
            <a:ext cx="85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VST3</a:t>
            </a:r>
          </a:p>
        </p:txBody>
      </p:sp>
      <p:sp>
        <p:nvSpPr>
          <p:cNvPr id="23" name="">
            <a:extLst xmlns:a="http://schemas.openxmlformats.org/drawingml/2006/main">
              <a:ext uri="{FF2B5EF4-FFF2-40B4-BE49-F238E27FC236}">
                <a16:creationId xmlns:a16="http://schemas.microsoft.com/office/drawing/2014/main" id="{70ED8CE6-E84B-4C32-AA1A-968082D8D089}"/>
              </a:ext>
            </a:extLst>
          </p:cNvPr>
          <p:cNvSpPr>
            <a:spLocks xmlns:a="http://schemas.openxmlformats.org/drawingml/2006/main" noGrp="1"/>
          </p:cNvSpPr>
          <p:nvPr/>
        </p:nvSpPr>
        <p:spPr>
          <a:xfrm xmlns:a="http://schemas.openxmlformats.org/drawingml/2006/main">
            <a:off x="4476750" y="2914650"/>
            <a:ext cx="5334000" cy="23812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E6551A7-4530-46D3-98CB-3A020DF00E33}"/>
              </a:ext>
            </a:extLst>
          </p:cNvPr>
          <p:cNvSpPr>
            <a:spLocks xmlns:a="http://schemas.openxmlformats.org/drawingml/2006/main" noGrp="1"/>
          </p:cNvSpPr>
          <p:nvPr/>
        </p:nvSpPr>
        <p:spPr>
          <a:xfrm xmlns:a="http://schemas.openxmlformats.org/drawingml/2006/main">
            <a:off x="4476750" y="2914650"/>
            <a:ext cx="271525" cy="23812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EFB73AF-60F6-45A1-8C4A-D52E7E1AC0B0}"/>
              </a:ext>
            </a:extLst>
          </p:cNvPr>
          <p:cNvSpPr>
            <a:spLocks xmlns:a="http://schemas.openxmlformats.org/drawingml/2006/main" noGrp="1"/>
          </p:cNvSpPr>
          <p:nvPr/>
        </p:nvSpPr>
        <p:spPr>
          <a:xfrm xmlns:a="http://schemas.openxmlformats.org/drawingml/2006/main">
            <a:off x="9925050" y="2876550"/>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4,184</a:t>
            </a:r>
          </a:p>
        </p:txBody>
      </p:sp>
      <p:sp>
        <p:nvSpPr>
          <p:cNvPr id="26" name="">
            <a:extLst xmlns:a="http://schemas.openxmlformats.org/drawingml/2006/main">
              <a:ext uri="{FF2B5EF4-FFF2-40B4-BE49-F238E27FC236}">
                <a16:creationId xmlns:a16="http://schemas.microsoft.com/office/drawing/2014/main" id="{83A06ACF-F8B7-4A16-A7E2-9762512D7930}"/>
              </a:ext>
            </a:extLst>
          </p:cNvPr>
          <p:cNvSpPr>
            <a:spLocks xmlns:a="http://schemas.openxmlformats.org/drawingml/2006/main" noGrp="1"/>
          </p:cNvSpPr>
          <p:nvPr/>
        </p:nvSpPr>
        <p:spPr>
          <a:xfrm xmlns:a="http://schemas.openxmlformats.org/drawingml/2006/main">
            <a:off x="3476625" y="3476625"/>
            <a:ext cx="85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ST3</a:t>
            </a:r>
          </a:p>
        </p:txBody>
      </p:sp>
      <p:sp>
        <p:nvSpPr>
          <p:cNvPr id="27" name="">
            <a:extLst xmlns:a="http://schemas.openxmlformats.org/drawingml/2006/main">
              <a:ext uri="{FF2B5EF4-FFF2-40B4-BE49-F238E27FC236}">
                <a16:creationId xmlns:a16="http://schemas.microsoft.com/office/drawing/2014/main" id="{FD54056F-A3AB-4D3C-BF62-1B27EB15F040}"/>
              </a:ext>
            </a:extLst>
          </p:cNvPr>
          <p:cNvSpPr>
            <a:spLocks xmlns:a="http://schemas.openxmlformats.org/drawingml/2006/main" noGrp="1"/>
          </p:cNvSpPr>
          <p:nvPr/>
        </p:nvSpPr>
        <p:spPr>
          <a:xfrm xmlns:a="http://schemas.openxmlformats.org/drawingml/2006/main">
            <a:off x="4476750" y="3495675"/>
            <a:ext cx="5334000" cy="23812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B4EF466-070B-4D95-B0C9-AFC57DCF43AE}"/>
              </a:ext>
            </a:extLst>
          </p:cNvPr>
          <p:cNvSpPr>
            <a:spLocks xmlns:a="http://schemas.openxmlformats.org/drawingml/2006/main" noGrp="1"/>
          </p:cNvSpPr>
          <p:nvPr/>
        </p:nvSpPr>
        <p:spPr>
          <a:xfrm xmlns:a="http://schemas.openxmlformats.org/drawingml/2006/main">
            <a:off x="4476750" y="3495675"/>
            <a:ext cx="982591" cy="23812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DD665C6-4097-4FA5-8576-5B576E519259}"/>
              </a:ext>
            </a:extLst>
          </p:cNvPr>
          <p:cNvSpPr>
            <a:spLocks xmlns:a="http://schemas.openxmlformats.org/drawingml/2006/main" noGrp="1"/>
          </p:cNvSpPr>
          <p:nvPr/>
        </p:nvSpPr>
        <p:spPr>
          <a:xfrm xmlns:a="http://schemas.openxmlformats.org/drawingml/2006/main">
            <a:off x="9925050" y="3457575"/>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15,141</a:t>
            </a:r>
          </a:p>
        </p:txBody>
      </p:sp>
      <p:sp>
        <p:nvSpPr>
          <p:cNvPr id="30" name="">
            <a:extLst xmlns:a="http://schemas.openxmlformats.org/drawingml/2006/main">
              <a:ext uri="{FF2B5EF4-FFF2-40B4-BE49-F238E27FC236}">
                <a16:creationId xmlns:a16="http://schemas.microsoft.com/office/drawing/2014/main" id="{04C22A8E-ADAC-4C42-86F5-70B4EE77B20F}"/>
              </a:ext>
            </a:extLst>
          </p:cNvPr>
          <p:cNvSpPr>
            <a:spLocks xmlns:a="http://schemas.openxmlformats.org/drawingml/2006/main" noGrp="1"/>
          </p:cNvSpPr>
          <p:nvPr/>
        </p:nvSpPr>
        <p:spPr>
          <a:xfrm xmlns:a="http://schemas.openxmlformats.org/drawingml/2006/main">
            <a:off x="3476625" y="4057650"/>
            <a:ext cx="85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MT3</a:t>
            </a:r>
          </a:p>
        </p:txBody>
      </p:sp>
      <p:sp>
        <p:nvSpPr>
          <p:cNvPr id="31" name="">
            <a:extLst xmlns:a="http://schemas.openxmlformats.org/drawingml/2006/main">
              <a:ext uri="{FF2B5EF4-FFF2-40B4-BE49-F238E27FC236}">
                <a16:creationId xmlns:a16="http://schemas.microsoft.com/office/drawing/2014/main" id="{F49583B9-C6BE-4578-8A3C-66B9604473BB}"/>
              </a:ext>
            </a:extLst>
          </p:cNvPr>
          <p:cNvSpPr>
            <a:spLocks xmlns:a="http://schemas.openxmlformats.org/drawingml/2006/main" noGrp="1"/>
          </p:cNvSpPr>
          <p:nvPr/>
        </p:nvSpPr>
        <p:spPr>
          <a:xfrm xmlns:a="http://schemas.openxmlformats.org/drawingml/2006/main">
            <a:off x="4476750" y="4076700"/>
            <a:ext cx="5334000" cy="23812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AD3615A-AC83-4E07-B1F7-C0EF9392F96F}"/>
              </a:ext>
            </a:extLst>
          </p:cNvPr>
          <p:cNvSpPr>
            <a:spLocks xmlns:a="http://schemas.openxmlformats.org/drawingml/2006/main" noGrp="1"/>
          </p:cNvSpPr>
          <p:nvPr/>
        </p:nvSpPr>
        <p:spPr>
          <a:xfrm xmlns:a="http://schemas.openxmlformats.org/drawingml/2006/main">
            <a:off x="4476750" y="4076700"/>
            <a:ext cx="5334000" cy="23812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B66AC57-CF0C-4110-AC31-6D74BBB7435A}"/>
              </a:ext>
            </a:extLst>
          </p:cNvPr>
          <p:cNvSpPr>
            <a:spLocks xmlns:a="http://schemas.openxmlformats.org/drawingml/2006/main" noGrp="1"/>
          </p:cNvSpPr>
          <p:nvPr/>
        </p:nvSpPr>
        <p:spPr>
          <a:xfrm xmlns:a="http://schemas.openxmlformats.org/drawingml/2006/main">
            <a:off x="9925050" y="4038600"/>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82,193</a:t>
            </a:r>
          </a:p>
        </p:txBody>
      </p:sp>
      <p:sp>
        <p:nvSpPr>
          <p:cNvPr id="34" name="">
            <a:extLst xmlns:a="http://schemas.openxmlformats.org/drawingml/2006/main">
              <a:ext uri="{FF2B5EF4-FFF2-40B4-BE49-F238E27FC236}">
                <a16:creationId xmlns:a16="http://schemas.microsoft.com/office/drawing/2014/main" id="{BB169330-FB68-4613-85AA-AABD845F3F3C}"/>
              </a:ext>
            </a:extLst>
          </p:cNvPr>
          <p:cNvSpPr>
            <a:spLocks xmlns:a="http://schemas.openxmlformats.org/drawingml/2006/main" noGrp="1"/>
          </p:cNvSpPr>
          <p:nvPr/>
        </p:nvSpPr>
        <p:spPr>
          <a:xfrm xmlns:a="http://schemas.openxmlformats.org/drawingml/2006/main">
            <a:off x="3476625" y="4638675"/>
            <a:ext cx="85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Non-clone</a:t>
            </a:r>
          </a:p>
        </p:txBody>
      </p:sp>
      <p:sp>
        <p:nvSpPr>
          <p:cNvPr id="35" name="">
            <a:extLst xmlns:a="http://schemas.openxmlformats.org/drawingml/2006/main">
              <a:ext uri="{FF2B5EF4-FFF2-40B4-BE49-F238E27FC236}">
                <a16:creationId xmlns:a16="http://schemas.microsoft.com/office/drawing/2014/main" id="{EF386AC8-DF4E-43DB-AB08-22C4B2264542}"/>
              </a:ext>
            </a:extLst>
          </p:cNvPr>
          <p:cNvSpPr>
            <a:spLocks xmlns:a="http://schemas.openxmlformats.org/drawingml/2006/main" noGrp="1"/>
          </p:cNvSpPr>
          <p:nvPr/>
        </p:nvSpPr>
        <p:spPr>
          <a:xfrm xmlns:a="http://schemas.openxmlformats.org/drawingml/2006/main">
            <a:off x="4476750" y="4657725"/>
            <a:ext cx="5334000" cy="23812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2A7E9C9-0993-4DC1-AD58-30D6A5B61C5D}"/>
              </a:ext>
            </a:extLst>
          </p:cNvPr>
          <p:cNvSpPr>
            <a:spLocks xmlns:a="http://schemas.openxmlformats.org/drawingml/2006/main" noGrp="1"/>
          </p:cNvSpPr>
          <p:nvPr/>
        </p:nvSpPr>
        <p:spPr>
          <a:xfrm xmlns:a="http://schemas.openxmlformats.org/drawingml/2006/main">
            <a:off x="4476750" y="4657725"/>
            <a:ext cx="129792" cy="238125"/>
          </a:xfrm>
          <a:prstGeom xmlns:a="http://schemas.openxmlformats.org/drawingml/2006/main" prst="rect">
            <a:avLst/>
          </a:prstGeom>
          <a:solidFill xmlns:a="http://schemas.openxmlformats.org/drawingml/2006/main">
            <a:srgbClr val="7AC94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3668ED9-CA21-4532-83FA-94F1FD3476DE}"/>
              </a:ext>
            </a:extLst>
          </p:cNvPr>
          <p:cNvSpPr>
            <a:spLocks xmlns:a="http://schemas.openxmlformats.org/drawingml/2006/main" noGrp="1"/>
          </p:cNvSpPr>
          <p:nvPr/>
        </p:nvSpPr>
        <p:spPr>
          <a:xfrm xmlns:a="http://schemas.openxmlformats.org/drawingml/2006/main">
            <a:off x="9925050" y="4619625"/>
            <a:ext cx="114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7AC943"/>
                </a:solidFill>
                <a:latin typeface="Aptos"/>
                <a:ea typeface="Aptos"/>
                <a:cs typeface="Aptos"/>
              </a:defRPr>
            </a:pPr>
            <a:r>
              <a:rPr sz="1350" b="1">
                <a:solidFill>
                  <a:srgbClr val="7AC943"/>
                </a:solidFill>
                <a:latin typeface="Aptos"/>
                <a:ea typeface="Aptos"/>
                <a:cs typeface="Aptos"/>
              </a:rPr>
              <a:t>2,000</a:t>
            </a:r>
          </a:p>
        </p:txBody>
      </p:sp>
      <p:sp>
        <p:nvSpPr>
          <p:cNvPr id="38" name="">
            <a:extLst xmlns:a="http://schemas.openxmlformats.org/drawingml/2006/main">
              <a:ext uri="{FF2B5EF4-FFF2-40B4-BE49-F238E27FC236}">
                <a16:creationId xmlns:a16="http://schemas.microsoft.com/office/drawing/2014/main" id="{7F51CBFC-C06F-4097-B7F8-2EA2505D77B5}"/>
              </a:ext>
            </a:extLst>
          </p:cNvPr>
          <p:cNvSpPr>
            <a:spLocks xmlns:a="http://schemas.openxmlformats.org/drawingml/2006/main" noGrp="1"/>
          </p:cNvSpPr>
          <p:nvPr/>
        </p:nvSpPr>
        <p:spPr>
          <a:xfrm xmlns:a="http://schemas.openxmlformats.org/drawingml/2006/main">
            <a:off x="619125" y="3381375"/>
            <a:ext cx="2524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666666"/>
                </a:solidFill>
                <a:latin typeface="Aptos"/>
                <a:ea typeface="Aptos"/>
                <a:cs typeface="Aptos"/>
              </a:defRPr>
            </a:pPr>
            <a:r>
              <a:rPr sz="1425" b="0">
                <a:solidFill>
                  <a:srgbClr val="666666"/>
                </a:solidFill>
                <a:latin typeface="Aptos"/>
                <a:ea typeface="Aptos"/>
                <a:cs typeface="Aptos"/>
              </a:rPr>
              <a:t>Why this matters: the overall number is dominated by the hardest MT3 group.</a:t>
            </a:r>
          </a:p>
        </p:txBody>
      </p:sp>
    </p:spTree>
    <p:extLst>
      <p:ext uri="{BB962C8B-B14F-4D97-AF65-F5344CB8AC3E}">
        <p14:creationId xmlns:p14="http://schemas.microsoft.com/office/powerpoint/2010/main" val="25855141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V1 smoke — Easy groups passed; MT3 collapsed</a:t>
            </a:r>
          </a:p>
        </p:txBody>
      </p:sp>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0a90cf531c254542"/>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5565430-1BD7-4943-9DCD-A12B251228E1}"/>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E4002B"/>
                </a:solidFill>
                <a:latin typeface="Aptos"/>
                <a:ea typeface="Aptos"/>
                <a:cs typeface="Aptos"/>
              </a:defRPr>
            </a:pPr>
            <a:r>
              <a:rPr sz="1050" b="1">
                <a:solidFill>
                  <a:srgbClr val="E4002B"/>
                </a:solidFill>
                <a:latin typeface="Aptos"/>
                <a:ea typeface="Aptos"/>
                <a:cs typeface="Aptos"/>
              </a:rPr>
              <a:t>V1: BCB</a:t>
            </a:r>
          </a:p>
        </p:txBody>
      </p:sp>
      <p:sp>
        <p:nvSpPr>
          <p:cNvPr id="8" name="">
            <a:extLst xmlns:a="http://schemas.openxmlformats.org/drawingml/2006/main">
              <a:ext uri="{FF2B5EF4-FFF2-40B4-BE49-F238E27FC236}">
                <a16:creationId xmlns:a16="http://schemas.microsoft.com/office/drawing/2014/main" id="{8FD59C65-1CED-4E54-A625-2B80C453F0B7}"/>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140 pairs · detection and type correctness</a:t>
            </a:r>
          </a:p>
        </p:txBody>
      </p:sp>
      <p:sp>
        <p:nvSpPr>
          <p:cNvPr id="9" name="">
            <a:extLst xmlns:a="http://schemas.openxmlformats.org/drawingml/2006/main">
              <a:ext uri="{FF2B5EF4-FFF2-40B4-BE49-F238E27FC236}">
                <a16:creationId xmlns:a16="http://schemas.microsoft.com/office/drawing/2014/main" id="{D29149E1-C16B-48E2-9CCB-83B1DB0F3A1D}"/>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6B9C2F96-8E06-4078-96B7-B82CD908A343}"/>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4 / 24</a:t>
            </a:r>
          </a:p>
        </p:txBody>
      </p:sp>
      <p:graphicFrame>
        <p:nvGraphicFramePr>
          <p:cNvPr id="23" name="Chart"/>
          <p:cNvGraphicFramePr/>
          <p:nvPr/>
        </p:nvGraphicFramePr>
        <p:xfrm>
          <a:off xmlns:a="http://schemas.openxmlformats.org/drawingml/2006/main" x="571500" y="1571625"/>
          <a:ext xmlns:a="http://schemas.openxmlformats.org/drawingml/2006/main" cx="8382000" cy="3810000"/>
        </p:xfrm>
        <a:graphic xmlns:a="http://schemas.openxmlformats.org/drawingml/2006/main">
          <a:graphicData uri="http://schemas.openxmlformats.org/drawingml/2006/chart">
            <c:chart xmlns:r="http://schemas.openxmlformats.org/officeDocument/2006/relationships" xmlns:c="http://schemas.openxmlformats.org/drawingml/2006/chart" r:id="R47e5dca820434ec7"/>
          </a:graphicData>
        </a:graphic>
      </p:graphicFrame>
      <p:sp>
        <p:nvSpPr>
          <p:cNvPr id="12" name="">
            <a:extLst xmlns:a="http://schemas.openxmlformats.org/drawingml/2006/main">
              <a:ext uri="{FF2B5EF4-FFF2-40B4-BE49-F238E27FC236}">
                <a16:creationId xmlns:a16="http://schemas.microsoft.com/office/drawing/2014/main" id="{1D5B6EF1-8AFA-4961-9160-1C6CFDE95C1D}"/>
              </a:ext>
            </a:extLst>
          </p:cNvPr>
          <p:cNvSpPr>
            <a:spLocks xmlns:a="http://schemas.openxmlformats.org/drawingml/2006/main" noGrp="1"/>
          </p:cNvSpPr>
          <p:nvPr/>
        </p:nvSpPr>
        <p:spPr>
          <a:xfrm xmlns:a="http://schemas.openxmlformats.org/drawingml/2006/main">
            <a:off x="9096375" y="2028825"/>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E4002B"/>
                </a:solidFill>
                <a:latin typeface="Aptos Display"/>
                <a:ea typeface="Aptos Display"/>
                <a:cs typeface="Aptos Display"/>
              </a:defRPr>
            </a:pPr>
            <a:r>
              <a:rPr sz="3600" b="1">
                <a:solidFill>
                  <a:srgbClr val="E4002B"/>
                </a:solidFill>
                <a:latin typeface="Aptos Display"/>
                <a:ea typeface="Aptos Display"/>
                <a:cs typeface="Aptos Display"/>
              </a:rPr>
              <a:t>22 / 140</a:t>
            </a:r>
          </a:p>
        </p:txBody>
      </p:sp>
      <p:sp>
        <p:nvSpPr>
          <p:cNvPr id="13" name="">
            <a:extLst xmlns:a="http://schemas.openxmlformats.org/drawingml/2006/main">
              <a:ext uri="{FF2B5EF4-FFF2-40B4-BE49-F238E27FC236}">
                <a16:creationId xmlns:a16="http://schemas.microsoft.com/office/drawing/2014/main" id="{68A93060-2515-4264-9C5D-3C2DF3AA91B4}"/>
              </a:ext>
            </a:extLst>
          </p:cNvPr>
          <p:cNvSpPr>
            <a:spLocks xmlns:a="http://schemas.openxmlformats.org/drawingml/2006/main" noGrp="1"/>
          </p:cNvSpPr>
          <p:nvPr/>
        </p:nvSpPr>
        <p:spPr>
          <a:xfrm xmlns:a="http://schemas.openxmlformats.org/drawingml/2006/main">
            <a:off x="9096375" y="26955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full semantic path</a:t>
            </a:r>
          </a:p>
        </p:txBody>
      </p:sp>
      <p:sp>
        <p:nvSpPr>
          <p:cNvPr id="14" name="">
            <a:extLst xmlns:a="http://schemas.openxmlformats.org/drawingml/2006/main">
              <a:ext uri="{FF2B5EF4-FFF2-40B4-BE49-F238E27FC236}">
                <a16:creationId xmlns:a16="http://schemas.microsoft.com/office/drawing/2014/main" id="{0B1D1A1C-444E-45E1-881B-502FB4745BEF}"/>
              </a:ext>
            </a:extLst>
          </p:cNvPr>
          <p:cNvSpPr>
            <a:spLocks xmlns:a="http://schemas.openxmlformats.org/drawingml/2006/main" noGrp="1"/>
          </p:cNvSpPr>
          <p:nvPr/>
        </p:nvSpPr>
        <p:spPr>
          <a:xfrm xmlns:a="http://schemas.openxmlformats.org/drawingml/2006/main">
            <a:off x="9096375" y="302895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118 pairs fell back</a:t>
            </a:r>
          </a:p>
        </p:txBody>
      </p:sp>
      <p:sp>
        <p:nvSpPr>
          <p:cNvPr id="15" name="">
            <a:extLst xmlns:a="http://schemas.openxmlformats.org/drawingml/2006/main">
              <a:ext uri="{FF2B5EF4-FFF2-40B4-BE49-F238E27FC236}">
                <a16:creationId xmlns:a16="http://schemas.microsoft.com/office/drawing/2014/main" id="{6E3D7F60-9006-40B6-8F46-E417D96C11B8}"/>
              </a:ext>
            </a:extLst>
          </p:cNvPr>
          <p:cNvSpPr>
            <a:spLocks xmlns:a="http://schemas.openxmlformats.org/drawingml/2006/main" noGrp="1"/>
          </p:cNvSpPr>
          <p:nvPr/>
        </p:nvSpPr>
        <p:spPr>
          <a:xfrm xmlns:a="http://schemas.openxmlformats.org/drawingml/2006/main">
            <a:off x="9382125" y="3733800"/>
            <a:ext cx="161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1">
                <a:solidFill>
                  <a:srgbClr val="666666"/>
                </a:solidFill>
                <a:latin typeface="Aptos"/>
                <a:ea typeface="Aptos"/>
                <a:cs typeface="Aptos"/>
              </a:defRPr>
            </a:pPr>
            <a:r>
              <a:rPr sz="1125" b="1">
                <a:solidFill>
                  <a:srgbClr val="666666"/>
                </a:solidFill>
                <a:latin typeface="Aptos"/>
                <a:ea typeface="Aptos"/>
                <a:cs typeface="Aptos"/>
              </a:rPr>
              <a:t>Signal</a:t>
            </a:r>
          </a:p>
        </p:txBody>
      </p:sp>
      <p:sp>
        <p:nvSpPr>
          <p:cNvPr id="16" name="">
            <a:extLst xmlns:a="http://schemas.openxmlformats.org/drawingml/2006/main">
              <a:ext uri="{FF2B5EF4-FFF2-40B4-BE49-F238E27FC236}">
                <a16:creationId xmlns:a16="http://schemas.microsoft.com/office/drawing/2014/main" id="{BFFEFE70-0587-4626-8C5B-39233C355780}"/>
              </a:ext>
            </a:extLst>
          </p:cNvPr>
          <p:cNvSpPr>
            <a:spLocks xmlns:a="http://schemas.openxmlformats.org/drawingml/2006/main" noGrp="1"/>
          </p:cNvSpPr>
          <p:nvPr/>
        </p:nvSpPr>
        <p:spPr>
          <a:xfrm xmlns:a="http://schemas.openxmlformats.org/drawingml/2006/main">
            <a:off x="9096375" y="4038600"/>
            <a:ext cx="2238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E4002B"/>
                </a:solidFill>
                <a:latin typeface="Aptos"/>
                <a:ea typeface="Aptos"/>
                <a:cs typeface="Aptos"/>
              </a:defRPr>
            </a:pPr>
            <a:r>
              <a:rPr sz="1500" b="1">
                <a:solidFill>
                  <a:srgbClr val="E4002B"/>
                </a:solidFill>
                <a:latin typeface="Aptos"/>
                <a:ea typeface="Aptos"/>
                <a:cs typeface="Aptos"/>
              </a:rPr>
              <a:t>The test already showed a path-validity problem.</a:t>
            </a:r>
          </a:p>
        </p:txBody>
      </p:sp>
    </p:spTree>
    <p:extLst>
      <p:ext uri="{BB962C8B-B14F-4D97-AF65-F5344CB8AC3E}">
        <p14:creationId xmlns:p14="http://schemas.microsoft.com/office/powerpoint/2010/main" val="25855141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V1 full — Complete result by BCB group</a:t>
            </a:r>
          </a:p>
        </p:txBody>
      </p:sp>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81b0c112ce394202"/>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D06813A-612D-42C1-B388-84F8D411C584}"/>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E4002B"/>
                </a:solidFill>
                <a:latin typeface="Aptos"/>
                <a:ea typeface="Aptos"/>
                <a:cs typeface="Aptos"/>
              </a:defRPr>
            </a:pPr>
            <a:r>
              <a:rPr sz="1050" b="1">
                <a:solidFill>
                  <a:srgbClr val="E4002B"/>
                </a:solidFill>
                <a:latin typeface="Aptos"/>
                <a:ea typeface="Aptos"/>
                <a:cs typeface="Aptos"/>
              </a:rPr>
              <a:t>V1: BCB</a:t>
            </a:r>
          </a:p>
        </p:txBody>
      </p:sp>
      <p:sp>
        <p:nvSpPr>
          <p:cNvPr id="8" name="">
            <a:extLst xmlns:a="http://schemas.openxmlformats.org/drawingml/2006/main">
              <a:ext uri="{FF2B5EF4-FFF2-40B4-BE49-F238E27FC236}">
                <a16:creationId xmlns:a16="http://schemas.microsoft.com/office/drawing/2014/main" id="{BB878334-21C8-468D-8AE7-914DFB52183E}"/>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Detection stayed high except MT3; type errors grew in Type-3</a:t>
            </a:r>
          </a:p>
        </p:txBody>
      </p:sp>
      <p:sp>
        <p:nvSpPr>
          <p:cNvPr id="9" name="">
            <a:extLst xmlns:a="http://schemas.openxmlformats.org/drawingml/2006/main">
              <a:ext uri="{FF2B5EF4-FFF2-40B4-BE49-F238E27FC236}">
                <a16:creationId xmlns:a16="http://schemas.microsoft.com/office/drawing/2014/main" id="{AE67698A-73AB-4761-ACE2-F2B0CD22FB5B}"/>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D513D332-DE62-4BFA-A4A2-03C9AB5C2AE9}"/>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5 / 24</a:t>
            </a:r>
          </a:p>
        </p:txBody>
      </p:sp>
      <p:graphicFrame>
        <p:nvGraphicFramePr>
          <p:cNvPr id="23" name="Chart"/>
          <p:cNvGraphicFramePr/>
          <p:nvPr/>
        </p:nvGraphicFramePr>
        <p:xfrm>
          <a:off xmlns:a="http://schemas.openxmlformats.org/drawingml/2006/main" x="619125" y="1600200"/>
          <a:ext xmlns:a="http://schemas.openxmlformats.org/drawingml/2006/main" cx="9239250" cy="3905250"/>
        </p:xfrm>
        <a:graphic xmlns:a="http://schemas.openxmlformats.org/drawingml/2006/main">
          <a:graphicData uri="http://schemas.openxmlformats.org/drawingml/2006/chart">
            <c:chart xmlns:r="http://schemas.openxmlformats.org/officeDocument/2006/relationships" xmlns:c="http://schemas.openxmlformats.org/drawingml/2006/chart" r:id="R6a550d9f3d9747fd"/>
          </a:graphicData>
        </a:graphic>
      </p:graphicFrame>
      <p:sp>
        <p:nvSpPr>
          <p:cNvPr id="12" name="">
            <a:extLst xmlns:a="http://schemas.openxmlformats.org/drawingml/2006/main">
              <a:ext uri="{FF2B5EF4-FFF2-40B4-BE49-F238E27FC236}">
                <a16:creationId xmlns:a16="http://schemas.microsoft.com/office/drawing/2014/main" id="{ECC998F1-5E0F-4B17-A60B-441C5E690ECF}"/>
              </a:ext>
            </a:extLst>
          </p:cNvPr>
          <p:cNvSpPr>
            <a:spLocks xmlns:a="http://schemas.openxmlformats.org/drawingml/2006/main" noGrp="1"/>
          </p:cNvSpPr>
          <p:nvPr/>
        </p:nvSpPr>
        <p:spPr>
          <a:xfrm xmlns:a="http://schemas.openxmlformats.org/drawingml/2006/main">
            <a:off x="10001250" y="192405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1">
                <a:solidFill>
                  <a:srgbClr val="666666"/>
                </a:solidFill>
                <a:latin typeface="Aptos"/>
                <a:ea typeface="Aptos"/>
                <a:cs typeface="Aptos"/>
              </a:defRPr>
            </a:pPr>
            <a:r>
              <a:rPr sz="1125" b="1">
                <a:solidFill>
                  <a:srgbClr val="666666"/>
                </a:solidFill>
                <a:latin typeface="Aptos"/>
                <a:ea typeface="Aptos"/>
                <a:cs typeface="Aptos"/>
              </a:rPr>
              <a:t>Key read</a:t>
            </a:r>
          </a:p>
        </p:txBody>
      </p:sp>
      <p:sp>
        <p:nvSpPr>
          <p:cNvPr id="13" name="">
            <a:extLst xmlns:a="http://schemas.openxmlformats.org/drawingml/2006/main">
              <a:ext uri="{FF2B5EF4-FFF2-40B4-BE49-F238E27FC236}">
                <a16:creationId xmlns:a16="http://schemas.microsoft.com/office/drawing/2014/main" id="{35BE5484-EC74-47B2-9442-46895F5E31FF}"/>
              </a:ext>
            </a:extLst>
          </p:cNvPr>
          <p:cNvSpPr>
            <a:spLocks xmlns:a="http://schemas.openxmlformats.org/drawingml/2006/main" noGrp="1"/>
          </p:cNvSpPr>
          <p:nvPr/>
        </p:nvSpPr>
        <p:spPr>
          <a:xfrm xmlns:a="http://schemas.openxmlformats.org/drawingml/2006/main">
            <a:off x="9858375" y="220980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E4002B"/>
                </a:solidFill>
                <a:latin typeface="Aptos Display"/>
                <a:ea typeface="Aptos Display"/>
                <a:cs typeface="Aptos Display"/>
              </a:defRPr>
            </a:pPr>
            <a:r>
              <a:rPr sz="3600" b="1">
                <a:solidFill>
                  <a:srgbClr val="E4002B"/>
                </a:solidFill>
                <a:latin typeface="Aptos Display"/>
                <a:ea typeface="Aptos Display"/>
                <a:cs typeface="Aptos Display"/>
              </a:rPr>
              <a:t>29.7%</a:t>
            </a:r>
          </a:p>
        </p:txBody>
      </p:sp>
      <p:sp>
        <p:nvSpPr>
          <p:cNvPr id="14" name="">
            <a:extLst xmlns:a="http://schemas.openxmlformats.org/drawingml/2006/main">
              <a:ext uri="{FF2B5EF4-FFF2-40B4-BE49-F238E27FC236}">
                <a16:creationId xmlns:a16="http://schemas.microsoft.com/office/drawing/2014/main" id="{C39CF98F-8855-4A5D-A947-CA14F315F996}"/>
              </a:ext>
            </a:extLst>
          </p:cNvPr>
          <p:cNvSpPr>
            <a:spLocks xmlns:a="http://schemas.openxmlformats.org/drawingml/2006/main" noGrp="1"/>
          </p:cNvSpPr>
          <p:nvPr/>
        </p:nvSpPr>
        <p:spPr>
          <a:xfrm xmlns:a="http://schemas.openxmlformats.org/drawingml/2006/main">
            <a:off x="9858375" y="28765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MT3 detected</a:t>
            </a:r>
          </a:p>
        </p:txBody>
      </p:sp>
      <p:sp>
        <p:nvSpPr>
          <p:cNvPr id="15" name="">
            <a:extLst xmlns:a="http://schemas.openxmlformats.org/drawingml/2006/main">
              <a:ext uri="{FF2B5EF4-FFF2-40B4-BE49-F238E27FC236}">
                <a16:creationId xmlns:a16="http://schemas.microsoft.com/office/drawing/2014/main" id="{6D6B1381-4CB8-4478-BBC5-A86F8DCB7915}"/>
              </a:ext>
            </a:extLst>
          </p:cNvPr>
          <p:cNvSpPr>
            <a:spLocks xmlns:a="http://schemas.openxmlformats.org/drawingml/2006/main" noGrp="1"/>
          </p:cNvSpPr>
          <p:nvPr/>
        </p:nvSpPr>
        <p:spPr>
          <a:xfrm xmlns:a="http://schemas.openxmlformats.org/drawingml/2006/main">
            <a:off x="9858375" y="320992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82,193 pairs</a:t>
            </a:r>
          </a:p>
        </p:txBody>
      </p:sp>
      <p:sp>
        <p:nvSpPr>
          <p:cNvPr id="16" name="">
            <a:extLst xmlns:a="http://schemas.openxmlformats.org/drawingml/2006/main">
              <a:ext uri="{FF2B5EF4-FFF2-40B4-BE49-F238E27FC236}">
                <a16:creationId xmlns:a16="http://schemas.microsoft.com/office/drawing/2014/main" id="{EA168276-4AAF-4E55-ADBC-570277A12C2E}"/>
              </a:ext>
            </a:extLst>
          </p:cNvPr>
          <p:cNvSpPr>
            <a:spLocks xmlns:a="http://schemas.openxmlformats.org/drawingml/2006/main" noGrp="1"/>
          </p:cNvSpPr>
          <p:nvPr/>
        </p:nvSpPr>
        <p:spPr>
          <a:xfrm xmlns:a="http://schemas.openxmlformats.org/drawingml/2006/main">
            <a:off x="9810750" y="3905250"/>
            <a:ext cx="16668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0">
                <a:solidFill>
                  <a:srgbClr val="232323"/>
                </a:solidFill>
                <a:latin typeface="Aptos"/>
                <a:ea typeface="Aptos"/>
                <a:cs typeface="Aptos"/>
              </a:defRPr>
            </a:pPr>
            <a:r>
              <a:rPr sz="1275" b="0">
                <a:solidFill>
                  <a:srgbClr val="232323"/>
                </a:solidFill>
                <a:latin typeface="Aptos"/>
                <a:ea typeface="Aptos"/>
                <a:cs typeface="Aptos"/>
              </a:rPr>
              <a:t>VST3 type: 60.9%</a:t>
            </a:r>
          </a:p>
          <a:p xmlns:a="http://schemas.openxmlformats.org/drawingml/2006/main">
            <a:pPr algn="ctr">
              <a:defRPr sz="1275" b="0">
                <a:solidFill>
                  <a:srgbClr val="232323"/>
                </a:solidFill>
                <a:latin typeface="Aptos"/>
                <a:ea typeface="Aptos"/>
                <a:cs typeface="Aptos"/>
              </a:defRPr>
            </a:pPr>
            <a:r>
              <a:rPr sz="1275" b="0">
                <a:solidFill>
                  <a:srgbClr val="232323"/>
                </a:solidFill>
                <a:latin typeface="Aptos"/>
                <a:ea typeface="Aptos"/>
                <a:cs typeface="Aptos"/>
              </a:rPr>
              <a:t>ST3 type: 85.7%</a:t>
            </a:r>
          </a:p>
          <a:p xmlns:a="http://schemas.openxmlformats.org/drawingml/2006/main">
            <a:pPr algn="ctr">
              <a:defRPr sz="1275" b="0">
                <a:solidFill>
                  <a:srgbClr val="232323"/>
                </a:solidFill>
                <a:latin typeface="Aptos"/>
                <a:ea typeface="Aptos"/>
                <a:cs typeface="Aptos"/>
              </a:defRPr>
            </a:pPr>
            <a:r>
              <a:rPr sz="1275" b="0">
                <a:solidFill>
                  <a:srgbClr val="232323"/>
                </a:solidFill>
                <a:latin typeface="Aptos"/>
                <a:ea typeface="Aptos"/>
                <a:cs typeface="Aptos"/>
              </a:rPr>
              <a:t>Negative rejection: 99.85%</a:t>
            </a:r>
          </a:p>
        </p:txBody>
      </p:sp>
    </p:spTree>
    <p:extLst>
      <p:ext uri="{BB962C8B-B14F-4D97-AF65-F5344CB8AC3E}">
        <p14:creationId xmlns:p14="http://schemas.microsoft.com/office/powerpoint/2010/main" val="25855141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V1 full — Runtime varied sharply by group</a:t>
            </a:r>
          </a:p>
        </p:txBody>
      </p:sp>
      <p:pic>
        <p:nvPicPr>
          <p:cNvPr id="60" name="Picture 3"/>
          <p:cNvPicPr>
            <a:picLocks xmlns:a="http://schemas.openxmlformats.org/drawingml/2006/main" noChangeAspect="1"/>
          </p:cNvPicPr>
          <p:nvPr/>
        </p:nvPicPr>
        <p:blipFill>
          <a:blip xmlns:r="http://schemas.openxmlformats.org/officeDocument/2006/relationships" xmlns:a="http://schemas.openxmlformats.org/drawingml/2006/main" r:embed="Rea6e50ffd0ec423d"/>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3FA3E01-4606-4002-ACB1-B283C76AE34E}"/>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E4002B"/>
                </a:solidFill>
                <a:latin typeface="Aptos"/>
                <a:ea typeface="Aptos"/>
                <a:cs typeface="Aptos"/>
              </a:defRPr>
            </a:pPr>
            <a:r>
              <a:rPr sz="1050" b="1">
                <a:solidFill>
                  <a:srgbClr val="E4002B"/>
                </a:solidFill>
                <a:latin typeface="Aptos"/>
                <a:ea typeface="Aptos"/>
                <a:cs typeface="Aptos"/>
              </a:rPr>
              <a:t>V1: BCB</a:t>
            </a:r>
          </a:p>
        </p:txBody>
      </p:sp>
      <p:sp>
        <p:nvSpPr>
          <p:cNvPr id="8" name="">
            <a:extLst xmlns:a="http://schemas.openxmlformats.org/drawingml/2006/main">
              <a:ext uri="{FF2B5EF4-FFF2-40B4-BE49-F238E27FC236}">
                <a16:creationId xmlns:a16="http://schemas.microsoft.com/office/drawing/2014/main" id="{5ABCF76E-BF24-42A3-9D79-F91D9AB9DA47}"/>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Average seconds per pair; long tails reached about 50 s</a:t>
            </a:r>
          </a:p>
        </p:txBody>
      </p:sp>
      <p:sp>
        <p:nvSpPr>
          <p:cNvPr id="9" name="">
            <a:extLst xmlns:a="http://schemas.openxmlformats.org/drawingml/2006/main">
              <a:ext uri="{FF2B5EF4-FFF2-40B4-BE49-F238E27FC236}">
                <a16:creationId xmlns:a16="http://schemas.microsoft.com/office/drawing/2014/main" id="{580786A7-F904-44BC-8AB3-A424D9A91BB6}"/>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545AAA02-84A3-44CA-BC10-302ED88C62FA}"/>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6 / 24</a:t>
            </a:r>
          </a:p>
        </p:txBody>
      </p:sp>
      <p:sp>
        <p:nvSpPr>
          <p:cNvPr id="11" name="">
            <a:extLst xmlns:a="http://schemas.openxmlformats.org/drawingml/2006/main">
              <a:ext uri="{FF2B5EF4-FFF2-40B4-BE49-F238E27FC236}">
                <a16:creationId xmlns:a16="http://schemas.microsoft.com/office/drawing/2014/main" id="{713D3D75-90BD-4C66-84A7-CDBB9A06C6EF}"/>
              </a:ext>
            </a:extLst>
          </p:cNvPr>
          <p:cNvSpPr>
            <a:spLocks xmlns:a="http://schemas.openxmlformats.org/drawingml/2006/main" noGrp="1"/>
          </p:cNvSpPr>
          <p:nvPr/>
        </p:nvSpPr>
        <p:spPr>
          <a:xfrm xmlns:a="http://schemas.openxmlformats.org/drawingml/2006/main">
            <a:off x="809625" y="17240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T1</a:t>
            </a:r>
          </a:p>
        </p:txBody>
      </p:sp>
      <p:sp>
        <p:nvSpPr>
          <p:cNvPr id="12" name="">
            <a:extLst xmlns:a="http://schemas.openxmlformats.org/drawingml/2006/main">
              <a:ext uri="{FF2B5EF4-FFF2-40B4-BE49-F238E27FC236}">
                <a16:creationId xmlns:a16="http://schemas.microsoft.com/office/drawing/2014/main" id="{B2550038-3431-4068-8B2E-31E4B545CA91}"/>
              </a:ext>
            </a:extLst>
          </p:cNvPr>
          <p:cNvSpPr>
            <a:spLocks xmlns:a="http://schemas.openxmlformats.org/drawingml/2006/main" noGrp="1"/>
          </p:cNvSpPr>
          <p:nvPr/>
        </p:nvSpPr>
        <p:spPr>
          <a:xfrm xmlns:a="http://schemas.openxmlformats.org/drawingml/2006/main">
            <a:off x="2143125" y="1743075"/>
            <a:ext cx="5000625" cy="2286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C6DAE51-F0CB-469B-BF44-128EEA0F0815}"/>
              </a:ext>
            </a:extLst>
          </p:cNvPr>
          <p:cNvSpPr>
            <a:spLocks xmlns:a="http://schemas.openxmlformats.org/drawingml/2006/main" noGrp="1"/>
          </p:cNvSpPr>
          <p:nvPr/>
        </p:nvSpPr>
        <p:spPr>
          <a:xfrm xmlns:a="http://schemas.openxmlformats.org/drawingml/2006/main">
            <a:off x="2143125" y="1743075"/>
            <a:ext cx="4865608" cy="2286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5023A34-36E5-4BBD-9BDF-887A7DEE6634}"/>
              </a:ext>
            </a:extLst>
          </p:cNvPr>
          <p:cNvSpPr>
            <a:spLocks xmlns:a="http://schemas.openxmlformats.org/drawingml/2006/main" noGrp="1"/>
          </p:cNvSpPr>
          <p:nvPr/>
        </p:nvSpPr>
        <p:spPr>
          <a:xfrm xmlns:a="http://schemas.openxmlformats.org/drawingml/2006/main">
            <a:off x="7258050" y="1704975"/>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20.4 s</a:t>
            </a:r>
          </a:p>
        </p:txBody>
      </p:sp>
      <p:sp>
        <p:nvSpPr>
          <p:cNvPr id="15" name="">
            <a:extLst xmlns:a="http://schemas.openxmlformats.org/drawingml/2006/main">
              <a:ext uri="{FF2B5EF4-FFF2-40B4-BE49-F238E27FC236}">
                <a16:creationId xmlns:a16="http://schemas.microsoft.com/office/drawing/2014/main" id="{3704AFCA-8BB7-4CD9-B986-EE6DA3E1EAAB}"/>
              </a:ext>
            </a:extLst>
          </p:cNvPr>
          <p:cNvSpPr>
            <a:spLocks xmlns:a="http://schemas.openxmlformats.org/drawingml/2006/main" noGrp="1"/>
          </p:cNvSpPr>
          <p:nvPr/>
        </p:nvSpPr>
        <p:spPr>
          <a:xfrm xmlns:a="http://schemas.openxmlformats.org/drawingml/2006/main">
            <a:off x="809625" y="2266950"/>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T2</a:t>
            </a:r>
          </a:p>
        </p:txBody>
      </p:sp>
      <p:sp>
        <p:nvSpPr>
          <p:cNvPr id="16" name="">
            <a:extLst xmlns:a="http://schemas.openxmlformats.org/drawingml/2006/main">
              <a:ext uri="{FF2B5EF4-FFF2-40B4-BE49-F238E27FC236}">
                <a16:creationId xmlns:a16="http://schemas.microsoft.com/office/drawing/2014/main" id="{2EBF1B1F-82B3-4A72-BBBA-2F79D57F5412}"/>
              </a:ext>
            </a:extLst>
          </p:cNvPr>
          <p:cNvSpPr>
            <a:spLocks xmlns:a="http://schemas.openxmlformats.org/drawingml/2006/main" noGrp="1"/>
          </p:cNvSpPr>
          <p:nvPr/>
        </p:nvSpPr>
        <p:spPr>
          <a:xfrm xmlns:a="http://schemas.openxmlformats.org/drawingml/2006/main">
            <a:off x="2143125" y="2286000"/>
            <a:ext cx="5000625" cy="2286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3318128-112D-459D-930B-6BDB1D15F1C7}"/>
              </a:ext>
            </a:extLst>
          </p:cNvPr>
          <p:cNvSpPr>
            <a:spLocks xmlns:a="http://schemas.openxmlformats.org/drawingml/2006/main" noGrp="1"/>
          </p:cNvSpPr>
          <p:nvPr/>
        </p:nvSpPr>
        <p:spPr>
          <a:xfrm xmlns:a="http://schemas.openxmlformats.org/drawingml/2006/main">
            <a:off x="2143125" y="2286000"/>
            <a:ext cx="953691" cy="2286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87E2C32-86F8-4E75-BB84-DAF836E67642}"/>
              </a:ext>
            </a:extLst>
          </p:cNvPr>
          <p:cNvSpPr>
            <a:spLocks xmlns:a="http://schemas.openxmlformats.org/drawingml/2006/main" noGrp="1"/>
          </p:cNvSpPr>
          <p:nvPr/>
        </p:nvSpPr>
        <p:spPr>
          <a:xfrm xmlns:a="http://schemas.openxmlformats.org/drawingml/2006/main">
            <a:off x="7258050" y="22479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4.0 s</a:t>
            </a:r>
          </a:p>
        </p:txBody>
      </p:sp>
      <p:sp>
        <p:nvSpPr>
          <p:cNvPr id="19" name="">
            <a:extLst xmlns:a="http://schemas.openxmlformats.org/drawingml/2006/main">
              <a:ext uri="{FF2B5EF4-FFF2-40B4-BE49-F238E27FC236}">
                <a16:creationId xmlns:a16="http://schemas.microsoft.com/office/drawing/2014/main" id="{90ADFB66-1173-4087-A303-5DEA87AC19C6}"/>
              </a:ext>
            </a:extLst>
          </p:cNvPr>
          <p:cNvSpPr>
            <a:spLocks xmlns:a="http://schemas.openxmlformats.org/drawingml/2006/main" noGrp="1"/>
          </p:cNvSpPr>
          <p:nvPr/>
        </p:nvSpPr>
        <p:spPr>
          <a:xfrm xmlns:a="http://schemas.openxmlformats.org/drawingml/2006/main">
            <a:off x="809625" y="280987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VST3</a:t>
            </a:r>
          </a:p>
        </p:txBody>
      </p:sp>
      <p:sp>
        <p:nvSpPr>
          <p:cNvPr id="20" name="">
            <a:extLst xmlns:a="http://schemas.openxmlformats.org/drawingml/2006/main">
              <a:ext uri="{FF2B5EF4-FFF2-40B4-BE49-F238E27FC236}">
                <a16:creationId xmlns:a16="http://schemas.microsoft.com/office/drawing/2014/main" id="{B148A237-A8B2-4687-86AB-C2AF82F6C0F8}"/>
              </a:ext>
            </a:extLst>
          </p:cNvPr>
          <p:cNvSpPr>
            <a:spLocks xmlns:a="http://schemas.openxmlformats.org/drawingml/2006/main" noGrp="1"/>
          </p:cNvSpPr>
          <p:nvPr/>
        </p:nvSpPr>
        <p:spPr>
          <a:xfrm xmlns:a="http://schemas.openxmlformats.org/drawingml/2006/main">
            <a:off x="2143125" y="2828925"/>
            <a:ext cx="5000625" cy="2286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343456C-C0CB-4239-A248-FFB3C419C1B4}"/>
              </a:ext>
            </a:extLst>
          </p:cNvPr>
          <p:cNvSpPr>
            <a:spLocks xmlns:a="http://schemas.openxmlformats.org/drawingml/2006/main" noGrp="1"/>
          </p:cNvSpPr>
          <p:nvPr/>
        </p:nvSpPr>
        <p:spPr>
          <a:xfrm xmlns:a="http://schemas.openxmlformats.org/drawingml/2006/main">
            <a:off x="2143125" y="2828925"/>
            <a:ext cx="3278505" cy="2286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AF2698E-B425-4BFE-AFC0-C05B60929E23}"/>
              </a:ext>
            </a:extLst>
          </p:cNvPr>
          <p:cNvSpPr>
            <a:spLocks xmlns:a="http://schemas.openxmlformats.org/drawingml/2006/main" noGrp="1"/>
          </p:cNvSpPr>
          <p:nvPr/>
        </p:nvSpPr>
        <p:spPr>
          <a:xfrm xmlns:a="http://schemas.openxmlformats.org/drawingml/2006/main">
            <a:off x="7258050" y="2790825"/>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13.8 s</a:t>
            </a:r>
          </a:p>
        </p:txBody>
      </p:sp>
      <p:sp>
        <p:nvSpPr>
          <p:cNvPr id="23" name="">
            <a:extLst xmlns:a="http://schemas.openxmlformats.org/drawingml/2006/main">
              <a:ext uri="{FF2B5EF4-FFF2-40B4-BE49-F238E27FC236}">
                <a16:creationId xmlns:a16="http://schemas.microsoft.com/office/drawing/2014/main" id="{91674A33-40D5-4AAA-B475-0DCF224DB2F4}"/>
              </a:ext>
            </a:extLst>
          </p:cNvPr>
          <p:cNvSpPr>
            <a:spLocks xmlns:a="http://schemas.openxmlformats.org/drawingml/2006/main" noGrp="1"/>
          </p:cNvSpPr>
          <p:nvPr/>
        </p:nvSpPr>
        <p:spPr>
          <a:xfrm xmlns:a="http://schemas.openxmlformats.org/drawingml/2006/main">
            <a:off x="809625" y="3352800"/>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ST3</a:t>
            </a:r>
          </a:p>
        </p:txBody>
      </p:sp>
      <p:sp>
        <p:nvSpPr>
          <p:cNvPr id="24" name="">
            <a:extLst xmlns:a="http://schemas.openxmlformats.org/drawingml/2006/main">
              <a:ext uri="{FF2B5EF4-FFF2-40B4-BE49-F238E27FC236}">
                <a16:creationId xmlns:a16="http://schemas.microsoft.com/office/drawing/2014/main" id="{EF6B8F1B-C369-4412-831D-48F727AAEFFB}"/>
              </a:ext>
            </a:extLst>
          </p:cNvPr>
          <p:cNvSpPr>
            <a:spLocks xmlns:a="http://schemas.openxmlformats.org/drawingml/2006/main" noGrp="1"/>
          </p:cNvSpPr>
          <p:nvPr/>
        </p:nvSpPr>
        <p:spPr>
          <a:xfrm xmlns:a="http://schemas.openxmlformats.org/drawingml/2006/main">
            <a:off x="2143125" y="3371850"/>
            <a:ext cx="5000625" cy="2286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EAE26E0-A5D3-4581-8258-D82FCED7B0D7}"/>
              </a:ext>
            </a:extLst>
          </p:cNvPr>
          <p:cNvSpPr>
            <a:spLocks xmlns:a="http://schemas.openxmlformats.org/drawingml/2006/main" noGrp="1"/>
          </p:cNvSpPr>
          <p:nvPr/>
        </p:nvSpPr>
        <p:spPr>
          <a:xfrm xmlns:a="http://schemas.openxmlformats.org/drawingml/2006/main">
            <a:off x="2143125" y="3371850"/>
            <a:ext cx="3240167" cy="2286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6F3913A-B6EB-4ADB-80A0-611056866244}"/>
              </a:ext>
            </a:extLst>
          </p:cNvPr>
          <p:cNvSpPr>
            <a:spLocks xmlns:a="http://schemas.openxmlformats.org/drawingml/2006/main" noGrp="1"/>
          </p:cNvSpPr>
          <p:nvPr/>
        </p:nvSpPr>
        <p:spPr>
          <a:xfrm xmlns:a="http://schemas.openxmlformats.org/drawingml/2006/main">
            <a:off x="7258050" y="33337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13.6 s</a:t>
            </a:r>
          </a:p>
        </p:txBody>
      </p:sp>
      <p:sp>
        <p:nvSpPr>
          <p:cNvPr id="27" name="">
            <a:extLst xmlns:a="http://schemas.openxmlformats.org/drawingml/2006/main">
              <a:ext uri="{FF2B5EF4-FFF2-40B4-BE49-F238E27FC236}">
                <a16:creationId xmlns:a16="http://schemas.microsoft.com/office/drawing/2014/main" id="{A78C3D2A-BF39-45A8-BD12-3C863A065600}"/>
              </a:ext>
            </a:extLst>
          </p:cNvPr>
          <p:cNvSpPr>
            <a:spLocks xmlns:a="http://schemas.openxmlformats.org/drawingml/2006/main" noGrp="1"/>
          </p:cNvSpPr>
          <p:nvPr/>
        </p:nvSpPr>
        <p:spPr>
          <a:xfrm xmlns:a="http://schemas.openxmlformats.org/drawingml/2006/main">
            <a:off x="809625" y="38957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MT3</a:t>
            </a:r>
          </a:p>
        </p:txBody>
      </p:sp>
      <p:sp>
        <p:nvSpPr>
          <p:cNvPr id="28" name="">
            <a:extLst xmlns:a="http://schemas.openxmlformats.org/drawingml/2006/main">
              <a:ext uri="{FF2B5EF4-FFF2-40B4-BE49-F238E27FC236}">
                <a16:creationId xmlns:a16="http://schemas.microsoft.com/office/drawing/2014/main" id="{AE7CDC0D-3404-4562-9EFD-198F64830292}"/>
              </a:ext>
            </a:extLst>
          </p:cNvPr>
          <p:cNvSpPr>
            <a:spLocks xmlns:a="http://schemas.openxmlformats.org/drawingml/2006/main" noGrp="1"/>
          </p:cNvSpPr>
          <p:nvPr/>
        </p:nvSpPr>
        <p:spPr>
          <a:xfrm xmlns:a="http://schemas.openxmlformats.org/drawingml/2006/main">
            <a:off x="2143125" y="3914775"/>
            <a:ext cx="5000625" cy="2286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CC71A74-0A18-40B4-BF05-3611B344B623}"/>
              </a:ext>
            </a:extLst>
          </p:cNvPr>
          <p:cNvSpPr>
            <a:spLocks xmlns:a="http://schemas.openxmlformats.org/drawingml/2006/main" noGrp="1"/>
          </p:cNvSpPr>
          <p:nvPr/>
        </p:nvSpPr>
        <p:spPr>
          <a:xfrm xmlns:a="http://schemas.openxmlformats.org/drawingml/2006/main">
            <a:off x="2143125" y="3914775"/>
            <a:ext cx="2444353" cy="2286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CC6FD0C-0412-4420-8441-824C859E1505}"/>
              </a:ext>
            </a:extLst>
          </p:cNvPr>
          <p:cNvSpPr>
            <a:spLocks xmlns:a="http://schemas.openxmlformats.org/drawingml/2006/main" noGrp="1"/>
          </p:cNvSpPr>
          <p:nvPr/>
        </p:nvSpPr>
        <p:spPr>
          <a:xfrm xmlns:a="http://schemas.openxmlformats.org/drawingml/2006/main">
            <a:off x="7258050" y="3876675"/>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10.3 s</a:t>
            </a:r>
          </a:p>
        </p:txBody>
      </p:sp>
      <p:sp>
        <p:nvSpPr>
          <p:cNvPr id="31" name="">
            <a:extLst xmlns:a="http://schemas.openxmlformats.org/drawingml/2006/main">
              <a:ext uri="{FF2B5EF4-FFF2-40B4-BE49-F238E27FC236}">
                <a16:creationId xmlns:a16="http://schemas.microsoft.com/office/drawing/2014/main" id="{6A24BF34-DA53-47F9-BB11-164803F262F4}"/>
              </a:ext>
            </a:extLst>
          </p:cNvPr>
          <p:cNvSpPr>
            <a:spLocks xmlns:a="http://schemas.openxmlformats.org/drawingml/2006/main" noGrp="1"/>
          </p:cNvSpPr>
          <p:nvPr/>
        </p:nvSpPr>
        <p:spPr>
          <a:xfrm xmlns:a="http://schemas.openxmlformats.org/drawingml/2006/main">
            <a:off x="809625" y="4438650"/>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Negative</a:t>
            </a:r>
          </a:p>
        </p:txBody>
      </p:sp>
      <p:sp>
        <p:nvSpPr>
          <p:cNvPr id="32" name="">
            <a:extLst xmlns:a="http://schemas.openxmlformats.org/drawingml/2006/main">
              <a:ext uri="{FF2B5EF4-FFF2-40B4-BE49-F238E27FC236}">
                <a16:creationId xmlns:a16="http://schemas.microsoft.com/office/drawing/2014/main" id="{E7DB30AF-B0C5-4D0A-802F-84F101391E7D}"/>
              </a:ext>
            </a:extLst>
          </p:cNvPr>
          <p:cNvSpPr>
            <a:spLocks xmlns:a="http://schemas.openxmlformats.org/drawingml/2006/main" noGrp="1"/>
          </p:cNvSpPr>
          <p:nvPr/>
        </p:nvSpPr>
        <p:spPr>
          <a:xfrm xmlns:a="http://schemas.openxmlformats.org/drawingml/2006/main">
            <a:off x="2143125" y="4457700"/>
            <a:ext cx="5000625" cy="2286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A20F64-A394-491C-8669-A3E8FB2EBEE0}"/>
              </a:ext>
            </a:extLst>
          </p:cNvPr>
          <p:cNvSpPr>
            <a:spLocks xmlns:a="http://schemas.openxmlformats.org/drawingml/2006/main" noGrp="1"/>
          </p:cNvSpPr>
          <p:nvPr/>
        </p:nvSpPr>
        <p:spPr>
          <a:xfrm xmlns:a="http://schemas.openxmlformats.org/drawingml/2006/main">
            <a:off x="2143125" y="4457700"/>
            <a:ext cx="440769" cy="228600"/>
          </a:xfrm>
          <a:prstGeom xmlns:a="http://schemas.openxmlformats.org/drawingml/2006/main" prst="rect">
            <a:avLst/>
          </a:prstGeom>
          <a:solidFill xmlns:a="http://schemas.openxmlformats.org/drawingml/2006/main">
            <a:srgbClr val="7AC94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845C756-A7AC-4C13-84FA-ADCFE3199508}"/>
              </a:ext>
            </a:extLst>
          </p:cNvPr>
          <p:cNvSpPr>
            <a:spLocks xmlns:a="http://schemas.openxmlformats.org/drawingml/2006/main" noGrp="1"/>
          </p:cNvSpPr>
          <p:nvPr/>
        </p:nvSpPr>
        <p:spPr>
          <a:xfrm xmlns:a="http://schemas.openxmlformats.org/drawingml/2006/main">
            <a:off x="7258050" y="44196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7AC943"/>
                </a:solidFill>
                <a:latin typeface="Aptos"/>
                <a:ea typeface="Aptos"/>
                <a:cs typeface="Aptos"/>
              </a:defRPr>
            </a:pPr>
            <a:r>
              <a:rPr sz="1350" b="1">
                <a:solidFill>
                  <a:srgbClr val="7AC943"/>
                </a:solidFill>
                <a:latin typeface="Aptos"/>
                <a:ea typeface="Aptos"/>
                <a:cs typeface="Aptos"/>
              </a:rPr>
              <a:t>1.9 s</a:t>
            </a:r>
          </a:p>
        </p:txBody>
      </p:sp>
      <p:sp>
        <p:nvSpPr>
          <p:cNvPr id="35" name="">
            <a:extLst xmlns:a="http://schemas.openxmlformats.org/drawingml/2006/main">
              <a:ext uri="{FF2B5EF4-FFF2-40B4-BE49-F238E27FC236}">
                <a16:creationId xmlns:a16="http://schemas.microsoft.com/office/drawing/2014/main" id="{D10D4716-C800-4804-AEFD-E940B61AEB2B}"/>
              </a:ext>
            </a:extLst>
          </p:cNvPr>
          <p:cNvSpPr>
            <a:spLocks xmlns:a="http://schemas.openxmlformats.org/drawingml/2006/main" noGrp="1"/>
          </p:cNvSpPr>
          <p:nvPr/>
        </p:nvSpPr>
        <p:spPr>
          <a:xfrm xmlns:a="http://schemas.openxmlformats.org/drawingml/2006/main">
            <a:off x="7620000" y="1647825"/>
            <a:ext cx="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36" name="">
            <a:extLst xmlns:a="http://schemas.openxmlformats.org/drawingml/2006/main">
              <a:ext uri="{FF2B5EF4-FFF2-40B4-BE49-F238E27FC236}">
                <a16:creationId xmlns:a16="http://schemas.microsoft.com/office/drawing/2014/main" id="{E2FC0632-DFAF-437E-B9A5-730E81A501C0}"/>
              </a:ext>
            </a:extLst>
          </p:cNvPr>
          <p:cNvSpPr>
            <a:spLocks xmlns:a="http://schemas.openxmlformats.org/drawingml/2006/main" noGrp="1"/>
          </p:cNvSpPr>
          <p:nvPr/>
        </p:nvSpPr>
        <p:spPr>
          <a:xfrm xmlns:a="http://schemas.openxmlformats.org/drawingml/2006/main">
            <a:off x="8096250" y="16668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1">
                <a:solidFill>
                  <a:srgbClr val="666666"/>
                </a:solidFill>
                <a:latin typeface="Aptos"/>
                <a:ea typeface="Aptos"/>
                <a:cs typeface="Aptos"/>
              </a:defRPr>
            </a:pPr>
            <a:r>
              <a:rPr sz="1125" b="1">
                <a:solidFill>
                  <a:srgbClr val="666666"/>
                </a:solidFill>
                <a:latin typeface="Aptos"/>
                <a:ea typeface="Aptos"/>
                <a:cs typeface="Aptos"/>
              </a:rPr>
              <a:t>MEDIAN / P90</a:t>
            </a:r>
          </a:p>
        </p:txBody>
      </p:sp>
      <p:sp>
        <p:nvSpPr>
          <p:cNvPr id="37" name="">
            <a:extLst xmlns:a="http://schemas.openxmlformats.org/drawingml/2006/main">
              <a:ext uri="{FF2B5EF4-FFF2-40B4-BE49-F238E27FC236}">
                <a16:creationId xmlns:a16="http://schemas.microsoft.com/office/drawing/2014/main" id="{291535D4-0F3D-4C1F-97E1-E2BFBDC7A9BC}"/>
              </a:ext>
            </a:extLst>
          </p:cNvPr>
          <p:cNvSpPr>
            <a:spLocks xmlns:a="http://schemas.openxmlformats.org/drawingml/2006/main" noGrp="1"/>
          </p:cNvSpPr>
          <p:nvPr/>
        </p:nvSpPr>
        <p:spPr>
          <a:xfrm xmlns:a="http://schemas.openxmlformats.org/drawingml/2006/main">
            <a:off x="7953375" y="207645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666666"/>
                </a:solidFill>
                <a:latin typeface="Aptos"/>
                <a:ea typeface="Aptos"/>
                <a:cs typeface="Aptos"/>
              </a:defRPr>
            </a:pPr>
            <a:r>
              <a:rPr sz="1050" b="1">
                <a:solidFill>
                  <a:srgbClr val="666666"/>
                </a:solidFill>
                <a:latin typeface="Aptos"/>
                <a:ea typeface="Aptos"/>
                <a:cs typeface="Aptos"/>
              </a:rPr>
              <a:t>Group</a:t>
            </a:r>
          </a:p>
        </p:txBody>
      </p:sp>
      <p:sp>
        <p:nvSpPr>
          <p:cNvPr id="38" name="">
            <a:extLst xmlns:a="http://schemas.openxmlformats.org/drawingml/2006/main">
              <a:ext uri="{FF2B5EF4-FFF2-40B4-BE49-F238E27FC236}">
                <a16:creationId xmlns:a16="http://schemas.microsoft.com/office/drawing/2014/main" id="{E145DDD9-B8C3-45C4-852D-131EF3B844E9}"/>
              </a:ext>
            </a:extLst>
          </p:cNvPr>
          <p:cNvSpPr>
            <a:spLocks xmlns:a="http://schemas.openxmlformats.org/drawingml/2006/main" noGrp="1"/>
          </p:cNvSpPr>
          <p:nvPr/>
        </p:nvSpPr>
        <p:spPr>
          <a:xfrm xmlns:a="http://schemas.openxmlformats.org/drawingml/2006/main">
            <a:off x="9144000" y="20764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050" b="1">
                <a:solidFill>
                  <a:srgbClr val="666666"/>
                </a:solidFill>
                <a:latin typeface="Aptos"/>
                <a:ea typeface="Aptos"/>
                <a:cs typeface="Aptos"/>
              </a:defRPr>
            </a:pPr>
            <a:r>
              <a:rPr sz="1050" b="1">
                <a:solidFill>
                  <a:srgbClr val="666666"/>
                </a:solidFill>
                <a:latin typeface="Aptos"/>
                <a:ea typeface="Aptos"/>
                <a:cs typeface="Aptos"/>
              </a:rPr>
              <a:t>Median</a:t>
            </a:r>
          </a:p>
        </p:txBody>
      </p:sp>
      <p:sp>
        <p:nvSpPr>
          <p:cNvPr id="39" name="">
            <a:extLst xmlns:a="http://schemas.openxmlformats.org/drawingml/2006/main">
              <a:ext uri="{FF2B5EF4-FFF2-40B4-BE49-F238E27FC236}">
                <a16:creationId xmlns:a16="http://schemas.microsoft.com/office/drawing/2014/main" id="{BB7B491D-79A4-4957-85CD-00E1D44131B2}"/>
              </a:ext>
            </a:extLst>
          </p:cNvPr>
          <p:cNvSpPr>
            <a:spLocks xmlns:a="http://schemas.openxmlformats.org/drawingml/2006/main" noGrp="1"/>
          </p:cNvSpPr>
          <p:nvPr/>
        </p:nvSpPr>
        <p:spPr>
          <a:xfrm xmlns:a="http://schemas.openxmlformats.org/drawingml/2006/main">
            <a:off x="10191750" y="20764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050" b="1">
                <a:solidFill>
                  <a:srgbClr val="666666"/>
                </a:solidFill>
                <a:latin typeface="Aptos"/>
                <a:ea typeface="Aptos"/>
                <a:cs typeface="Aptos"/>
              </a:defRPr>
            </a:pPr>
            <a:r>
              <a:rPr sz="1050" b="1">
                <a:solidFill>
                  <a:srgbClr val="666666"/>
                </a:solidFill>
                <a:latin typeface="Aptos"/>
                <a:ea typeface="Aptos"/>
                <a:cs typeface="Aptos"/>
              </a:rPr>
              <a:t>P90</a:t>
            </a:r>
          </a:p>
        </p:txBody>
      </p:sp>
      <p:sp>
        <p:nvSpPr>
          <p:cNvPr id="40" name="">
            <a:extLst xmlns:a="http://schemas.openxmlformats.org/drawingml/2006/main">
              <a:ext uri="{FF2B5EF4-FFF2-40B4-BE49-F238E27FC236}">
                <a16:creationId xmlns:a16="http://schemas.microsoft.com/office/drawing/2014/main" id="{8A155F9B-E9C8-46AE-800F-1222F5A17AD4}"/>
              </a:ext>
            </a:extLst>
          </p:cNvPr>
          <p:cNvSpPr>
            <a:spLocks xmlns:a="http://schemas.openxmlformats.org/drawingml/2006/main" noGrp="1"/>
          </p:cNvSpPr>
          <p:nvPr/>
        </p:nvSpPr>
        <p:spPr>
          <a:xfrm xmlns:a="http://schemas.openxmlformats.org/drawingml/2006/main">
            <a:off x="7953375" y="240030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T1</a:t>
            </a:r>
          </a:p>
        </p:txBody>
      </p:sp>
      <p:sp>
        <p:nvSpPr>
          <p:cNvPr id="41" name="">
            <a:extLst xmlns:a="http://schemas.openxmlformats.org/drawingml/2006/main">
              <a:ext uri="{FF2B5EF4-FFF2-40B4-BE49-F238E27FC236}">
                <a16:creationId xmlns:a16="http://schemas.microsoft.com/office/drawing/2014/main" id="{25717788-3D44-4D1A-9192-918BA505E59D}"/>
              </a:ext>
            </a:extLst>
          </p:cNvPr>
          <p:cNvSpPr>
            <a:spLocks xmlns:a="http://schemas.openxmlformats.org/drawingml/2006/main" noGrp="1"/>
          </p:cNvSpPr>
          <p:nvPr/>
        </p:nvSpPr>
        <p:spPr>
          <a:xfrm xmlns:a="http://schemas.openxmlformats.org/drawingml/2006/main">
            <a:off x="9144000" y="24003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8.1 s</a:t>
            </a:r>
          </a:p>
        </p:txBody>
      </p:sp>
      <p:sp>
        <p:nvSpPr>
          <p:cNvPr id="42" name="">
            <a:extLst xmlns:a="http://schemas.openxmlformats.org/drawingml/2006/main">
              <a:ext uri="{FF2B5EF4-FFF2-40B4-BE49-F238E27FC236}">
                <a16:creationId xmlns:a16="http://schemas.microsoft.com/office/drawing/2014/main" id="{20CBCC96-BA3E-4787-9CF4-384E21A6F6E8}"/>
              </a:ext>
            </a:extLst>
          </p:cNvPr>
          <p:cNvSpPr>
            <a:spLocks xmlns:a="http://schemas.openxmlformats.org/drawingml/2006/main" noGrp="1"/>
          </p:cNvSpPr>
          <p:nvPr/>
        </p:nvSpPr>
        <p:spPr>
          <a:xfrm xmlns:a="http://schemas.openxmlformats.org/drawingml/2006/main">
            <a:off x="10191750" y="24003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1">
                <a:solidFill>
                  <a:srgbClr val="E4002B"/>
                </a:solidFill>
                <a:latin typeface="Aptos"/>
                <a:ea typeface="Aptos"/>
                <a:cs typeface="Aptos"/>
              </a:defRPr>
            </a:pPr>
            <a:r>
              <a:rPr sz="1275" b="1">
                <a:solidFill>
                  <a:srgbClr val="E4002B"/>
                </a:solidFill>
                <a:latin typeface="Aptos"/>
                <a:ea typeface="Aptos"/>
                <a:cs typeface="Aptos"/>
              </a:rPr>
              <a:t>50.3 s</a:t>
            </a:r>
          </a:p>
        </p:txBody>
      </p:sp>
      <p:sp>
        <p:nvSpPr>
          <p:cNvPr id="43" name="">
            <a:extLst xmlns:a="http://schemas.openxmlformats.org/drawingml/2006/main">
              <a:ext uri="{FF2B5EF4-FFF2-40B4-BE49-F238E27FC236}">
                <a16:creationId xmlns:a16="http://schemas.microsoft.com/office/drawing/2014/main" id="{EF798CAF-6F3A-4B31-A700-16C23C1F8378}"/>
              </a:ext>
            </a:extLst>
          </p:cNvPr>
          <p:cNvSpPr>
            <a:spLocks xmlns:a="http://schemas.openxmlformats.org/drawingml/2006/main" noGrp="1"/>
          </p:cNvSpPr>
          <p:nvPr/>
        </p:nvSpPr>
        <p:spPr>
          <a:xfrm xmlns:a="http://schemas.openxmlformats.org/drawingml/2006/main">
            <a:off x="7953375" y="284797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T2</a:t>
            </a:r>
          </a:p>
        </p:txBody>
      </p:sp>
      <p:sp>
        <p:nvSpPr>
          <p:cNvPr id="44" name="">
            <a:extLst xmlns:a="http://schemas.openxmlformats.org/drawingml/2006/main">
              <a:ext uri="{FF2B5EF4-FFF2-40B4-BE49-F238E27FC236}">
                <a16:creationId xmlns:a16="http://schemas.microsoft.com/office/drawing/2014/main" id="{2B659DC4-980F-4259-BEE4-6FF2674A32FC}"/>
              </a:ext>
            </a:extLst>
          </p:cNvPr>
          <p:cNvSpPr>
            <a:spLocks xmlns:a="http://schemas.openxmlformats.org/drawingml/2006/main" noGrp="1"/>
          </p:cNvSpPr>
          <p:nvPr/>
        </p:nvSpPr>
        <p:spPr>
          <a:xfrm xmlns:a="http://schemas.openxmlformats.org/drawingml/2006/main">
            <a:off x="9144000" y="284797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0.6 s</a:t>
            </a:r>
          </a:p>
        </p:txBody>
      </p:sp>
      <p:sp>
        <p:nvSpPr>
          <p:cNvPr id="45" name="">
            <a:extLst xmlns:a="http://schemas.openxmlformats.org/drawingml/2006/main">
              <a:ext uri="{FF2B5EF4-FFF2-40B4-BE49-F238E27FC236}">
                <a16:creationId xmlns:a16="http://schemas.microsoft.com/office/drawing/2014/main" id="{5E0DE5CB-95BE-402A-A58E-42FB6D70FC3B}"/>
              </a:ext>
            </a:extLst>
          </p:cNvPr>
          <p:cNvSpPr>
            <a:spLocks xmlns:a="http://schemas.openxmlformats.org/drawingml/2006/main" noGrp="1"/>
          </p:cNvSpPr>
          <p:nvPr/>
        </p:nvSpPr>
        <p:spPr>
          <a:xfrm xmlns:a="http://schemas.openxmlformats.org/drawingml/2006/main">
            <a:off x="10191750" y="284797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1.1 s</a:t>
            </a:r>
          </a:p>
        </p:txBody>
      </p:sp>
      <p:sp>
        <p:nvSpPr>
          <p:cNvPr id="46" name="">
            <a:extLst xmlns:a="http://schemas.openxmlformats.org/drawingml/2006/main">
              <a:ext uri="{FF2B5EF4-FFF2-40B4-BE49-F238E27FC236}">
                <a16:creationId xmlns:a16="http://schemas.microsoft.com/office/drawing/2014/main" id="{34AC6D8C-415B-4B5F-B633-B73D2624CD44}"/>
              </a:ext>
            </a:extLst>
          </p:cNvPr>
          <p:cNvSpPr>
            <a:spLocks xmlns:a="http://schemas.openxmlformats.org/drawingml/2006/main" noGrp="1"/>
          </p:cNvSpPr>
          <p:nvPr/>
        </p:nvSpPr>
        <p:spPr>
          <a:xfrm xmlns:a="http://schemas.openxmlformats.org/drawingml/2006/main">
            <a:off x="7953375" y="329565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VST3</a:t>
            </a:r>
          </a:p>
        </p:txBody>
      </p:sp>
      <p:sp>
        <p:nvSpPr>
          <p:cNvPr id="47" name="">
            <a:extLst xmlns:a="http://schemas.openxmlformats.org/drawingml/2006/main">
              <a:ext uri="{FF2B5EF4-FFF2-40B4-BE49-F238E27FC236}">
                <a16:creationId xmlns:a16="http://schemas.microsoft.com/office/drawing/2014/main" id="{5D0B28E9-C014-4E5E-BA87-6688E7BBB481}"/>
              </a:ext>
            </a:extLst>
          </p:cNvPr>
          <p:cNvSpPr>
            <a:spLocks xmlns:a="http://schemas.openxmlformats.org/drawingml/2006/main" noGrp="1"/>
          </p:cNvSpPr>
          <p:nvPr/>
        </p:nvSpPr>
        <p:spPr>
          <a:xfrm xmlns:a="http://schemas.openxmlformats.org/drawingml/2006/main">
            <a:off x="9144000" y="32956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2.4 s</a:t>
            </a:r>
          </a:p>
        </p:txBody>
      </p:sp>
      <p:sp>
        <p:nvSpPr>
          <p:cNvPr id="48" name="">
            <a:extLst xmlns:a="http://schemas.openxmlformats.org/drawingml/2006/main">
              <a:ext uri="{FF2B5EF4-FFF2-40B4-BE49-F238E27FC236}">
                <a16:creationId xmlns:a16="http://schemas.microsoft.com/office/drawing/2014/main" id="{08689F44-8B33-4D74-B96E-7E9AF9EA1401}"/>
              </a:ext>
            </a:extLst>
          </p:cNvPr>
          <p:cNvSpPr>
            <a:spLocks xmlns:a="http://schemas.openxmlformats.org/drawingml/2006/main" noGrp="1"/>
          </p:cNvSpPr>
          <p:nvPr/>
        </p:nvSpPr>
        <p:spPr>
          <a:xfrm xmlns:a="http://schemas.openxmlformats.org/drawingml/2006/main">
            <a:off x="10191750" y="32956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1">
                <a:solidFill>
                  <a:srgbClr val="E4002B"/>
                </a:solidFill>
                <a:latin typeface="Aptos"/>
                <a:ea typeface="Aptos"/>
                <a:cs typeface="Aptos"/>
              </a:defRPr>
            </a:pPr>
            <a:r>
              <a:rPr sz="1275" b="1">
                <a:solidFill>
                  <a:srgbClr val="E4002B"/>
                </a:solidFill>
                <a:latin typeface="Aptos"/>
                <a:ea typeface="Aptos"/>
                <a:cs typeface="Aptos"/>
              </a:rPr>
              <a:t>48.6 s</a:t>
            </a:r>
          </a:p>
        </p:txBody>
      </p:sp>
      <p:sp>
        <p:nvSpPr>
          <p:cNvPr id="49" name="">
            <a:extLst xmlns:a="http://schemas.openxmlformats.org/drawingml/2006/main">
              <a:ext uri="{FF2B5EF4-FFF2-40B4-BE49-F238E27FC236}">
                <a16:creationId xmlns:a16="http://schemas.microsoft.com/office/drawing/2014/main" id="{50B618E2-E261-4B9E-AF2B-746CF0339BF9}"/>
              </a:ext>
            </a:extLst>
          </p:cNvPr>
          <p:cNvSpPr>
            <a:spLocks xmlns:a="http://schemas.openxmlformats.org/drawingml/2006/main" noGrp="1"/>
          </p:cNvSpPr>
          <p:nvPr/>
        </p:nvSpPr>
        <p:spPr>
          <a:xfrm xmlns:a="http://schemas.openxmlformats.org/drawingml/2006/main">
            <a:off x="7953375" y="374332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ST3</a:t>
            </a:r>
          </a:p>
        </p:txBody>
      </p:sp>
      <p:sp>
        <p:nvSpPr>
          <p:cNvPr id="50" name="">
            <a:extLst xmlns:a="http://schemas.openxmlformats.org/drawingml/2006/main">
              <a:ext uri="{FF2B5EF4-FFF2-40B4-BE49-F238E27FC236}">
                <a16:creationId xmlns:a16="http://schemas.microsoft.com/office/drawing/2014/main" id="{845AB407-2D25-4B75-8C37-4507575923A2}"/>
              </a:ext>
            </a:extLst>
          </p:cNvPr>
          <p:cNvSpPr>
            <a:spLocks xmlns:a="http://schemas.openxmlformats.org/drawingml/2006/main" noGrp="1"/>
          </p:cNvSpPr>
          <p:nvPr/>
        </p:nvSpPr>
        <p:spPr>
          <a:xfrm xmlns:a="http://schemas.openxmlformats.org/drawingml/2006/main">
            <a:off x="9144000" y="374332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0.9 s</a:t>
            </a:r>
          </a:p>
        </p:txBody>
      </p:sp>
      <p:sp>
        <p:nvSpPr>
          <p:cNvPr id="51" name="">
            <a:extLst xmlns:a="http://schemas.openxmlformats.org/drawingml/2006/main">
              <a:ext uri="{FF2B5EF4-FFF2-40B4-BE49-F238E27FC236}">
                <a16:creationId xmlns:a16="http://schemas.microsoft.com/office/drawing/2014/main" id="{E89E3E30-8320-447F-89FA-B3141A79EAAB}"/>
              </a:ext>
            </a:extLst>
          </p:cNvPr>
          <p:cNvSpPr>
            <a:spLocks xmlns:a="http://schemas.openxmlformats.org/drawingml/2006/main" noGrp="1"/>
          </p:cNvSpPr>
          <p:nvPr/>
        </p:nvSpPr>
        <p:spPr>
          <a:xfrm xmlns:a="http://schemas.openxmlformats.org/drawingml/2006/main">
            <a:off x="10191750" y="374332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1">
                <a:solidFill>
                  <a:srgbClr val="E4002B"/>
                </a:solidFill>
                <a:latin typeface="Aptos"/>
                <a:ea typeface="Aptos"/>
                <a:cs typeface="Aptos"/>
              </a:defRPr>
            </a:pPr>
            <a:r>
              <a:rPr sz="1275" b="1">
                <a:solidFill>
                  <a:srgbClr val="E4002B"/>
                </a:solidFill>
                <a:latin typeface="Aptos"/>
                <a:ea typeface="Aptos"/>
                <a:cs typeface="Aptos"/>
              </a:rPr>
              <a:t>50.2 s</a:t>
            </a:r>
          </a:p>
        </p:txBody>
      </p:sp>
      <p:sp>
        <p:nvSpPr>
          <p:cNvPr id="52" name="">
            <a:extLst xmlns:a="http://schemas.openxmlformats.org/drawingml/2006/main">
              <a:ext uri="{FF2B5EF4-FFF2-40B4-BE49-F238E27FC236}">
                <a16:creationId xmlns:a16="http://schemas.microsoft.com/office/drawing/2014/main" id="{4C19D0A7-0D36-4A88-92FB-CB4AC2A5AECD}"/>
              </a:ext>
            </a:extLst>
          </p:cNvPr>
          <p:cNvSpPr>
            <a:spLocks xmlns:a="http://schemas.openxmlformats.org/drawingml/2006/main" noGrp="1"/>
          </p:cNvSpPr>
          <p:nvPr/>
        </p:nvSpPr>
        <p:spPr>
          <a:xfrm xmlns:a="http://schemas.openxmlformats.org/drawingml/2006/main">
            <a:off x="7953375" y="419100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MT3</a:t>
            </a:r>
          </a:p>
        </p:txBody>
      </p:sp>
      <p:sp>
        <p:nvSpPr>
          <p:cNvPr id="53" name="">
            <a:extLst xmlns:a="http://schemas.openxmlformats.org/drawingml/2006/main">
              <a:ext uri="{FF2B5EF4-FFF2-40B4-BE49-F238E27FC236}">
                <a16:creationId xmlns:a16="http://schemas.microsoft.com/office/drawing/2014/main" id="{6CFAD7A6-287B-4F28-AF05-B023B5F8AF76}"/>
              </a:ext>
            </a:extLst>
          </p:cNvPr>
          <p:cNvSpPr>
            <a:spLocks xmlns:a="http://schemas.openxmlformats.org/drawingml/2006/main" noGrp="1"/>
          </p:cNvSpPr>
          <p:nvPr/>
        </p:nvSpPr>
        <p:spPr>
          <a:xfrm xmlns:a="http://schemas.openxmlformats.org/drawingml/2006/main">
            <a:off x="9144000" y="41910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0.5 s</a:t>
            </a:r>
          </a:p>
        </p:txBody>
      </p:sp>
      <p:sp>
        <p:nvSpPr>
          <p:cNvPr id="54" name="">
            <a:extLst xmlns:a="http://schemas.openxmlformats.org/drawingml/2006/main">
              <a:ext uri="{FF2B5EF4-FFF2-40B4-BE49-F238E27FC236}">
                <a16:creationId xmlns:a16="http://schemas.microsoft.com/office/drawing/2014/main" id="{8B560A07-E1A6-4A1B-B100-937B56E9C43D}"/>
              </a:ext>
            </a:extLst>
          </p:cNvPr>
          <p:cNvSpPr>
            <a:spLocks xmlns:a="http://schemas.openxmlformats.org/drawingml/2006/main" noGrp="1"/>
          </p:cNvSpPr>
          <p:nvPr/>
        </p:nvSpPr>
        <p:spPr>
          <a:xfrm xmlns:a="http://schemas.openxmlformats.org/drawingml/2006/main">
            <a:off x="10191750" y="41910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1">
                <a:solidFill>
                  <a:srgbClr val="E4002B"/>
                </a:solidFill>
                <a:latin typeface="Aptos"/>
                <a:ea typeface="Aptos"/>
                <a:cs typeface="Aptos"/>
              </a:defRPr>
            </a:pPr>
            <a:r>
              <a:rPr sz="1275" b="1">
                <a:solidFill>
                  <a:srgbClr val="E4002B"/>
                </a:solidFill>
                <a:latin typeface="Aptos"/>
                <a:ea typeface="Aptos"/>
                <a:cs typeface="Aptos"/>
              </a:rPr>
              <a:t>49.7 s</a:t>
            </a:r>
          </a:p>
        </p:txBody>
      </p:sp>
      <p:sp>
        <p:nvSpPr>
          <p:cNvPr id="55" name="">
            <a:extLst xmlns:a="http://schemas.openxmlformats.org/drawingml/2006/main">
              <a:ext uri="{FF2B5EF4-FFF2-40B4-BE49-F238E27FC236}">
                <a16:creationId xmlns:a16="http://schemas.microsoft.com/office/drawing/2014/main" id="{0E23EDD0-737F-4EAE-B7DB-A8578CC2137E}"/>
              </a:ext>
            </a:extLst>
          </p:cNvPr>
          <p:cNvSpPr>
            <a:spLocks xmlns:a="http://schemas.openxmlformats.org/drawingml/2006/main" noGrp="1"/>
          </p:cNvSpPr>
          <p:nvPr/>
        </p:nvSpPr>
        <p:spPr>
          <a:xfrm xmlns:a="http://schemas.openxmlformats.org/drawingml/2006/main">
            <a:off x="7953375" y="463867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Negative</a:t>
            </a:r>
          </a:p>
        </p:txBody>
      </p:sp>
      <p:sp>
        <p:nvSpPr>
          <p:cNvPr id="56" name="">
            <a:extLst xmlns:a="http://schemas.openxmlformats.org/drawingml/2006/main">
              <a:ext uri="{FF2B5EF4-FFF2-40B4-BE49-F238E27FC236}">
                <a16:creationId xmlns:a16="http://schemas.microsoft.com/office/drawing/2014/main" id="{F39AC42B-4108-4167-9444-D3FE4C3DC1EE}"/>
              </a:ext>
            </a:extLst>
          </p:cNvPr>
          <p:cNvSpPr>
            <a:spLocks xmlns:a="http://schemas.openxmlformats.org/drawingml/2006/main" noGrp="1"/>
          </p:cNvSpPr>
          <p:nvPr/>
        </p:nvSpPr>
        <p:spPr>
          <a:xfrm xmlns:a="http://schemas.openxmlformats.org/drawingml/2006/main">
            <a:off x="9144000" y="463867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0.4 s</a:t>
            </a:r>
          </a:p>
        </p:txBody>
      </p:sp>
      <p:sp>
        <p:nvSpPr>
          <p:cNvPr id="57" name="">
            <a:extLst xmlns:a="http://schemas.openxmlformats.org/drawingml/2006/main">
              <a:ext uri="{FF2B5EF4-FFF2-40B4-BE49-F238E27FC236}">
                <a16:creationId xmlns:a16="http://schemas.microsoft.com/office/drawing/2014/main" id="{703EC215-A07E-4D4D-9372-C5235169A1AC}"/>
              </a:ext>
            </a:extLst>
          </p:cNvPr>
          <p:cNvSpPr>
            <a:spLocks xmlns:a="http://schemas.openxmlformats.org/drawingml/2006/main" noGrp="1"/>
          </p:cNvSpPr>
          <p:nvPr/>
        </p:nvSpPr>
        <p:spPr>
          <a:xfrm xmlns:a="http://schemas.openxmlformats.org/drawingml/2006/main">
            <a:off x="10191750" y="463867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75" b="0">
                <a:solidFill>
                  <a:srgbClr val="232323"/>
                </a:solidFill>
                <a:latin typeface="Aptos"/>
                <a:ea typeface="Aptos"/>
                <a:cs typeface="Aptos"/>
              </a:defRPr>
            </a:pPr>
            <a:r>
              <a:rPr sz="1275" b="0">
                <a:solidFill>
                  <a:srgbClr val="232323"/>
                </a:solidFill>
                <a:latin typeface="Aptos"/>
                <a:ea typeface="Aptos"/>
                <a:cs typeface="Aptos"/>
              </a:rPr>
              <a:t>0.8 s</a:t>
            </a:r>
          </a:p>
        </p:txBody>
      </p:sp>
      <p:sp>
        <p:nvSpPr>
          <p:cNvPr id="58" name="">
            <a:extLst xmlns:a="http://schemas.openxmlformats.org/drawingml/2006/main">
              <a:ext uri="{FF2B5EF4-FFF2-40B4-BE49-F238E27FC236}">
                <a16:creationId xmlns:a16="http://schemas.microsoft.com/office/drawing/2014/main" id="{433297D4-8043-4437-B36C-B99B351CD530}"/>
              </a:ext>
            </a:extLst>
          </p:cNvPr>
          <p:cNvSpPr>
            <a:spLocks xmlns:a="http://schemas.openxmlformats.org/drawingml/2006/main" noGrp="1"/>
          </p:cNvSpPr>
          <p:nvPr/>
        </p:nvSpPr>
        <p:spPr>
          <a:xfrm xmlns:a="http://schemas.openxmlformats.org/drawingml/2006/main">
            <a:off x="7953375" y="51530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00" b="0">
                <a:solidFill>
                  <a:srgbClr val="666666"/>
                </a:solidFill>
                <a:latin typeface="Aptos"/>
                <a:ea typeface="Aptos"/>
                <a:cs typeface="Aptos"/>
              </a:defRPr>
            </a:pPr>
            <a:r>
              <a:rPr sz="1200" b="0">
                <a:solidFill>
                  <a:srgbClr val="666666"/>
                </a:solidFill>
                <a:latin typeface="Aptos"/>
                <a:ea typeface="Aptos"/>
                <a:cs typeface="Aptos"/>
              </a:rPr>
              <a:t>Interpretation: runtime was input/path dependent, not just clone-type dependent.</a:t>
            </a:r>
          </a:p>
        </p:txBody>
      </p:sp>
    </p:spTree>
    <p:extLst>
      <p:ext uri="{BB962C8B-B14F-4D97-AF65-F5344CB8AC3E}">
        <p14:creationId xmlns:p14="http://schemas.microsoft.com/office/powerpoint/2010/main" val="258551416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V1 MT3 — One number hid three different outcomes</a:t>
            </a:r>
          </a:p>
        </p:txBody>
      </p:sp>
      <p:pic>
        <p:nvPicPr>
          <p:cNvPr id="25" name="Picture 3"/>
          <p:cNvPicPr>
            <a:picLocks xmlns:a="http://schemas.openxmlformats.org/drawingml/2006/main" noChangeAspect="1"/>
          </p:cNvPicPr>
          <p:nvPr/>
        </p:nvPicPr>
        <p:blipFill>
          <a:blip xmlns:r="http://schemas.openxmlformats.org/officeDocument/2006/relationships" xmlns:a="http://schemas.openxmlformats.org/drawingml/2006/main" r:embed="Rb2d20ac243e0471b"/>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EE32122-FC9E-4089-AD44-3B9633C46F88}"/>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E4002B"/>
                </a:solidFill>
                <a:latin typeface="Aptos"/>
                <a:ea typeface="Aptos"/>
                <a:cs typeface="Aptos"/>
              </a:defRPr>
            </a:pPr>
            <a:r>
              <a:rPr sz="1050" b="1">
                <a:solidFill>
                  <a:srgbClr val="E4002B"/>
                </a:solidFill>
                <a:latin typeface="Aptos"/>
                <a:ea typeface="Aptos"/>
                <a:cs typeface="Aptos"/>
              </a:rPr>
              <a:t>V1: BCB</a:t>
            </a:r>
          </a:p>
        </p:txBody>
      </p:sp>
      <p:sp>
        <p:nvSpPr>
          <p:cNvPr id="8" name="">
            <a:extLst xmlns:a="http://schemas.openxmlformats.org/drawingml/2006/main">
              <a:ext uri="{FF2B5EF4-FFF2-40B4-BE49-F238E27FC236}">
                <a16:creationId xmlns:a16="http://schemas.microsoft.com/office/drawing/2014/main" id="{ECC387AB-1D93-40A6-9728-59EA5F9BCCD1}"/>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82,193 moderate Type-3 pairs</a:t>
            </a:r>
          </a:p>
        </p:txBody>
      </p:sp>
      <p:sp>
        <p:nvSpPr>
          <p:cNvPr id="9" name="">
            <a:extLst xmlns:a="http://schemas.openxmlformats.org/drawingml/2006/main">
              <a:ext uri="{FF2B5EF4-FFF2-40B4-BE49-F238E27FC236}">
                <a16:creationId xmlns:a16="http://schemas.microsoft.com/office/drawing/2014/main" id="{AF6BB453-4383-4FD1-A303-31CD5D4AF360}"/>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1168516E-C1A6-4F52-BA59-F43B2E772ED0}"/>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7 / 24</a:t>
            </a:r>
          </a:p>
        </p:txBody>
      </p:sp>
      <p:sp>
        <p:nvSpPr>
          <p:cNvPr id="11" name="">
            <a:extLst xmlns:a="http://schemas.openxmlformats.org/drawingml/2006/main">
              <a:ext uri="{FF2B5EF4-FFF2-40B4-BE49-F238E27FC236}">
                <a16:creationId xmlns:a16="http://schemas.microsoft.com/office/drawing/2014/main" id="{992A4828-E424-4775-A585-06DA5F5C08D7}"/>
              </a:ext>
            </a:extLst>
          </p:cNvPr>
          <p:cNvSpPr>
            <a:spLocks xmlns:a="http://schemas.openxmlformats.org/drawingml/2006/main" noGrp="1"/>
          </p:cNvSpPr>
          <p:nvPr/>
        </p:nvSpPr>
        <p:spPr>
          <a:xfrm xmlns:a="http://schemas.openxmlformats.org/drawingml/2006/main">
            <a:off x="666750" y="16287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Coverage outcome</a:t>
            </a:r>
          </a:p>
        </p:txBody>
      </p:sp>
      <p:sp>
        <p:nvSpPr>
          <p:cNvPr id="12" name="">
            <a:extLst xmlns:a="http://schemas.openxmlformats.org/drawingml/2006/main">
              <a:ext uri="{FF2B5EF4-FFF2-40B4-BE49-F238E27FC236}">
                <a16:creationId xmlns:a16="http://schemas.microsoft.com/office/drawing/2014/main" id="{BDC4CCE2-DBFF-4C93-A547-FF97E5A42416}"/>
              </a:ext>
            </a:extLst>
          </p:cNvPr>
          <p:cNvSpPr>
            <a:spLocks xmlns:a="http://schemas.openxmlformats.org/drawingml/2006/main" noGrp="1"/>
          </p:cNvSpPr>
          <p:nvPr/>
        </p:nvSpPr>
        <p:spPr>
          <a:xfrm xmlns:a="http://schemas.openxmlformats.org/drawingml/2006/main">
            <a:off x="666750" y="2057400"/>
            <a:ext cx="2999670" cy="52387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1FB000-1AD7-4E1A-8DEA-A72B1B12E3B0}"/>
              </a:ext>
            </a:extLst>
          </p:cNvPr>
          <p:cNvSpPr>
            <a:spLocks xmlns:a="http://schemas.openxmlformats.org/drawingml/2006/main" noGrp="1"/>
          </p:cNvSpPr>
          <p:nvPr/>
        </p:nvSpPr>
        <p:spPr>
          <a:xfrm xmlns:a="http://schemas.openxmlformats.org/drawingml/2006/main">
            <a:off x="666750" y="2057400"/>
            <a:ext cx="299967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29.7% detected</a:t>
            </a:r>
          </a:p>
        </p:txBody>
      </p:sp>
      <p:sp>
        <p:nvSpPr>
          <p:cNvPr id="14" name="">
            <a:extLst xmlns:a="http://schemas.openxmlformats.org/drawingml/2006/main">
              <a:ext uri="{FF2B5EF4-FFF2-40B4-BE49-F238E27FC236}">
                <a16:creationId xmlns:a16="http://schemas.microsoft.com/office/drawing/2014/main" id="{B6A6B20D-CFC4-49AE-8E95-3871487411AD}"/>
              </a:ext>
            </a:extLst>
          </p:cNvPr>
          <p:cNvSpPr>
            <a:spLocks xmlns:a="http://schemas.openxmlformats.org/drawingml/2006/main" noGrp="1"/>
          </p:cNvSpPr>
          <p:nvPr/>
        </p:nvSpPr>
        <p:spPr>
          <a:xfrm xmlns:a="http://schemas.openxmlformats.org/drawingml/2006/main">
            <a:off x="3666420" y="2057400"/>
            <a:ext cx="3440887" cy="523875"/>
          </a:xfrm>
          <a:prstGeom xmlns:a="http://schemas.openxmlformats.org/drawingml/2006/main" prst="rect">
            <a:avLst/>
          </a:prstGeom>
          <a:solidFill xmlns:a="http://schemas.openxmlformats.org/drawingml/2006/main">
            <a:srgbClr val="F0A75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044BFB6-92AF-468A-8966-E0243AC8DBA4}"/>
              </a:ext>
            </a:extLst>
          </p:cNvPr>
          <p:cNvSpPr>
            <a:spLocks xmlns:a="http://schemas.openxmlformats.org/drawingml/2006/main" noGrp="1"/>
          </p:cNvSpPr>
          <p:nvPr/>
        </p:nvSpPr>
        <p:spPr>
          <a:xfrm xmlns:a="http://schemas.openxmlformats.org/drawingml/2006/main">
            <a:off x="3666420" y="2057400"/>
            <a:ext cx="3440887"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232323"/>
                </a:solidFill>
                <a:latin typeface="Aptos"/>
                <a:ea typeface="Aptos"/>
                <a:cs typeface="Aptos"/>
              </a:defRPr>
            </a:pPr>
            <a:r>
              <a:rPr sz="1275" b="1">
                <a:solidFill>
                  <a:srgbClr val="232323"/>
                </a:solidFill>
                <a:latin typeface="Aptos"/>
                <a:ea typeface="Aptos"/>
                <a:cs typeface="Aptos"/>
              </a:rPr>
              <a:t>34.1% partial</a:t>
            </a:r>
          </a:p>
        </p:txBody>
      </p:sp>
      <p:sp>
        <p:nvSpPr>
          <p:cNvPr id="16" name="">
            <a:extLst xmlns:a="http://schemas.openxmlformats.org/drawingml/2006/main">
              <a:ext uri="{FF2B5EF4-FFF2-40B4-BE49-F238E27FC236}">
                <a16:creationId xmlns:a16="http://schemas.microsoft.com/office/drawing/2014/main" id="{C20F864B-5025-4E9C-908A-917F7CF1F46D}"/>
              </a:ext>
            </a:extLst>
          </p:cNvPr>
          <p:cNvSpPr>
            <a:spLocks xmlns:a="http://schemas.openxmlformats.org/drawingml/2006/main" noGrp="1"/>
          </p:cNvSpPr>
          <p:nvPr/>
        </p:nvSpPr>
        <p:spPr>
          <a:xfrm xmlns:a="http://schemas.openxmlformats.org/drawingml/2006/main">
            <a:off x="7107307" y="2057400"/>
            <a:ext cx="3655943" cy="5238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FA43C9F-A8D3-436E-A660-1F43F080376B}"/>
              </a:ext>
            </a:extLst>
          </p:cNvPr>
          <p:cNvSpPr>
            <a:spLocks xmlns:a="http://schemas.openxmlformats.org/drawingml/2006/main" noGrp="1"/>
          </p:cNvSpPr>
          <p:nvPr/>
        </p:nvSpPr>
        <p:spPr>
          <a:xfrm xmlns:a="http://schemas.openxmlformats.org/drawingml/2006/main">
            <a:off x="7107307" y="2057400"/>
            <a:ext cx="3655943"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232323"/>
                </a:solidFill>
                <a:latin typeface="Aptos"/>
                <a:ea typeface="Aptos"/>
                <a:cs typeface="Aptos"/>
              </a:defRPr>
            </a:pPr>
            <a:r>
              <a:rPr sz="1275" b="1">
                <a:solidFill>
                  <a:srgbClr val="232323"/>
                </a:solidFill>
                <a:latin typeface="Aptos"/>
                <a:ea typeface="Aptos"/>
                <a:cs typeface="Aptos"/>
              </a:rPr>
              <a:t>36.2% none</a:t>
            </a:r>
          </a:p>
        </p:txBody>
      </p:sp>
      <p:sp>
        <p:nvSpPr>
          <p:cNvPr id="18" name="">
            <a:extLst xmlns:a="http://schemas.openxmlformats.org/drawingml/2006/main">
              <a:ext uri="{FF2B5EF4-FFF2-40B4-BE49-F238E27FC236}">
                <a16:creationId xmlns:a16="http://schemas.microsoft.com/office/drawing/2014/main" id="{BADE4D25-C2DA-4857-B97E-5DF13322AE6D}"/>
              </a:ext>
            </a:extLst>
          </p:cNvPr>
          <p:cNvSpPr>
            <a:spLocks xmlns:a="http://schemas.openxmlformats.org/drawingml/2006/main" noGrp="1"/>
          </p:cNvSpPr>
          <p:nvPr/>
        </p:nvSpPr>
        <p:spPr>
          <a:xfrm xmlns:a="http://schemas.openxmlformats.org/drawingml/2006/main">
            <a:off x="666750" y="29718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Detection by BCB similarity bucket</a:t>
            </a:r>
          </a:p>
        </p:txBody>
      </p:sp>
      <p:graphicFrame>
        <p:nvGraphicFramePr>
          <p:cNvPr id="38" name="Chart"/>
          <p:cNvGraphicFramePr/>
          <p:nvPr/>
        </p:nvGraphicFramePr>
        <p:xfrm>
          <a:off xmlns:a="http://schemas.openxmlformats.org/drawingml/2006/main" x="666750" y="3305175"/>
          <a:ext xmlns:a="http://schemas.openxmlformats.org/drawingml/2006/main" cx="8096250" cy="2238375"/>
        </p:xfrm>
        <a:graphic xmlns:a="http://schemas.openxmlformats.org/drawingml/2006/main">
          <a:graphicData uri="http://schemas.openxmlformats.org/drawingml/2006/chart">
            <c:chart xmlns:r="http://schemas.openxmlformats.org/officeDocument/2006/relationships" xmlns:c="http://schemas.openxmlformats.org/drawingml/2006/chart" r:id="R6f6cdc1c93974906"/>
          </a:graphicData>
        </a:graphic>
      </p:graphicFrame>
      <p:sp>
        <p:nvSpPr>
          <p:cNvPr id="20" name="">
            <a:extLst xmlns:a="http://schemas.openxmlformats.org/drawingml/2006/main">
              <a:ext uri="{FF2B5EF4-FFF2-40B4-BE49-F238E27FC236}">
                <a16:creationId xmlns:a16="http://schemas.microsoft.com/office/drawing/2014/main" id="{917E4E7B-2BC6-4E43-AAC3-359768CA78F0}"/>
              </a:ext>
            </a:extLst>
          </p:cNvPr>
          <p:cNvSpPr>
            <a:spLocks xmlns:a="http://schemas.openxmlformats.org/drawingml/2006/main" noGrp="1"/>
          </p:cNvSpPr>
          <p:nvPr/>
        </p:nvSpPr>
        <p:spPr>
          <a:xfrm xmlns:a="http://schemas.openxmlformats.org/drawingml/2006/main">
            <a:off x="9048750" y="3286125"/>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E4002B"/>
                </a:solidFill>
                <a:latin typeface="Aptos Display"/>
                <a:ea typeface="Aptos Display"/>
                <a:cs typeface="Aptos Display"/>
              </a:defRPr>
            </a:pPr>
            <a:r>
              <a:rPr sz="3600" b="1">
                <a:solidFill>
                  <a:srgbClr val="E4002B"/>
                </a:solidFill>
                <a:latin typeface="Aptos Display"/>
                <a:ea typeface="Aptos Display"/>
                <a:cs typeface="Aptos Display"/>
              </a:rPr>
              <a:t>36.2%</a:t>
            </a:r>
          </a:p>
        </p:txBody>
      </p:sp>
      <p:sp>
        <p:nvSpPr>
          <p:cNvPr id="21" name="">
            <a:extLst xmlns:a="http://schemas.openxmlformats.org/drawingml/2006/main">
              <a:ext uri="{FF2B5EF4-FFF2-40B4-BE49-F238E27FC236}">
                <a16:creationId xmlns:a16="http://schemas.microsoft.com/office/drawing/2014/main" id="{2B01C1A3-FC66-41DF-8B3D-40C12A21568E}"/>
              </a:ext>
            </a:extLst>
          </p:cNvPr>
          <p:cNvSpPr>
            <a:spLocks xmlns:a="http://schemas.openxmlformats.org/drawingml/2006/main" noGrp="1"/>
          </p:cNvSpPr>
          <p:nvPr/>
        </p:nvSpPr>
        <p:spPr>
          <a:xfrm xmlns:a="http://schemas.openxmlformats.org/drawingml/2006/main">
            <a:off x="9048750" y="395287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no region at all</a:t>
            </a:r>
          </a:p>
        </p:txBody>
      </p:sp>
      <p:sp>
        <p:nvSpPr>
          <p:cNvPr id="22" name="">
            <a:extLst xmlns:a="http://schemas.openxmlformats.org/drawingml/2006/main">
              <a:ext uri="{FF2B5EF4-FFF2-40B4-BE49-F238E27FC236}">
                <a16:creationId xmlns:a16="http://schemas.microsoft.com/office/drawing/2014/main" id="{3E7B46E9-B0BD-4DD2-ADFD-E12298409C2B}"/>
              </a:ext>
            </a:extLst>
          </p:cNvPr>
          <p:cNvSpPr>
            <a:spLocks xmlns:a="http://schemas.openxmlformats.org/drawingml/2006/main" noGrp="1"/>
          </p:cNvSpPr>
          <p:nvPr/>
        </p:nvSpPr>
        <p:spPr>
          <a:xfrm xmlns:a="http://schemas.openxmlformats.org/drawingml/2006/main">
            <a:off x="9048750" y="42862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29,762 pairs</a:t>
            </a:r>
          </a:p>
        </p:txBody>
      </p:sp>
      <p:sp>
        <p:nvSpPr>
          <p:cNvPr id="23" name="">
            <a:extLst xmlns:a="http://schemas.openxmlformats.org/drawingml/2006/main">
              <a:ext uri="{FF2B5EF4-FFF2-40B4-BE49-F238E27FC236}">
                <a16:creationId xmlns:a16="http://schemas.microsoft.com/office/drawing/2014/main" id="{BDE7A3D9-9A25-44F9-8B05-656A6EA48472}"/>
              </a:ext>
            </a:extLst>
          </p:cNvPr>
          <p:cNvSpPr>
            <a:spLocks xmlns:a="http://schemas.openxmlformats.org/drawingml/2006/main" noGrp="1"/>
          </p:cNvSpPr>
          <p:nvPr/>
        </p:nvSpPr>
        <p:spPr>
          <a:xfrm xmlns:a="http://schemas.openxmlformats.org/drawingml/2006/main">
            <a:off x="9001125" y="47625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5021"/>
          </a:bodyPr>
          <a:lstStyle xmlns:a="http://schemas.openxmlformats.org/drawingml/2006/main"/>
          <a:p xmlns:a="http://schemas.openxmlformats.org/drawingml/2006/main">
            <a:pPr algn="ctr">
              <a:defRPr sz="1275" b="0">
                <a:solidFill>
                  <a:srgbClr val="666666"/>
                </a:solidFill>
                <a:latin typeface="Aptos"/>
                <a:ea typeface="Aptos"/>
                <a:cs typeface="Aptos"/>
              </a:defRPr>
            </a:pPr>
            <a:r>
              <a:rPr sz="1275" b="0">
                <a:solidFill>
                  <a:srgbClr val="666666"/>
                </a:solidFill>
                <a:latin typeface="Aptos"/>
                <a:ea typeface="Aptos"/>
                <a:cs typeface="Aptos"/>
              </a:rPr>
              <a:t>The similarity score predicts difficulty, but does not explain whether the input was valid.</a:t>
            </a:r>
          </a:p>
        </p:txBody>
      </p:sp>
    </p:spTree>
    <p:extLst>
      <p:ext uri="{BB962C8B-B14F-4D97-AF65-F5344CB8AC3E}">
        <p14:creationId xmlns:p14="http://schemas.microsoft.com/office/powerpoint/2010/main" val="25855141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5748"/>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The blocker — many BCB fragments were not valid programs</a:t>
            </a:r>
          </a:p>
        </p:txBody>
      </p:sp>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4c2f2231c79f4931"/>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C465D1F-8B3E-4469-BD89-B54C9C3547D3}"/>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F0A757"/>
                </a:solidFill>
                <a:latin typeface="Aptos"/>
                <a:ea typeface="Aptos"/>
                <a:cs typeface="Aptos"/>
              </a:defRPr>
            </a:pPr>
            <a:r>
              <a:rPr sz="1050" b="1">
                <a:solidFill>
                  <a:srgbClr val="F0A757"/>
                </a:solidFill>
                <a:latin typeface="Aptos"/>
                <a:ea typeface="Aptos"/>
                <a:cs typeface="Aptos"/>
              </a:rPr>
              <a:t>TRANSITION</a:t>
            </a:r>
          </a:p>
        </p:txBody>
      </p:sp>
      <p:sp>
        <p:nvSpPr>
          <p:cNvPr id="8" name="">
            <a:extLst xmlns:a="http://schemas.openxmlformats.org/drawingml/2006/main">
              <a:ext uri="{FF2B5EF4-FFF2-40B4-BE49-F238E27FC236}">
                <a16:creationId xmlns:a16="http://schemas.microsoft.com/office/drawing/2014/main" id="{D242C917-F418-4BCE-B129-84231C061E25}"/>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Wrapper compilation could fail before the detector was really tested</a:t>
            </a:r>
          </a:p>
        </p:txBody>
      </p:sp>
      <p:sp>
        <p:nvSpPr>
          <p:cNvPr id="9" name="">
            <a:extLst xmlns:a="http://schemas.openxmlformats.org/drawingml/2006/main">
              <a:ext uri="{FF2B5EF4-FFF2-40B4-BE49-F238E27FC236}">
                <a16:creationId xmlns:a16="http://schemas.microsoft.com/office/drawing/2014/main" id="{C7BCF916-8DDB-480F-BB57-46189AE6F728}"/>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54CC2837-9640-4E57-8C8F-DB99657BBD0B}"/>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8 / 24</a:t>
            </a:r>
          </a:p>
        </p:txBody>
      </p:sp>
      <p:sp>
        <p:nvSpPr>
          <p:cNvPr id="11" name="">
            <a:extLst xmlns:a="http://schemas.openxmlformats.org/drawingml/2006/main">
              <a:ext uri="{FF2B5EF4-FFF2-40B4-BE49-F238E27FC236}">
                <a16:creationId xmlns:a16="http://schemas.microsoft.com/office/drawing/2014/main" id="{394C46E0-6723-483F-8FD0-98FD1047B952}"/>
              </a:ext>
            </a:extLst>
          </p:cNvPr>
          <p:cNvSpPr>
            <a:spLocks xmlns:a="http://schemas.openxmlformats.org/drawingml/2006/main" noGrp="1"/>
          </p:cNvSpPr>
          <p:nvPr/>
        </p:nvSpPr>
        <p:spPr>
          <a:xfrm xmlns:a="http://schemas.openxmlformats.org/drawingml/2006/main">
            <a:off x="666750" y="16192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E4002B"/>
                </a:solidFill>
                <a:latin typeface="Aptos Display"/>
                <a:ea typeface="Aptos Display"/>
                <a:cs typeface="Aptos Display"/>
              </a:defRPr>
            </a:pPr>
            <a:r>
              <a:rPr sz="3600" b="1">
                <a:solidFill>
                  <a:srgbClr val="E4002B"/>
                </a:solidFill>
                <a:latin typeface="Aptos Display"/>
                <a:ea typeface="Aptos Display"/>
                <a:cs typeface="Aptos Display"/>
              </a:rPr>
              <a:t>118 / 140</a:t>
            </a:r>
          </a:p>
        </p:txBody>
      </p:sp>
      <p:sp>
        <p:nvSpPr>
          <p:cNvPr id="12" name="">
            <a:extLst xmlns:a="http://schemas.openxmlformats.org/drawingml/2006/main">
              <a:ext uri="{FF2B5EF4-FFF2-40B4-BE49-F238E27FC236}">
                <a16:creationId xmlns:a16="http://schemas.microsoft.com/office/drawing/2014/main" id="{298E14DB-F9EB-434C-91D7-8B2379E6A221}"/>
              </a:ext>
            </a:extLst>
          </p:cNvPr>
          <p:cNvSpPr>
            <a:spLocks xmlns:a="http://schemas.openxmlformats.org/drawingml/2006/main" noGrp="1"/>
          </p:cNvSpPr>
          <p:nvPr/>
        </p:nvSpPr>
        <p:spPr>
          <a:xfrm xmlns:a="http://schemas.openxmlformats.org/drawingml/2006/main">
            <a:off x="666750" y="2286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smoke pairs used fallback</a:t>
            </a:r>
          </a:p>
        </p:txBody>
      </p:sp>
      <p:sp>
        <p:nvSpPr>
          <p:cNvPr id="13" name="">
            <a:extLst xmlns:a="http://schemas.openxmlformats.org/drawingml/2006/main">
              <a:ext uri="{FF2B5EF4-FFF2-40B4-BE49-F238E27FC236}">
                <a16:creationId xmlns:a16="http://schemas.microsoft.com/office/drawing/2014/main" id="{B08A89E4-AA27-4F3C-BACE-49D541A240B2}"/>
              </a:ext>
            </a:extLst>
          </p:cNvPr>
          <p:cNvSpPr>
            <a:spLocks xmlns:a="http://schemas.openxmlformats.org/drawingml/2006/main" noGrp="1"/>
          </p:cNvSpPr>
          <p:nvPr/>
        </p:nvSpPr>
        <p:spPr>
          <a:xfrm xmlns:a="http://schemas.openxmlformats.org/drawingml/2006/main">
            <a:off x="666750" y="26193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Only 22 used the full semantic path</a:t>
            </a:r>
          </a:p>
        </p:txBody>
      </p:sp>
      <p:sp>
        <p:nvSpPr>
          <p:cNvPr id="14" name="">
            <a:extLst xmlns:a="http://schemas.openxmlformats.org/drawingml/2006/main">
              <a:ext uri="{FF2B5EF4-FFF2-40B4-BE49-F238E27FC236}">
                <a16:creationId xmlns:a16="http://schemas.microsoft.com/office/drawing/2014/main" id="{67542550-5FF3-4B2D-BAEF-9138A8048D73}"/>
              </a:ext>
            </a:extLst>
          </p:cNvPr>
          <p:cNvSpPr>
            <a:spLocks xmlns:a="http://schemas.openxmlformats.org/drawingml/2006/main" noGrp="1"/>
          </p:cNvSpPr>
          <p:nvPr/>
        </p:nvSpPr>
        <p:spPr>
          <a:xfrm xmlns:a="http://schemas.openxmlformats.org/drawingml/2006/main">
            <a:off x="4095750" y="1809750"/>
            <a:ext cx="400050" cy="400050"/>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D209A90-1944-435D-8DEF-68F284C9412C}"/>
              </a:ext>
            </a:extLst>
          </p:cNvPr>
          <p:cNvSpPr>
            <a:spLocks xmlns:a="http://schemas.openxmlformats.org/drawingml/2006/main" noGrp="1"/>
          </p:cNvSpPr>
          <p:nvPr/>
        </p:nvSpPr>
        <p:spPr>
          <a:xfrm xmlns:a="http://schemas.openxmlformats.org/drawingml/2006/main">
            <a:off x="4095750" y="1809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6" name="">
            <a:extLst xmlns:a="http://schemas.openxmlformats.org/drawingml/2006/main">
              <a:ext uri="{FF2B5EF4-FFF2-40B4-BE49-F238E27FC236}">
                <a16:creationId xmlns:a16="http://schemas.microsoft.com/office/drawing/2014/main" id="{FBB3E847-A085-4DA6-A0B5-73E4CD214D45}"/>
              </a:ext>
            </a:extLst>
          </p:cNvPr>
          <p:cNvSpPr>
            <a:spLocks xmlns:a="http://schemas.openxmlformats.org/drawingml/2006/main" noGrp="1"/>
          </p:cNvSpPr>
          <p:nvPr/>
        </p:nvSpPr>
        <p:spPr>
          <a:xfrm xmlns:a="http://schemas.openxmlformats.org/drawingml/2006/main">
            <a:off x="4695825" y="17907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650" b="1">
                <a:solidFill>
                  <a:srgbClr val="232323"/>
                </a:solidFill>
                <a:latin typeface="Aptos"/>
                <a:ea typeface="Aptos"/>
                <a:cs typeface="Aptos"/>
              </a:defRPr>
            </a:pPr>
            <a:r>
              <a:rPr sz="1650" b="1">
                <a:solidFill>
                  <a:srgbClr val="232323"/>
                </a:solidFill>
                <a:latin typeface="Aptos"/>
                <a:ea typeface="Aptos"/>
                <a:cs typeface="Aptos"/>
              </a:rPr>
              <a:t>BCB gives a fragment</a:t>
            </a:r>
          </a:p>
        </p:txBody>
      </p:sp>
      <p:sp>
        <p:nvSpPr>
          <p:cNvPr id="17" name="">
            <a:extLst xmlns:a="http://schemas.openxmlformats.org/drawingml/2006/main">
              <a:ext uri="{FF2B5EF4-FFF2-40B4-BE49-F238E27FC236}">
                <a16:creationId xmlns:a16="http://schemas.microsoft.com/office/drawing/2014/main" id="{17D45DCB-4DFF-4993-A352-DFD2272DD5B7}"/>
              </a:ext>
            </a:extLst>
          </p:cNvPr>
          <p:cNvSpPr>
            <a:spLocks xmlns:a="http://schemas.openxmlformats.org/drawingml/2006/main" noGrp="1"/>
          </p:cNvSpPr>
          <p:nvPr/>
        </p:nvSpPr>
        <p:spPr>
          <a:xfrm xmlns:a="http://schemas.openxmlformats.org/drawingml/2006/main">
            <a:off x="4695825" y="209550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A method body may depend on fields, imports, or helper methods.</a:t>
            </a:r>
          </a:p>
        </p:txBody>
      </p:sp>
      <p:sp>
        <p:nvSpPr>
          <p:cNvPr id="18" name="">
            <a:extLst xmlns:a="http://schemas.openxmlformats.org/drawingml/2006/main">
              <a:ext uri="{FF2B5EF4-FFF2-40B4-BE49-F238E27FC236}">
                <a16:creationId xmlns:a16="http://schemas.microsoft.com/office/drawing/2014/main" id="{D68C28A5-AA0A-46A4-A5B8-B0C8382C7EE4}"/>
              </a:ext>
            </a:extLst>
          </p:cNvPr>
          <p:cNvSpPr>
            <a:spLocks xmlns:a="http://schemas.openxmlformats.org/drawingml/2006/main" noGrp="1"/>
          </p:cNvSpPr>
          <p:nvPr/>
        </p:nvSpPr>
        <p:spPr>
          <a:xfrm xmlns:a="http://schemas.openxmlformats.org/drawingml/2006/main">
            <a:off x="4095750" y="2876550"/>
            <a:ext cx="400050" cy="400050"/>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6530275-23EA-4956-BE49-29676DD58EB1}"/>
              </a:ext>
            </a:extLst>
          </p:cNvPr>
          <p:cNvSpPr>
            <a:spLocks xmlns:a="http://schemas.openxmlformats.org/drawingml/2006/main" noGrp="1"/>
          </p:cNvSpPr>
          <p:nvPr/>
        </p:nvSpPr>
        <p:spPr>
          <a:xfrm xmlns:a="http://schemas.openxmlformats.org/drawingml/2006/main">
            <a:off x="4095750" y="28765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6BF90139-BE53-4863-9B2C-6C089BC8C175}"/>
              </a:ext>
            </a:extLst>
          </p:cNvPr>
          <p:cNvSpPr>
            <a:spLocks xmlns:a="http://schemas.openxmlformats.org/drawingml/2006/main" noGrp="1"/>
          </p:cNvSpPr>
          <p:nvPr/>
        </p:nvSpPr>
        <p:spPr>
          <a:xfrm xmlns:a="http://schemas.openxmlformats.org/drawingml/2006/main">
            <a:off x="4695825" y="28575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650" b="1">
                <a:solidFill>
                  <a:srgbClr val="232323"/>
                </a:solidFill>
                <a:latin typeface="Aptos"/>
                <a:ea typeface="Aptos"/>
                <a:cs typeface="Aptos"/>
              </a:defRPr>
            </a:pPr>
            <a:r>
              <a:rPr sz="1650" b="1">
                <a:solidFill>
                  <a:srgbClr val="232323"/>
                </a:solidFill>
                <a:latin typeface="Aptos"/>
                <a:ea typeface="Aptos"/>
                <a:cs typeface="Aptos"/>
              </a:rPr>
              <a:t>The pipeline wraps it</a:t>
            </a:r>
          </a:p>
        </p:txBody>
      </p:sp>
      <p:sp>
        <p:nvSpPr>
          <p:cNvPr id="21" name="">
            <a:extLst xmlns:a="http://schemas.openxmlformats.org/drawingml/2006/main">
              <a:ext uri="{FF2B5EF4-FFF2-40B4-BE49-F238E27FC236}">
                <a16:creationId xmlns:a16="http://schemas.microsoft.com/office/drawing/2014/main" id="{642D0366-318D-4E65-8F41-7EB6C8BC113F}"/>
              </a:ext>
            </a:extLst>
          </p:cNvPr>
          <p:cNvSpPr>
            <a:spLocks xmlns:a="http://schemas.openxmlformats.org/drawingml/2006/main" noGrp="1"/>
          </p:cNvSpPr>
          <p:nvPr/>
        </p:nvSpPr>
        <p:spPr>
          <a:xfrm xmlns:a="http://schemas.openxmlformats.org/drawingml/2006/main">
            <a:off x="4695825" y="316230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public class LeftInput { …fragment… }</a:t>
            </a:r>
          </a:p>
        </p:txBody>
      </p:sp>
      <p:sp>
        <p:nvSpPr>
          <p:cNvPr id="22" name="">
            <a:extLst xmlns:a="http://schemas.openxmlformats.org/drawingml/2006/main">
              <a:ext uri="{FF2B5EF4-FFF2-40B4-BE49-F238E27FC236}">
                <a16:creationId xmlns:a16="http://schemas.microsoft.com/office/drawing/2014/main" id="{5FE677AF-823A-4C2C-83E4-1B90A31DCE08}"/>
              </a:ext>
            </a:extLst>
          </p:cNvPr>
          <p:cNvSpPr>
            <a:spLocks xmlns:a="http://schemas.openxmlformats.org/drawingml/2006/main" noGrp="1"/>
          </p:cNvSpPr>
          <p:nvPr/>
        </p:nvSpPr>
        <p:spPr>
          <a:xfrm xmlns:a="http://schemas.openxmlformats.org/drawingml/2006/main">
            <a:off x="4095750" y="3943350"/>
            <a:ext cx="400050" cy="400050"/>
          </a:xfrm>
          <a:prstGeom xmlns:a="http://schemas.openxmlformats.org/drawingml/2006/main" prst="ellipse">
            <a:avLst/>
          </a:prstGeom>
          <a:solidFill xmlns:a="http://schemas.openxmlformats.org/drawingml/2006/main">
            <a:srgbClr val="E4002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21DB5C0-C49F-4996-851D-90215DD1BC43}"/>
              </a:ext>
            </a:extLst>
          </p:cNvPr>
          <p:cNvSpPr>
            <a:spLocks xmlns:a="http://schemas.openxmlformats.org/drawingml/2006/main" noGrp="1"/>
          </p:cNvSpPr>
          <p:nvPr/>
        </p:nvSpPr>
        <p:spPr>
          <a:xfrm xmlns:a="http://schemas.openxmlformats.org/drawingml/2006/main">
            <a:off x="4095750" y="3943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24" name="">
            <a:extLst xmlns:a="http://schemas.openxmlformats.org/drawingml/2006/main">
              <a:ext uri="{FF2B5EF4-FFF2-40B4-BE49-F238E27FC236}">
                <a16:creationId xmlns:a16="http://schemas.microsoft.com/office/drawing/2014/main" id="{02751C1A-E4B9-4BA0-A813-510C32CF6C36}"/>
              </a:ext>
            </a:extLst>
          </p:cNvPr>
          <p:cNvSpPr>
            <a:spLocks xmlns:a="http://schemas.openxmlformats.org/drawingml/2006/main" noGrp="1"/>
          </p:cNvSpPr>
          <p:nvPr/>
        </p:nvSpPr>
        <p:spPr>
          <a:xfrm xmlns:a="http://schemas.openxmlformats.org/drawingml/2006/main">
            <a:off x="4695825" y="39243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650" b="1">
                <a:solidFill>
                  <a:srgbClr val="232323"/>
                </a:solidFill>
                <a:latin typeface="Aptos"/>
                <a:ea typeface="Aptos"/>
                <a:cs typeface="Aptos"/>
              </a:defRPr>
            </a:pPr>
            <a:r>
              <a:rPr sz="1650" b="1">
                <a:solidFill>
                  <a:srgbClr val="232323"/>
                </a:solidFill>
                <a:latin typeface="Aptos"/>
                <a:ea typeface="Aptos"/>
                <a:cs typeface="Aptos"/>
              </a:rPr>
              <a:t>Original context is missing</a:t>
            </a:r>
          </a:p>
        </p:txBody>
      </p:sp>
      <p:sp>
        <p:nvSpPr>
          <p:cNvPr id="25" name="">
            <a:extLst xmlns:a="http://schemas.openxmlformats.org/drawingml/2006/main">
              <a:ext uri="{FF2B5EF4-FFF2-40B4-BE49-F238E27FC236}">
                <a16:creationId xmlns:a16="http://schemas.microsoft.com/office/drawing/2014/main" id="{922635F1-634F-482A-984C-C837374FE975}"/>
              </a:ext>
            </a:extLst>
          </p:cNvPr>
          <p:cNvSpPr>
            <a:spLocks xmlns:a="http://schemas.openxmlformats.org/drawingml/2006/main" noGrp="1"/>
          </p:cNvSpPr>
          <p:nvPr/>
        </p:nvSpPr>
        <p:spPr>
          <a:xfrm xmlns:a="http://schemas.openxmlformats.org/drawingml/2006/main">
            <a:off x="4695825" y="422910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The compiler fails; a stub cannot safely invent program state.</a:t>
            </a:r>
          </a:p>
        </p:txBody>
      </p:sp>
      <p:sp>
        <p:nvSpPr>
          <p:cNvPr id="26" name="">
            <a:extLst xmlns:a="http://schemas.openxmlformats.org/drawingml/2006/main">
              <a:ext uri="{FF2B5EF4-FFF2-40B4-BE49-F238E27FC236}">
                <a16:creationId xmlns:a16="http://schemas.microsoft.com/office/drawing/2014/main" id="{9BAD3D99-07E0-4394-8CDA-088357096599}"/>
              </a:ext>
            </a:extLst>
          </p:cNvPr>
          <p:cNvSpPr>
            <a:spLocks xmlns:a="http://schemas.openxmlformats.org/drawingml/2006/main" noGrp="1"/>
          </p:cNvSpPr>
          <p:nvPr/>
        </p:nvSpPr>
        <p:spPr>
          <a:xfrm xmlns:a="http://schemas.openxmlformats.org/drawingml/2006/main">
            <a:off x="666750" y="43338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78725"/>
          </a:bodyPr>
          <a:lstStyle xmlns:a="http://schemas.openxmlformats.org/drawingml/2006/main"/>
          <a:p xmlns:a="http://schemas.openxmlformats.org/drawingml/2006/main">
            <a:pPr algn="ctr">
              <a:defRPr sz="1350" b="0">
                <a:solidFill>
                  <a:srgbClr val="666666"/>
                </a:solidFill>
                <a:latin typeface="Aptos"/>
                <a:ea typeface="Aptos"/>
                <a:cs typeface="Aptos"/>
              </a:defRPr>
            </a:pPr>
            <a:r>
              <a:rPr sz="1350" b="0">
                <a:solidFill>
                  <a:srgbClr val="666666"/>
                </a:solidFill>
                <a:latin typeface="Aptos"/>
                <a:ea typeface="Aptos"/>
                <a:cs typeface="Aptos"/>
              </a:rPr>
              <a:t>Therefore the measured rate mixed two things:</a:t>
            </a:r>
          </a:p>
        </p:txBody>
      </p:sp>
      <p:sp>
        <p:nvSpPr>
          <p:cNvPr id="27" name="">
            <a:extLst xmlns:a="http://schemas.openxmlformats.org/drawingml/2006/main">
              <a:ext uri="{FF2B5EF4-FFF2-40B4-BE49-F238E27FC236}">
                <a16:creationId xmlns:a16="http://schemas.microsoft.com/office/drawing/2014/main" id="{196ECEA9-4160-4DCA-A5B3-5B921431A07D}"/>
              </a:ext>
            </a:extLst>
          </p:cNvPr>
          <p:cNvSpPr>
            <a:spLocks xmlns:a="http://schemas.openxmlformats.org/drawingml/2006/main" noGrp="1"/>
          </p:cNvSpPr>
          <p:nvPr/>
        </p:nvSpPr>
        <p:spPr>
          <a:xfrm xmlns:a="http://schemas.openxmlformats.org/drawingml/2006/main">
            <a:off x="666750" y="4714875"/>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E4002B"/>
                </a:solidFill>
                <a:latin typeface="Aptos"/>
                <a:ea typeface="Aptos"/>
                <a:cs typeface="Aptos"/>
              </a:defRPr>
            </a:pPr>
            <a:r>
              <a:rPr sz="1800" b="1">
                <a:solidFill>
                  <a:srgbClr val="E4002B"/>
                </a:solidFill>
                <a:latin typeface="Aptos"/>
                <a:ea typeface="Aptos"/>
                <a:cs typeface="Aptos"/>
              </a:rPr>
              <a:t>input validity + detector performance</a:t>
            </a:r>
          </a:p>
        </p:txBody>
      </p:sp>
    </p:spTree>
    <p:extLst>
      <p:ext uri="{BB962C8B-B14F-4D97-AF65-F5344CB8AC3E}">
        <p14:creationId xmlns:p14="http://schemas.microsoft.com/office/powerpoint/2010/main" val="25855141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9017"/>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Decision — keep BCB for diagnosis, change the formal test</a:t>
            </a:r>
          </a:p>
        </p:txBody>
      </p:sp>
      <p:pic>
        <p:nvPicPr>
          <p:cNvPr id="32" name="Picture 3"/>
          <p:cNvPicPr>
            <a:picLocks xmlns:a="http://schemas.openxmlformats.org/drawingml/2006/main" noChangeAspect="1"/>
          </p:cNvPicPr>
          <p:nvPr/>
        </p:nvPicPr>
        <p:blipFill>
          <a:blip xmlns:r="http://schemas.openxmlformats.org/officeDocument/2006/relationships" xmlns:a="http://schemas.openxmlformats.org/drawingml/2006/main" r:embed="R1d4d09a784474bf7"/>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9076C3B-72FE-4628-84FC-82BFB43E0496}"/>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F0A757"/>
                </a:solidFill>
                <a:latin typeface="Aptos"/>
                <a:ea typeface="Aptos"/>
                <a:cs typeface="Aptos"/>
              </a:defRPr>
            </a:pPr>
            <a:r>
              <a:rPr sz="1050" b="1">
                <a:solidFill>
                  <a:srgbClr val="F0A757"/>
                </a:solidFill>
                <a:latin typeface="Aptos"/>
                <a:ea typeface="Aptos"/>
                <a:cs typeface="Aptos"/>
              </a:rPr>
              <a:t>TRANSITION</a:t>
            </a:r>
          </a:p>
        </p:txBody>
      </p:sp>
      <p:sp>
        <p:nvSpPr>
          <p:cNvPr id="8" name="">
            <a:extLst xmlns:a="http://schemas.openxmlformats.org/drawingml/2006/main">
              <a:ext uri="{FF2B5EF4-FFF2-40B4-BE49-F238E27FC236}">
                <a16:creationId xmlns:a16="http://schemas.microsoft.com/office/drawing/2014/main" id="{339561C7-DC0C-46AE-8F01-E4BD7BE8C400}"/>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The unit of evidence must be a compilable, controlled pair</a:t>
            </a:r>
          </a:p>
        </p:txBody>
      </p:sp>
      <p:sp>
        <p:nvSpPr>
          <p:cNvPr id="9" name="">
            <a:extLst xmlns:a="http://schemas.openxmlformats.org/drawingml/2006/main">
              <a:ext uri="{FF2B5EF4-FFF2-40B4-BE49-F238E27FC236}">
                <a16:creationId xmlns:a16="http://schemas.microsoft.com/office/drawing/2014/main" id="{60619D8F-B67C-43E0-8EFC-65EBA2AF06C9}"/>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DE5BC280-9F17-49C6-A1A5-A15DDA51699E}"/>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9 / 24</a:t>
            </a:r>
          </a:p>
        </p:txBody>
      </p:sp>
      <p:sp>
        <p:nvSpPr>
          <p:cNvPr id="11" name="">
            <a:extLst xmlns:a="http://schemas.openxmlformats.org/drawingml/2006/main">
              <a:ext uri="{FF2B5EF4-FFF2-40B4-BE49-F238E27FC236}">
                <a16:creationId xmlns:a16="http://schemas.microsoft.com/office/drawing/2014/main" id="{1F2A95D8-423F-4C8B-8775-088B37157DBE}"/>
              </a:ext>
            </a:extLst>
          </p:cNvPr>
          <p:cNvSpPr>
            <a:spLocks xmlns:a="http://schemas.openxmlformats.org/drawingml/2006/main" noGrp="1"/>
          </p:cNvSpPr>
          <p:nvPr/>
        </p:nvSpPr>
        <p:spPr>
          <a:xfrm xmlns:a="http://schemas.openxmlformats.org/drawingml/2006/main">
            <a:off x="1000125" y="17145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2025" b="1">
                <a:solidFill>
                  <a:srgbClr val="E4002B"/>
                </a:solidFill>
                <a:latin typeface="Aptos"/>
                <a:ea typeface="Aptos"/>
                <a:cs typeface="Aptos"/>
              </a:defRPr>
            </a:pPr>
            <a:r>
              <a:rPr sz="2025" b="1">
                <a:solidFill>
                  <a:srgbClr val="E4002B"/>
                </a:solidFill>
                <a:latin typeface="Aptos"/>
                <a:ea typeface="Aptos"/>
                <a:cs typeface="Aptos"/>
              </a:rPr>
              <a:t>V1: BCB fragments</a:t>
            </a:r>
          </a:p>
        </p:txBody>
      </p:sp>
      <p:sp>
        <p:nvSpPr>
          <p:cNvPr id="12" name="">
            <a:extLst xmlns:a="http://schemas.openxmlformats.org/drawingml/2006/main">
              <a:ext uri="{FF2B5EF4-FFF2-40B4-BE49-F238E27FC236}">
                <a16:creationId xmlns:a16="http://schemas.microsoft.com/office/drawing/2014/main" id="{8176AD15-3FA3-4383-8727-1B1AF55629CE}"/>
              </a:ext>
            </a:extLst>
          </p:cNvPr>
          <p:cNvSpPr>
            <a:spLocks xmlns:a="http://schemas.openxmlformats.org/drawingml/2006/main" noGrp="1"/>
          </p:cNvSpPr>
          <p:nvPr/>
        </p:nvSpPr>
        <p:spPr>
          <a:xfrm xmlns:a="http://schemas.openxmlformats.org/drawingml/2006/main">
            <a:off x="6429375" y="171450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2025" b="1">
                <a:solidFill>
                  <a:srgbClr val="4F2683"/>
                </a:solidFill>
                <a:latin typeface="Aptos"/>
                <a:ea typeface="Aptos"/>
                <a:cs typeface="Aptos"/>
              </a:defRPr>
            </a:pPr>
            <a:r>
              <a:rPr sz="2025" b="1">
                <a:solidFill>
                  <a:srgbClr val="4F2683"/>
                </a:solidFill>
                <a:latin typeface="Aptos"/>
                <a:ea typeface="Aptos"/>
                <a:cs typeface="Aptos"/>
              </a:rPr>
              <a:t>V2: compile-preserving mutations</a:t>
            </a:r>
          </a:p>
        </p:txBody>
      </p:sp>
      <p:sp>
        <p:nvSpPr>
          <p:cNvPr id="13" name="">
            <a:extLst xmlns:a="http://schemas.openxmlformats.org/drawingml/2006/main">
              <a:ext uri="{FF2B5EF4-FFF2-40B4-BE49-F238E27FC236}">
                <a16:creationId xmlns:a16="http://schemas.microsoft.com/office/drawing/2014/main" id="{0764B209-FDEB-417E-8829-22F9F9345CFA}"/>
              </a:ext>
            </a:extLst>
          </p:cNvPr>
          <p:cNvSpPr>
            <a:spLocks xmlns:a="http://schemas.openxmlformats.org/drawingml/2006/main" noGrp="1"/>
          </p:cNvSpPr>
          <p:nvPr/>
        </p:nvSpPr>
        <p:spPr>
          <a:xfrm xmlns:a="http://schemas.openxmlformats.org/drawingml/2006/main">
            <a:off x="5715000" y="1666875"/>
            <a:ext cx="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4" name="">
            <a:extLst xmlns:a="http://schemas.openxmlformats.org/drawingml/2006/main">
              <a:ext uri="{FF2B5EF4-FFF2-40B4-BE49-F238E27FC236}">
                <a16:creationId xmlns:a16="http://schemas.microsoft.com/office/drawing/2014/main" id="{8FDCF75A-BC7B-479F-BFE4-B3D187D019E4}"/>
              </a:ext>
            </a:extLst>
          </p:cNvPr>
          <p:cNvSpPr>
            <a:spLocks xmlns:a="http://schemas.openxmlformats.org/drawingml/2006/main" noGrp="1"/>
          </p:cNvSpPr>
          <p:nvPr/>
        </p:nvSpPr>
        <p:spPr>
          <a:xfrm xmlns:a="http://schemas.openxmlformats.org/drawingml/2006/main">
            <a:off x="1000125" y="24479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Input</a:t>
            </a:r>
          </a:p>
        </p:txBody>
      </p:sp>
      <p:sp>
        <p:nvSpPr>
          <p:cNvPr id="15" name="">
            <a:extLst xmlns:a="http://schemas.openxmlformats.org/drawingml/2006/main">
              <a:ext uri="{FF2B5EF4-FFF2-40B4-BE49-F238E27FC236}">
                <a16:creationId xmlns:a16="http://schemas.microsoft.com/office/drawing/2014/main" id="{2BFF1AB8-0DFC-414E-88C5-A8648048A391}"/>
              </a:ext>
            </a:extLst>
          </p:cNvPr>
          <p:cNvSpPr>
            <a:spLocks xmlns:a="http://schemas.openxmlformats.org/drawingml/2006/main" noGrp="1"/>
          </p:cNvSpPr>
          <p:nvPr/>
        </p:nvSpPr>
        <p:spPr>
          <a:xfrm xmlns:a="http://schemas.openxmlformats.org/drawingml/2006/main">
            <a:off x="2143125" y="24479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fragment + synthetic wrapper</a:t>
            </a:r>
          </a:p>
        </p:txBody>
      </p:sp>
      <p:sp>
        <p:nvSpPr>
          <p:cNvPr id="16" name="">
            <a:extLst xmlns:a="http://schemas.openxmlformats.org/drawingml/2006/main">
              <a:ext uri="{FF2B5EF4-FFF2-40B4-BE49-F238E27FC236}">
                <a16:creationId xmlns:a16="http://schemas.microsoft.com/office/drawing/2014/main" id="{C5C06377-37B9-49CA-880D-0A4A0498D78F}"/>
              </a:ext>
            </a:extLst>
          </p:cNvPr>
          <p:cNvSpPr>
            <a:spLocks xmlns:a="http://schemas.openxmlformats.org/drawingml/2006/main" noGrp="1"/>
          </p:cNvSpPr>
          <p:nvPr/>
        </p:nvSpPr>
        <p:spPr>
          <a:xfrm xmlns:a="http://schemas.openxmlformats.org/drawingml/2006/main">
            <a:off x="1000125" y="30956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Validity</a:t>
            </a:r>
          </a:p>
        </p:txBody>
      </p:sp>
      <p:sp>
        <p:nvSpPr>
          <p:cNvPr id="17" name="">
            <a:extLst xmlns:a="http://schemas.openxmlformats.org/drawingml/2006/main">
              <a:ext uri="{FF2B5EF4-FFF2-40B4-BE49-F238E27FC236}">
                <a16:creationId xmlns:a16="http://schemas.microsoft.com/office/drawing/2014/main" id="{CBA0565A-F1CC-44B9-9188-96010E5DC0CC}"/>
              </a:ext>
            </a:extLst>
          </p:cNvPr>
          <p:cNvSpPr>
            <a:spLocks xmlns:a="http://schemas.openxmlformats.org/drawingml/2006/main" noGrp="1"/>
          </p:cNvSpPr>
          <p:nvPr/>
        </p:nvSpPr>
        <p:spPr>
          <a:xfrm xmlns:a="http://schemas.openxmlformats.org/drawingml/2006/main">
            <a:off x="2143125" y="30956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often uncertain</a:t>
            </a:r>
          </a:p>
        </p:txBody>
      </p:sp>
      <p:sp>
        <p:nvSpPr>
          <p:cNvPr id="18" name="">
            <a:extLst xmlns:a="http://schemas.openxmlformats.org/drawingml/2006/main">
              <a:ext uri="{FF2B5EF4-FFF2-40B4-BE49-F238E27FC236}">
                <a16:creationId xmlns:a16="http://schemas.microsoft.com/office/drawing/2014/main" id="{99DF46D0-4ED1-4AD8-B202-07A66421A9A4}"/>
              </a:ext>
            </a:extLst>
          </p:cNvPr>
          <p:cNvSpPr>
            <a:spLocks xmlns:a="http://schemas.openxmlformats.org/drawingml/2006/main" noGrp="1"/>
          </p:cNvSpPr>
          <p:nvPr/>
        </p:nvSpPr>
        <p:spPr>
          <a:xfrm xmlns:a="http://schemas.openxmlformats.org/drawingml/2006/main">
            <a:off x="1000125" y="37433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Ground truth</a:t>
            </a:r>
          </a:p>
        </p:txBody>
      </p:sp>
      <p:sp>
        <p:nvSpPr>
          <p:cNvPr id="19" name="">
            <a:extLst xmlns:a="http://schemas.openxmlformats.org/drawingml/2006/main">
              <a:ext uri="{FF2B5EF4-FFF2-40B4-BE49-F238E27FC236}">
                <a16:creationId xmlns:a16="http://schemas.microsoft.com/office/drawing/2014/main" id="{3AC60A4C-58B9-4C80-AA48-44B2F7577E10}"/>
              </a:ext>
            </a:extLst>
          </p:cNvPr>
          <p:cNvSpPr>
            <a:spLocks xmlns:a="http://schemas.openxmlformats.org/drawingml/2006/main" noGrp="1"/>
          </p:cNvSpPr>
          <p:nvPr/>
        </p:nvSpPr>
        <p:spPr>
          <a:xfrm xmlns:a="http://schemas.openxmlformats.org/drawingml/2006/main">
            <a:off x="2143125" y="37433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clone label only</a:t>
            </a:r>
          </a:p>
        </p:txBody>
      </p:sp>
      <p:sp>
        <p:nvSpPr>
          <p:cNvPr id="20" name="">
            <a:extLst xmlns:a="http://schemas.openxmlformats.org/drawingml/2006/main">
              <a:ext uri="{FF2B5EF4-FFF2-40B4-BE49-F238E27FC236}">
                <a16:creationId xmlns:a16="http://schemas.microsoft.com/office/drawing/2014/main" id="{3199897E-6740-467B-9F39-9E5913884CFB}"/>
              </a:ext>
            </a:extLst>
          </p:cNvPr>
          <p:cNvSpPr>
            <a:spLocks xmlns:a="http://schemas.openxmlformats.org/drawingml/2006/main" noGrp="1"/>
          </p:cNvSpPr>
          <p:nvPr/>
        </p:nvSpPr>
        <p:spPr>
          <a:xfrm xmlns:a="http://schemas.openxmlformats.org/drawingml/2006/main">
            <a:off x="1000125" y="43910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Best use</a:t>
            </a:r>
          </a:p>
        </p:txBody>
      </p:sp>
      <p:sp>
        <p:nvSpPr>
          <p:cNvPr id="21" name="">
            <a:extLst xmlns:a="http://schemas.openxmlformats.org/drawingml/2006/main">
              <a:ext uri="{FF2B5EF4-FFF2-40B4-BE49-F238E27FC236}">
                <a16:creationId xmlns:a16="http://schemas.microsoft.com/office/drawing/2014/main" id="{BEBCBF02-E2C9-4DC1-86DA-8CE720C6F081}"/>
              </a:ext>
            </a:extLst>
          </p:cNvPr>
          <p:cNvSpPr>
            <a:spLocks xmlns:a="http://schemas.openxmlformats.org/drawingml/2006/main" noGrp="1"/>
          </p:cNvSpPr>
          <p:nvPr/>
        </p:nvSpPr>
        <p:spPr>
          <a:xfrm xmlns:a="http://schemas.openxmlformats.org/drawingml/2006/main">
            <a:off x="2143125" y="43910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diagnostic benchmark</a:t>
            </a:r>
          </a:p>
        </p:txBody>
      </p:sp>
      <p:sp>
        <p:nvSpPr>
          <p:cNvPr id="22" name="">
            <a:extLst xmlns:a="http://schemas.openxmlformats.org/drawingml/2006/main">
              <a:ext uri="{FF2B5EF4-FFF2-40B4-BE49-F238E27FC236}">
                <a16:creationId xmlns:a16="http://schemas.microsoft.com/office/drawing/2014/main" id="{A3437A4C-69A1-4AAF-B077-1363DA914C75}"/>
              </a:ext>
            </a:extLst>
          </p:cNvPr>
          <p:cNvSpPr>
            <a:spLocks xmlns:a="http://schemas.openxmlformats.org/drawingml/2006/main" noGrp="1"/>
          </p:cNvSpPr>
          <p:nvPr/>
        </p:nvSpPr>
        <p:spPr>
          <a:xfrm xmlns:a="http://schemas.openxmlformats.org/drawingml/2006/main">
            <a:off x="6429375" y="24479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Input</a:t>
            </a:r>
          </a:p>
        </p:txBody>
      </p:sp>
      <p:sp>
        <p:nvSpPr>
          <p:cNvPr id="23" name="">
            <a:extLst xmlns:a="http://schemas.openxmlformats.org/drawingml/2006/main">
              <a:ext uri="{FF2B5EF4-FFF2-40B4-BE49-F238E27FC236}">
                <a16:creationId xmlns:a16="http://schemas.microsoft.com/office/drawing/2014/main" id="{3A812919-CF05-401F-A146-67889756B9D7}"/>
              </a:ext>
            </a:extLst>
          </p:cNvPr>
          <p:cNvSpPr>
            <a:spLocks xmlns:a="http://schemas.openxmlformats.org/drawingml/2006/main" noGrp="1"/>
          </p:cNvSpPr>
          <p:nvPr/>
        </p:nvSpPr>
        <p:spPr>
          <a:xfrm xmlns:a="http://schemas.openxmlformats.org/drawingml/2006/main">
            <a:off x="7572375" y="24479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standalone compilable file</a:t>
            </a:r>
          </a:p>
        </p:txBody>
      </p:sp>
      <p:sp>
        <p:nvSpPr>
          <p:cNvPr id="24" name="">
            <a:extLst xmlns:a="http://schemas.openxmlformats.org/drawingml/2006/main">
              <a:ext uri="{FF2B5EF4-FFF2-40B4-BE49-F238E27FC236}">
                <a16:creationId xmlns:a16="http://schemas.microsoft.com/office/drawing/2014/main" id="{1A672FD8-3005-45AD-B3BA-0FAB9B467A98}"/>
              </a:ext>
            </a:extLst>
          </p:cNvPr>
          <p:cNvSpPr>
            <a:spLocks xmlns:a="http://schemas.openxmlformats.org/drawingml/2006/main" noGrp="1"/>
          </p:cNvSpPr>
          <p:nvPr/>
        </p:nvSpPr>
        <p:spPr>
          <a:xfrm xmlns:a="http://schemas.openxmlformats.org/drawingml/2006/main">
            <a:off x="6429375" y="30956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Validity</a:t>
            </a:r>
          </a:p>
        </p:txBody>
      </p:sp>
      <p:sp>
        <p:nvSpPr>
          <p:cNvPr id="25" name="">
            <a:extLst xmlns:a="http://schemas.openxmlformats.org/drawingml/2006/main">
              <a:ext uri="{FF2B5EF4-FFF2-40B4-BE49-F238E27FC236}">
                <a16:creationId xmlns:a16="http://schemas.microsoft.com/office/drawing/2014/main" id="{20FF404E-869F-4F21-A3CD-BA4B3DCABB17}"/>
              </a:ext>
            </a:extLst>
          </p:cNvPr>
          <p:cNvSpPr>
            <a:spLocks xmlns:a="http://schemas.openxmlformats.org/drawingml/2006/main" noGrp="1"/>
          </p:cNvSpPr>
          <p:nvPr/>
        </p:nvSpPr>
        <p:spPr>
          <a:xfrm xmlns:a="http://schemas.openxmlformats.org/drawingml/2006/main">
            <a:off x="7572375" y="30956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compile gate before running</a:t>
            </a:r>
          </a:p>
        </p:txBody>
      </p:sp>
      <p:sp>
        <p:nvSpPr>
          <p:cNvPr id="26" name="">
            <a:extLst xmlns:a="http://schemas.openxmlformats.org/drawingml/2006/main">
              <a:ext uri="{FF2B5EF4-FFF2-40B4-BE49-F238E27FC236}">
                <a16:creationId xmlns:a16="http://schemas.microsoft.com/office/drawing/2014/main" id="{7A2D074A-4566-447A-868A-4CB7F330C8C4}"/>
              </a:ext>
            </a:extLst>
          </p:cNvPr>
          <p:cNvSpPr>
            <a:spLocks xmlns:a="http://schemas.openxmlformats.org/drawingml/2006/main" noGrp="1"/>
          </p:cNvSpPr>
          <p:nvPr/>
        </p:nvSpPr>
        <p:spPr>
          <a:xfrm xmlns:a="http://schemas.openxmlformats.org/drawingml/2006/main">
            <a:off x="6429375" y="37433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Ground truth</a:t>
            </a:r>
          </a:p>
        </p:txBody>
      </p:sp>
      <p:sp>
        <p:nvSpPr>
          <p:cNvPr id="27" name="">
            <a:extLst xmlns:a="http://schemas.openxmlformats.org/drawingml/2006/main">
              <a:ext uri="{FF2B5EF4-FFF2-40B4-BE49-F238E27FC236}">
                <a16:creationId xmlns:a16="http://schemas.microsoft.com/office/drawing/2014/main" id="{44828813-5659-49E5-A72B-FE2BE93A55AB}"/>
              </a:ext>
            </a:extLst>
          </p:cNvPr>
          <p:cNvSpPr>
            <a:spLocks xmlns:a="http://schemas.openxmlformats.org/drawingml/2006/main" noGrp="1"/>
          </p:cNvSpPr>
          <p:nvPr/>
        </p:nvSpPr>
        <p:spPr>
          <a:xfrm xmlns:a="http://schemas.openxmlformats.org/drawingml/2006/main">
            <a:off x="7572375" y="37433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exact edited region + type</a:t>
            </a:r>
          </a:p>
        </p:txBody>
      </p:sp>
      <p:sp>
        <p:nvSpPr>
          <p:cNvPr id="28" name="">
            <a:extLst xmlns:a="http://schemas.openxmlformats.org/drawingml/2006/main">
              <a:ext uri="{FF2B5EF4-FFF2-40B4-BE49-F238E27FC236}">
                <a16:creationId xmlns:a16="http://schemas.microsoft.com/office/drawing/2014/main" id="{C7EBA635-67E6-45C3-835B-9EC7BC312A57}"/>
              </a:ext>
            </a:extLst>
          </p:cNvPr>
          <p:cNvSpPr>
            <a:spLocks xmlns:a="http://schemas.openxmlformats.org/drawingml/2006/main" noGrp="1"/>
          </p:cNvSpPr>
          <p:nvPr/>
        </p:nvSpPr>
        <p:spPr>
          <a:xfrm xmlns:a="http://schemas.openxmlformats.org/drawingml/2006/main">
            <a:off x="6429375" y="43910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666666"/>
                </a:solidFill>
                <a:latin typeface="Aptos"/>
                <a:ea typeface="Aptos"/>
                <a:cs typeface="Aptos"/>
              </a:defRPr>
            </a:pPr>
            <a:r>
              <a:rPr sz="1200" b="1">
                <a:solidFill>
                  <a:srgbClr val="666666"/>
                </a:solidFill>
                <a:latin typeface="Aptos"/>
                <a:ea typeface="Aptos"/>
                <a:cs typeface="Aptos"/>
              </a:rPr>
              <a:t>Best use</a:t>
            </a:r>
          </a:p>
        </p:txBody>
      </p:sp>
      <p:sp>
        <p:nvSpPr>
          <p:cNvPr id="29" name="">
            <a:extLst xmlns:a="http://schemas.openxmlformats.org/drawingml/2006/main">
              <a:ext uri="{FF2B5EF4-FFF2-40B4-BE49-F238E27FC236}">
                <a16:creationId xmlns:a16="http://schemas.microsoft.com/office/drawing/2014/main" id="{95280433-1D09-42C8-A338-EE83821AA7A0}"/>
              </a:ext>
            </a:extLst>
          </p:cNvPr>
          <p:cNvSpPr>
            <a:spLocks xmlns:a="http://schemas.openxmlformats.org/drawingml/2006/main" noGrp="1"/>
          </p:cNvSpPr>
          <p:nvPr/>
        </p:nvSpPr>
        <p:spPr>
          <a:xfrm xmlns:a="http://schemas.openxmlformats.org/drawingml/2006/main">
            <a:off x="7572375" y="43910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232323"/>
                </a:solidFill>
                <a:latin typeface="Aptos"/>
                <a:ea typeface="Aptos"/>
                <a:cs typeface="Aptos"/>
              </a:defRPr>
            </a:pPr>
            <a:r>
              <a:rPr sz="1500" b="0">
                <a:solidFill>
                  <a:srgbClr val="232323"/>
                </a:solidFill>
                <a:latin typeface="Aptos"/>
                <a:ea typeface="Aptos"/>
                <a:cs typeface="Aptos"/>
              </a:rPr>
              <a:t>formal detector evidence</a:t>
            </a:r>
          </a:p>
        </p:txBody>
      </p:sp>
      <p:sp>
        <p:nvSpPr>
          <p:cNvPr id="30" name="">
            <a:extLst xmlns:a="http://schemas.openxmlformats.org/drawingml/2006/main">
              <a:ext uri="{FF2B5EF4-FFF2-40B4-BE49-F238E27FC236}">
                <a16:creationId xmlns:a16="http://schemas.microsoft.com/office/drawing/2014/main" id="{D3572023-B3C9-4D87-98F6-3049D029A9A4}"/>
              </a:ext>
            </a:extLst>
          </p:cNvPr>
          <p:cNvSpPr>
            <a:spLocks xmlns:a="http://schemas.openxmlformats.org/drawingml/2006/main" noGrp="1"/>
          </p:cNvSpPr>
          <p:nvPr/>
        </p:nvSpPr>
        <p:spPr>
          <a:xfrm xmlns:a="http://schemas.openxmlformats.org/drawingml/2006/main">
            <a:off x="1619250" y="5276850"/>
            <a:ext cx="8334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4F2683"/>
                </a:solidFill>
                <a:latin typeface="Aptos"/>
                <a:ea typeface="Aptos"/>
                <a:cs typeface="Aptos"/>
              </a:defRPr>
            </a:pPr>
            <a:r>
              <a:rPr sz="1500" b="1">
                <a:solidFill>
                  <a:srgbClr val="4F2683"/>
                </a:solidFill>
                <a:latin typeface="Aptos"/>
                <a:ea typeface="Aptos"/>
                <a:cs typeface="Aptos"/>
              </a:rPr>
              <a:t>Claim boundary: BCB results are shown, but V2 is the main evidence design.</a:t>
            </a:r>
          </a:p>
        </p:txBody>
      </p:sp>
    </p:spTree>
    <p:extLst>
      <p:ext uri="{BB962C8B-B14F-4D97-AF65-F5344CB8AC3E}">
        <p14:creationId xmlns:p14="http://schemas.microsoft.com/office/powerpoint/2010/main" val="25855141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corpus choice — start from code that already compiles</a:t>
            </a:r>
          </a:p>
        </p:txBody>
      </p:sp>
      <p:pic>
        <p:nvPicPr>
          <p:cNvPr id="20" name="Picture 3"/>
          <p:cNvPicPr>
            <a:picLocks xmlns:a="http://schemas.openxmlformats.org/drawingml/2006/main" noChangeAspect="1"/>
          </p:cNvPicPr>
          <p:nvPr/>
        </p:nvPicPr>
        <p:blipFill>
          <a:blip xmlns:r="http://schemas.openxmlformats.org/officeDocument/2006/relationships" xmlns:a="http://schemas.openxmlformats.org/drawingml/2006/main" r:embed="R5217393f0e124337"/>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DB5F0B-F0C8-48BC-9B8C-EFE087411BC1}"/>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24BD6601-BC41-409C-995E-F52C74D8F608}"/>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CodeNet Java250 was the cleanest source for standalone files</a:t>
            </a:r>
          </a:p>
        </p:txBody>
      </p:sp>
      <p:sp>
        <p:nvSpPr>
          <p:cNvPr id="9" name="">
            <a:extLst xmlns:a="http://schemas.openxmlformats.org/drawingml/2006/main">
              <a:ext uri="{FF2B5EF4-FFF2-40B4-BE49-F238E27FC236}">
                <a16:creationId xmlns:a16="http://schemas.microsoft.com/office/drawing/2014/main" id="{A997D947-ADC9-4529-AA5A-23C0D2D51BE3}"/>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C12C984C-455F-4CDA-9B62-3B8CF5798616}"/>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10 / 24</a:t>
            </a:r>
          </a:p>
        </p:txBody>
      </p:sp>
      <p:graphicFrame>
        <p:nvGraphicFramePr>
          <p:cNvPr id="25" name="Chart"/>
          <p:cNvGraphicFramePr/>
          <p:nvPr/>
        </p:nvGraphicFramePr>
        <p:xfrm>
          <a:off xmlns:a="http://schemas.openxmlformats.org/drawingml/2006/main" x="666750" y="1762125"/>
          <a:ext xmlns:a="http://schemas.openxmlformats.org/drawingml/2006/main" cx="6905625" cy="3048000"/>
        </p:xfrm>
        <a:graphic xmlns:a="http://schemas.openxmlformats.org/drawingml/2006/main">
          <a:graphicData uri="http://schemas.openxmlformats.org/drawingml/2006/chart">
            <c:chart xmlns:r="http://schemas.openxmlformats.org/officeDocument/2006/relationships" xmlns:c="http://schemas.openxmlformats.org/drawingml/2006/chart" r:id="Rb61c4090b4c043e1"/>
          </a:graphicData>
        </a:graphic>
      </p:graphicFrame>
      <p:sp>
        <p:nvSpPr>
          <p:cNvPr id="12" name="">
            <a:extLst xmlns:a="http://schemas.openxmlformats.org/drawingml/2006/main">
              <a:ext uri="{FF2B5EF4-FFF2-40B4-BE49-F238E27FC236}">
                <a16:creationId xmlns:a16="http://schemas.microsoft.com/office/drawing/2014/main" id="{7E45A11C-4D3D-41E7-BCEA-6311907043D8}"/>
              </a:ext>
            </a:extLst>
          </p:cNvPr>
          <p:cNvSpPr>
            <a:spLocks xmlns:a="http://schemas.openxmlformats.org/drawingml/2006/main" noGrp="1"/>
          </p:cNvSpPr>
          <p:nvPr/>
        </p:nvSpPr>
        <p:spPr>
          <a:xfrm xmlns:a="http://schemas.openxmlformats.org/drawingml/2006/main">
            <a:off x="8096250" y="16668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75,000</a:t>
            </a:r>
          </a:p>
        </p:txBody>
      </p:sp>
      <p:sp>
        <p:nvSpPr>
          <p:cNvPr id="13" name="">
            <a:extLst xmlns:a="http://schemas.openxmlformats.org/drawingml/2006/main">
              <a:ext uri="{FF2B5EF4-FFF2-40B4-BE49-F238E27FC236}">
                <a16:creationId xmlns:a16="http://schemas.microsoft.com/office/drawing/2014/main" id="{94AB4949-51B5-4AF6-A5C2-D197DEAA494E}"/>
              </a:ext>
            </a:extLst>
          </p:cNvPr>
          <p:cNvSpPr>
            <a:spLocks xmlns:a="http://schemas.openxmlformats.org/drawingml/2006/main" noGrp="1"/>
          </p:cNvSpPr>
          <p:nvPr/>
        </p:nvSpPr>
        <p:spPr>
          <a:xfrm xmlns:a="http://schemas.openxmlformats.org/drawingml/2006/main">
            <a:off x="8096250" y="23336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Java files available</a:t>
            </a:r>
          </a:p>
        </p:txBody>
      </p:sp>
      <p:sp>
        <p:nvSpPr>
          <p:cNvPr id="14" name="">
            <a:extLst xmlns:a="http://schemas.openxmlformats.org/drawingml/2006/main">
              <a:ext uri="{FF2B5EF4-FFF2-40B4-BE49-F238E27FC236}">
                <a16:creationId xmlns:a16="http://schemas.microsoft.com/office/drawing/2014/main" id="{878BFEA0-295E-4EAB-AD55-9E2F7C0A2AD7}"/>
              </a:ext>
            </a:extLst>
          </p:cNvPr>
          <p:cNvSpPr>
            <a:spLocks xmlns:a="http://schemas.openxmlformats.org/drawingml/2006/main" noGrp="1"/>
          </p:cNvSpPr>
          <p:nvPr/>
        </p:nvSpPr>
        <p:spPr>
          <a:xfrm xmlns:a="http://schemas.openxmlformats.org/drawingml/2006/main">
            <a:off x="8096250" y="26670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CodeNet Java250</a:t>
            </a:r>
          </a:p>
        </p:txBody>
      </p:sp>
      <p:sp>
        <p:nvSpPr>
          <p:cNvPr id="15" name="">
            <a:extLst xmlns:a="http://schemas.openxmlformats.org/drawingml/2006/main">
              <a:ext uri="{FF2B5EF4-FFF2-40B4-BE49-F238E27FC236}">
                <a16:creationId xmlns:a16="http://schemas.microsoft.com/office/drawing/2014/main" id="{6D2F3CEB-5C77-4ED5-B55B-F615B11F9EB7}"/>
              </a:ext>
            </a:extLst>
          </p:cNvPr>
          <p:cNvSpPr>
            <a:spLocks xmlns:a="http://schemas.openxmlformats.org/drawingml/2006/main" noGrp="1"/>
          </p:cNvSpPr>
          <p:nvPr/>
        </p:nvSpPr>
        <p:spPr>
          <a:xfrm xmlns:a="http://schemas.openxmlformats.org/drawingml/2006/main">
            <a:off x="8096250" y="33337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7AC943"/>
                </a:solidFill>
                <a:latin typeface="Aptos Display"/>
                <a:ea typeface="Aptos Display"/>
                <a:cs typeface="Aptos Display"/>
              </a:defRPr>
            </a:pPr>
            <a:r>
              <a:rPr sz="3600" b="1">
                <a:solidFill>
                  <a:srgbClr val="7AC943"/>
                </a:solidFill>
                <a:latin typeface="Aptos Display"/>
                <a:ea typeface="Aptos Display"/>
                <a:cs typeface="Aptos Display"/>
              </a:rPr>
              <a:t>58,252</a:t>
            </a:r>
          </a:p>
        </p:txBody>
      </p:sp>
      <p:sp>
        <p:nvSpPr>
          <p:cNvPr id="16" name="">
            <a:extLst xmlns:a="http://schemas.openxmlformats.org/drawingml/2006/main">
              <a:ext uri="{FF2B5EF4-FFF2-40B4-BE49-F238E27FC236}">
                <a16:creationId xmlns:a16="http://schemas.microsoft.com/office/drawing/2014/main" id="{046F01FF-353B-454D-ADBF-A9B4AFE73589}"/>
              </a:ext>
            </a:extLst>
          </p:cNvPr>
          <p:cNvSpPr>
            <a:spLocks xmlns:a="http://schemas.openxmlformats.org/drawingml/2006/main" noGrp="1"/>
          </p:cNvSpPr>
          <p:nvPr/>
        </p:nvSpPr>
        <p:spPr>
          <a:xfrm xmlns:a="http://schemas.openxmlformats.org/drawingml/2006/main">
            <a:off x="8096250" y="4000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files after 20–400 LOC filter</a:t>
            </a:r>
          </a:p>
        </p:txBody>
      </p:sp>
      <p:sp>
        <p:nvSpPr>
          <p:cNvPr id="17" name="">
            <a:extLst xmlns:a="http://schemas.openxmlformats.org/drawingml/2006/main">
              <a:ext uri="{FF2B5EF4-FFF2-40B4-BE49-F238E27FC236}">
                <a16:creationId xmlns:a16="http://schemas.microsoft.com/office/drawing/2014/main" id="{CEE25934-30F9-4975-BE52-F559C5A1FFA6}"/>
              </a:ext>
            </a:extLst>
          </p:cNvPr>
          <p:cNvSpPr>
            <a:spLocks xmlns:a="http://schemas.openxmlformats.org/drawingml/2006/main" noGrp="1"/>
          </p:cNvSpPr>
          <p:nvPr/>
        </p:nvSpPr>
        <p:spPr>
          <a:xfrm xmlns:a="http://schemas.openxmlformats.org/drawingml/2006/main">
            <a:off x="8096250" y="4333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large enough for controlled sampling</a:t>
            </a:r>
          </a:p>
        </p:txBody>
      </p:sp>
      <p:sp>
        <p:nvSpPr>
          <p:cNvPr id="18" name="">
            <a:extLst xmlns:a="http://schemas.openxmlformats.org/drawingml/2006/main">
              <a:ext uri="{FF2B5EF4-FFF2-40B4-BE49-F238E27FC236}">
                <a16:creationId xmlns:a16="http://schemas.microsoft.com/office/drawing/2014/main" id="{6843B929-761A-43EC-A6A3-2E607AE9E66F}"/>
              </a:ext>
            </a:extLst>
          </p:cNvPr>
          <p:cNvSpPr>
            <a:spLocks xmlns:a="http://schemas.openxmlformats.org/drawingml/2006/main" noGrp="1"/>
          </p:cNvSpPr>
          <p:nvPr/>
        </p:nvSpPr>
        <p:spPr>
          <a:xfrm xmlns:a="http://schemas.openxmlformats.org/drawingml/2006/main">
            <a:off x="7286625" y="5010150"/>
            <a:ext cx="371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7222"/>
          </a:bodyPr>
          <a:lstStyle xmlns:a="http://schemas.openxmlformats.org/drawingml/2006/main"/>
          <a:p xmlns:a="http://schemas.openxmlformats.org/drawingml/2006/main">
            <a:pPr algn="ctr">
              <a:defRPr sz="1200" b="0">
                <a:solidFill>
                  <a:srgbClr val="666666"/>
                </a:solidFill>
                <a:latin typeface="Aptos"/>
                <a:ea typeface="Aptos"/>
                <a:cs typeface="Aptos"/>
              </a:defRPr>
            </a:pPr>
            <a:r>
              <a:rPr sz="1200" b="0">
                <a:solidFill>
                  <a:srgbClr val="666666"/>
                </a:solidFill>
                <a:latin typeface="Aptos"/>
                <a:ea typeface="Aptos"/>
                <a:cs typeface="Aptos"/>
              </a:rPr>
              <a:t>TheAlgorithms reaches 100% only when source paths are supplied; CodeNet was standalone in the sampled check.</a:t>
            </a:r>
          </a:p>
        </p:txBody>
      </p:sp>
    </p:spTree>
    <p:extLst>
      <p:ext uri="{BB962C8B-B14F-4D97-AF65-F5344CB8AC3E}">
        <p14:creationId xmlns:p14="http://schemas.microsoft.com/office/powerpoint/2010/main" val="25855141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Three false starts clarified the final V2 design</a:t>
            </a:r>
          </a:p>
        </p:txBody>
      </p:sp>
      <p:pic>
        <p:nvPicPr>
          <p:cNvPr id="24" name="Picture 3"/>
          <p:cNvPicPr>
            <a:picLocks xmlns:a="http://schemas.openxmlformats.org/drawingml/2006/main" noChangeAspect="1"/>
          </p:cNvPicPr>
          <p:nvPr/>
        </p:nvPicPr>
        <p:blipFill>
          <a:blip xmlns:r="http://schemas.openxmlformats.org/officeDocument/2006/relationships" xmlns:a="http://schemas.openxmlformats.org/drawingml/2006/main" r:embed="R8d7db2088c834642"/>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E8C04D-E27E-405B-929F-B9CB9E464CA2}"/>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47C57987-8A2B-419C-B722-A4309B487E15}"/>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Each rejected option failed a different validity requirement</a:t>
            </a:r>
          </a:p>
        </p:txBody>
      </p:sp>
      <p:sp>
        <p:nvSpPr>
          <p:cNvPr id="9" name="">
            <a:extLst xmlns:a="http://schemas.openxmlformats.org/drawingml/2006/main">
              <a:ext uri="{FF2B5EF4-FFF2-40B4-BE49-F238E27FC236}">
                <a16:creationId xmlns:a16="http://schemas.microsoft.com/office/drawing/2014/main" id="{5DF530C7-B308-47E9-9F77-D2DC59D97027}"/>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73FED6A4-FBC6-43EC-AB27-27DF94642DFA}"/>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11 / 24</a:t>
            </a:r>
          </a:p>
        </p:txBody>
      </p:sp>
      <p:sp>
        <p:nvSpPr>
          <p:cNvPr id="11" name="">
            <a:extLst xmlns:a="http://schemas.openxmlformats.org/drawingml/2006/main">
              <a:ext uri="{FF2B5EF4-FFF2-40B4-BE49-F238E27FC236}">
                <a16:creationId xmlns:a16="http://schemas.microsoft.com/office/drawing/2014/main" id="{362F4CF5-976B-4640-AFC4-36DA83602608}"/>
              </a:ext>
            </a:extLst>
          </p:cNvPr>
          <p:cNvSpPr>
            <a:spLocks xmlns:a="http://schemas.openxmlformats.org/drawingml/2006/main" noGrp="1"/>
          </p:cNvSpPr>
          <p:nvPr/>
        </p:nvSpPr>
        <p:spPr>
          <a:xfrm xmlns:a="http://schemas.openxmlformats.org/drawingml/2006/main">
            <a:off x="809625" y="17907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7780"/>
          </a:bodyPr>
          <a:lstStyle xmlns:a="http://schemas.openxmlformats.org/drawingml/2006/main"/>
          <a:p xmlns:a="http://schemas.openxmlformats.org/drawingml/2006/main">
            <a:pPr algn="l">
              <a:defRPr sz="1725" b="1">
                <a:solidFill>
                  <a:srgbClr val="232323"/>
                </a:solidFill>
                <a:latin typeface="Aptos"/>
                <a:ea typeface="Aptos"/>
                <a:cs typeface="Aptos"/>
              </a:defRPr>
            </a:pPr>
            <a:r>
              <a:rPr sz="1725" b="1">
                <a:solidFill>
                  <a:srgbClr val="232323"/>
                </a:solidFill>
                <a:latin typeface="Aptos"/>
                <a:ea typeface="Aptos"/>
                <a:cs typeface="Aptos"/>
              </a:rPr>
              <a:t>Original mutation operators</a:t>
            </a:r>
          </a:p>
        </p:txBody>
      </p:sp>
      <p:sp>
        <p:nvSpPr>
          <p:cNvPr id="12" name="">
            <a:extLst xmlns:a="http://schemas.openxmlformats.org/drawingml/2006/main">
              <a:ext uri="{FF2B5EF4-FFF2-40B4-BE49-F238E27FC236}">
                <a16:creationId xmlns:a16="http://schemas.microsoft.com/office/drawing/2014/main" id="{413CCFE0-BA29-46F8-B304-45915DC9950E}"/>
              </a:ext>
            </a:extLst>
          </p:cNvPr>
          <p:cNvSpPr>
            <a:spLocks xmlns:a="http://schemas.openxmlformats.org/drawingml/2006/main" noGrp="1"/>
          </p:cNvSpPr>
          <p:nvPr/>
        </p:nvSpPr>
        <p:spPr>
          <a:xfrm xmlns:a="http://schemas.openxmlformats.org/drawingml/2006/main">
            <a:off x="3952875" y="1790700"/>
            <a:ext cx="485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666666"/>
                </a:solidFill>
                <a:latin typeface="Aptos"/>
                <a:ea typeface="Aptos"/>
                <a:cs typeface="Aptos"/>
              </a:defRPr>
            </a:pPr>
            <a:r>
              <a:rPr sz="1500" b="0">
                <a:solidFill>
                  <a:srgbClr val="666666"/>
                </a:solidFill>
                <a:latin typeface="Aptos"/>
                <a:ea typeface="Aptos"/>
                <a:cs typeface="Aptos"/>
              </a:rPr>
              <a:t>286 / 354 mutants did not compile</a:t>
            </a:r>
          </a:p>
        </p:txBody>
      </p:sp>
      <p:sp>
        <p:nvSpPr>
          <p:cNvPr id="13" name="">
            <a:extLst xmlns:a="http://schemas.openxmlformats.org/drawingml/2006/main">
              <a:ext uri="{FF2B5EF4-FFF2-40B4-BE49-F238E27FC236}">
                <a16:creationId xmlns:a16="http://schemas.microsoft.com/office/drawing/2014/main" id="{FF7E1FD9-3CB9-4767-841D-E1EE0B7CAD5F}"/>
              </a:ext>
            </a:extLst>
          </p:cNvPr>
          <p:cNvSpPr>
            <a:spLocks xmlns:a="http://schemas.openxmlformats.org/drawingml/2006/main" noGrp="1"/>
          </p:cNvSpPr>
          <p:nvPr/>
        </p:nvSpPr>
        <p:spPr>
          <a:xfrm xmlns:a="http://schemas.openxmlformats.org/drawingml/2006/main">
            <a:off x="9096375" y="17907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E4002B"/>
                </a:solidFill>
                <a:latin typeface="Aptos"/>
                <a:ea typeface="Aptos"/>
                <a:cs typeface="Aptos"/>
              </a:defRPr>
            </a:pPr>
            <a:r>
              <a:rPr sz="1425" b="1">
                <a:solidFill>
                  <a:srgbClr val="E4002B"/>
                </a:solidFill>
                <a:latin typeface="Aptos"/>
                <a:ea typeface="Aptos"/>
                <a:cs typeface="Aptos"/>
              </a:rPr>
              <a:t>81% rejected</a:t>
            </a:r>
          </a:p>
        </p:txBody>
      </p:sp>
      <p:sp>
        <p:nvSpPr>
          <p:cNvPr id="14" name="">
            <a:extLst xmlns:a="http://schemas.openxmlformats.org/drawingml/2006/main">
              <a:ext uri="{FF2B5EF4-FFF2-40B4-BE49-F238E27FC236}">
                <a16:creationId xmlns:a16="http://schemas.microsoft.com/office/drawing/2014/main" id="{6D175B49-E4FB-4728-A0FA-F87139275AB7}"/>
              </a:ext>
            </a:extLst>
          </p:cNvPr>
          <p:cNvSpPr>
            <a:spLocks xmlns:a="http://schemas.openxmlformats.org/drawingml/2006/main" noGrp="1"/>
          </p:cNvSpPr>
          <p:nvPr/>
        </p:nvSpPr>
        <p:spPr>
          <a:xfrm xmlns:a="http://schemas.openxmlformats.org/drawingml/2006/main">
            <a:off x="809625" y="2600325"/>
            <a:ext cx="101917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5" name="">
            <a:extLst xmlns:a="http://schemas.openxmlformats.org/drawingml/2006/main">
              <a:ext uri="{FF2B5EF4-FFF2-40B4-BE49-F238E27FC236}">
                <a16:creationId xmlns:a16="http://schemas.microsoft.com/office/drawing/2014/main" id="{E65A4BBA-80DC-4C28-A486-C7457959D20F}"/>
              </a:ext>
            </a:extLst>
          </p:cNvPr>
          <p:cNvSpPr>
            <a:spLocks xmlns:a="http://schemas.openxmlformats.org/drawingml/2006/main" noGrp="1"/>
          </p:cNvSpPr>
          <p:nvPr/>
        </p:nvSpPr>
        <p:spPr>
          <a:xfrm xmlns:a="http://schemas.openxmlformats.org/drawingml/2006/main">
            <a:off x="809625" y="29908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1">
                <a:solidFill>
                  <a:srgbClr val="232323"/>
                </a:solidFill>
                <a:latin typeface="Aptos"/>
                <a:ea typeface="Aptos"/>
                <a:cs typeface="Aptos"/>
              </a:defRPr>
            </a:pPr>
            <a:r>
              <a:rPr sz="1725" b="1">
                <a:solidFill>
                  <a:srgbClr val="232323"/>
                </a:solidFill>
                <a:latin typeface="Aptos"/>
                <a:ea typeface="Aptos"/>
                <a:cs typeface="Aptos"/>
              </a:rPr>
              <a:t>Clone injection</a:t>
            </a:r>
          </a:p>
        </p:txBody>
      </p:sp>
      <p:sp>
        <p:nvSpPr>
          <p:cNvPr id="16" name="">
            <a:extLst xmlns:a="http://schemas.openxmlformats.org/drawingml/2006/main">
              <a:ext uri="{FF2B5EF4-FFF2-40B4-BE49-F238E27FC236}">
                <a16:creationId xmlns:a16="http://schemas.microsoft.com/office/drawing/2014/main" id="{486FBC61-ED01-44E7-9ABA-5C9C59DD5908}"/>
              </a:ext>
            </a:extLst>
          </p:cNvPr>
          <p:cNvSpPr>
            <a:spLocks xmlns:a="http://schemas.openxmlformats.org/drawingml/2006/main" noGrp="1"/>
          </p:cNvSpPr>
          <p:nvPr/>
        </p:nvSpPr>
        <p:spPr>
          <a:xfrm xmlns:a="http://schemas.openxmlformats.org/drawingml/2006/main">
            <a:off x="3952875" y="2990850"/>
            <a:ext cx="485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666666"/>
                </a:solidFill>
                <a:latin typeface="Aptos"/>
                <a:ea typeface="Aptos"/>
                <a:cs typeface="Aptos"/>
              </a:defRPr>
            </a:pPr>
            <a:r>
              <a:rPr sz="1500" b="0">
                <a:solidFill>
                  <a:srgbClr val="666666"/>
                </a:solidFill>
                <a:latin typeface="Aptos"/>
                <a:ea typeface="Aptos"/>
                <a:cs typeface="Aptos"/>
              </a:rPr>
              <a:t>36 / 57 pairs created extra real clones</a:t>
            </a:r>
          </a:p>
        </p:txBody>
      </p:sp>
      <p:sp>
        <p:nvSpPr>
          <p:cNvPr id="17" name="">
            <a:extLst xmlns:a="http://schemas.openxmlformats.org/drawingml/2006/main">
              <a:ext uri="{FF2B5EF4-FFF2-40B4-BE49-F238E27FC236}">
                <a16:creationId xmlns:a16="http://schemas.microsoft.com/office/drawing/2014/main" id="{2BB1C069-562F-4BCF-98A1-5733513356CD}"/>
              </a:ext>
            </a:extLst>
          </p:cNvPr>
          <p:cNvSpPr>
            <a:spLocks xmlns:a="http://schemas.openxmlformats.org/drawingml/2006/main" noGrp="1"/>
          </p:cNvSpPr>
          <p:nvPr/>
        </p:nvSpPr>
        <p:spPr>
          <a:xfrm xmlns:a="http://schemas.openxmlformats.org/drawingml/2006/main">
            <a:off x="9096375" y="299085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E4002B"/>
                </a:solidFill>
                <a:latin typeface="Aptos"/>
                <a:ea typeface="Aptos"/>
                <a:cs typeface="Aptos"/>
              </a:defRPr>
            </a:pPr>
            <a:r>
              <a:rPr sz="1425" b="1">
                <a:solidFill>
                  <a:srgbClr val="E4002B"/>
                </a:solidFill>
                <a:latin typeface="Aptos"/>
                <a:ea typeface="Aptos"/>
                <a:cs typeface="Aptos"/>
              </a:rPr>
              <a:t>ground truth polluted</a:t>
            </a:r>
          </a:p>
        </p:txBody>
      </p:sp>
      <p:sp>
        <p:nvSpPr>
          <p:cNvPr id="18" name="">
            <a:extLst xmlns:a="http://schemas.openxmlformats.org/drawingml/2006/main">
              <a:ext uri="{FF2B5EF4-FFF2-40B4-BE49-F238E27FC236}">
                <a16:creationId xmlns:a16="http://schemas.microsoft.com/office/drawing/2014/main" id="{E2D7B673-F432-4BF8-B522-90BC24AD26B9}"/>
              </a:ext>
            </a:extLst>
          </p:cNvPr>
          <p:cNvSpPr>
            <a:spLocks xmlns:a="http://schemas.openxmlformats.org/drawingml/2006/main" noGrp="1"/>
          </p:cNvSpPr>
          <p:nvPr/>
        </p:nvSpPr>
        <p:spPr>
          <a:xfrm xmlns:a="http://schemas.openxmlformats.org/drawingml/2006/main">
            <a:off x="809625" y="3800475"/>
            <a:ext cx="101917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9" name="">
            <a:extLst xmlns:a="http://schemas.openxmlformats.org/drawingml/2006/main">
              <a:ext uri="{FF2B5EF4-FFF2-40B4-BE49-F238E27FC236}">
                <a16:creationId xmlns:a16="http://schemas.microsoft.com/office/drawing/2014/main" id="{E94A0563-EE07-4395-8458-F12B0E6FBEF6}"/>
              </a:ext>
            </a:extLst>
          </p:cNvPr>
          <p:cNvSpPr>
            <a:spLocks xmlns:a="http://schemas.openxmlformats.org/drawingml/2006/main" noGrp="1"/>
          </p:cNvSpPr>
          <p:nvPr/>
        </p:nvSpPr>
        <p:spPr>
          <a:xfrm xmlns:a="http://schemas.openxmlformats.org/drawingml/2006/main">
            <a:off x="809625" y="41910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1">
                <a:solidFill>
                  <a:srgbClr val="232323"/>
                </a:solidFill>
                <a:latin typeface="Aptos"/>
                <a:ea typeface="Aptos"/>
                <a:cs typeface="Aptos"/>
              </a:defRPr>
            </a:pPr>
            <a:r>
              <a:rPr sz="1725" b="1">
                <a:solidFill>
                  <a:srgbClr val="232323"/>
                </a:solidFill>
                <a:latin typeface="Aptos"/>
                <a:ea typeface="Aptos"/>
                <a:cs typeface="Aptos"/>
              </a:rPr>
              <a:t>Dynamic execution</a:t>
            </a:r>
          </a:p>
        </p:txBody>
      </p:sp>
      <p:sp>
        <p:nvSpPr>
          <p:cNvPr id="20" name="">
            <a:extLst xmlns:a="http://schemas.openxmlformats.org/drawingml/2006/main">
              <a:ext uri="{FF2B5EF4-FFF2-40B4-BE49-F238E27FC236}">
                <a16:creationId xmlns:a16="http://schemas.microsoft.com/office/drawing/2014/main" id="{7BEA6E3B-A850-4B46-99C2-C5C898770CF8}"/>
              </a:ext>
            </a:extLst>
          </p:cNvPr>
          <p:cNvSpPr>
            <a:spLocks xmlns:a="http://schemas.openxmlformats.org/drawingml/2006/main" noGrp="1"/>
          </p:cNvSpPr>
          <p:nvPr/>
        </p:nvSpPr>
        <p:spPr>
          <a:xfrm xmlns:a="http://schemas.openxmlformats.org/drawingml/2006/main">
            <a:off x="3952875" y="4191000"/>
            <a:ext cx="485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666666"/>
                </a:solidFill>
                <a:latin typeface="Aptos"/>
                <a:ea typeface="Aptos"/>
                <a:cs typeface="Aptos"/>
              </a:defRPr>
            </a:pPr>
            <a:r>
              <a:rPr sz="1500" b="0">
                <a:solidFill>
                  <a:srgbClr val="666666"/>
                </a:solidFill>
                <a:latin typeface="Aptos"/>
                <a:ea typeface="Aptos"/>
                <a:cs typeface="Aptos"/>
              </a:rPr>
              <a:t>thread leaks; no verdict change in 59 pairs</a:t>
            </a:r>
          </a:p>
        </p:txBody>
      </p:sp>
      <p:sp>
        <p:nvSpPr>
          <p:cNvPr id="21" name="">
            <a:extLst xmlns:a="http://schemas.openxmlformats.org/drawingml/2006/main">
              <a:ext uri="{FF2B5EF4-FFF2-40B4-BE49-F238E27FC236}">
                <a16:creationId xmlns:a16="http://schemas.microsoft.com/office/drawing/2014/main" id="{D19AD5EC-4401-4855-AABD-93BCE7EC53B0}"/>
              </a:ext>
            </a:extLst>
          </p:cNvPr>
          <p:cNvSpPr>
            <a:spLocks xmlns:a="http://schemas.openxmlformats.org/drawingml/2006/main" noGrp="1"/>
          </p:cNvSpPr>
          <p:nvPr/>
        </p:nvSpPr>
        <p:spPr>
          <a:xfrm xmlns:a="http://schemas.openxmlformats.org/drawingml/2006/main">
            <a:off x="9096375" y="41910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F0A757"/>
                </a:solidFill>
                <a:latin typeface="Aptos"/>
                <a:ea typeface="Aptos"/>
                <a:cs typeface="Aptos"/>
              </a:defRPr>
            </a:pPr>
            <a:r>
              <a:rPr sz="1425" b="1">
                <a:solidFill>
                  <a:srgbClr val="F0A757"/>
                </a:solidFill>
                <a:latin typeface="Aptos"/>
                <a:ea typeface="Aptos"/>
                <a:cs typeface="Aptos"/>
              </a:rPr>
              <a:t>disabled</a:t>
            </a:r>
          </a:p>
        </p:txBody>
      </p:sp>
      <p:sp>
        <p:nvSpPr>
          <p:cNvPr id="22" name="">
            <a:extLst xmlns:a="http://schemas.openxmlformats.org/drawingml/2006/main">
              <a:ext uri="{FF2B5EF4-FFF2-40B4-BE49-F238E27FC236}">
                <a16:creationId xmlns:a16="http://schemas.microsoft.com/office/drawing/2014/main" id="{4B7230DE-1631-4811-B590-37928288A23B}"/>
              </a:ext>
            </a:extLst>
          </p:cNvPr>
          <p:cNvSpPr>
            <a:spLocks xmlns:a="http://schemas.openxmlformats.org/drawingml/2006/main" noGrp="1"/>
          </p:cNvSpPr>
          <p:nvPr/>
        </p:nvSpPr>
        <p:spPr>
          <a:xfrm xmlns:a="http://schemas.openxmlformats.org/drawingml/2006/main">
            <a:off x="1428750" y="523875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650" b="1">
                <a:solidFill>
                  <a:srgbClr val="4F2683"/>
                </a:solidFill>
                <a:latin typeface="Aptos"/>
                <a:ea typeface="Aptos"/>
                <a:cs typeface="Aptos"/>
              </a:defRPr>
            </a:pPr>
            <a:r>
              <a:rPr sz="1650" b="1">
                <a:solidFill>
                  <a:srgbClr val="4F2683"/>
                </a:solidFill>
                <a:latin typeface="Aptos"/>
                <a:ea typeface="Aptos"/>
                <a:cs typeface="Aptos"/>
              </a:rPr>
              <a:t>Final rule: one known type-safe edit, compile both sides, then run the static detector.</a:t>
            </a:r>
          </a:p>
        </p:txBody>
      </p:sp>
    </p:spTree>
    <p:extLst>
      <p:ext uri="{BB962C8B-B14F-4D97-AF65-F5344CB8AC3E}">
        <p14:creationId xmlns:p14="http://schemas.microsoft.com/office/powerpoint/2010/main" val="258551416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unit of test — one file, one known edit</a:t>
            </a:r>
          </a:p>
        </p:txBody>
      </p:sp>
      <p:pic>
        <p:nvPicPr>
          <p:cNvPr id="23" name="Picture 3"/>
          <p:cNvPicPr>
            <a:picLocks xmlns:a="http://schemas.openxmlformats.org/drawingml/2006/main" noChangeAspect="1"/>
          </p:cNvPicPr>
          <p:nvPr/>
        </p:nvPicPr>
        <p:blipFill>
          <a:blip xmlns:r="http://schemas.openxmlformats.org/officeDocument/2006/relationships" xmlns:a="http://schemas.openxmlformats.org/drawingml/2006/main" r:embed="Rcaca427df4b64c98"/>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385B8FF-704C-4D75-9262-38E66B3B71E4}"/>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8E486B7E-95CE-4253-97F6-3C6589EF51FD}"/>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Compare the printed seed with the same seed after a type-safe mutation</a:t>
            </a:r>
          </a:p>
        </p:txBody>
      </p:sp>
      <p:sp>
        <p:nvSpPr>
          <p:cNvPr id="9" name="">
            <a:extLst xmlns:a="http://schemas.openxmlformats.org/drawingml/2006/main">
              <a:ext uri="{FF2B5EF4-FFF2-40B4-BE49-F238E27FC236}">
                <a16:creationId xmlns:a16="http://schemas.microsoft.com/office/drawing/2014/main" id="{AFAAF420-6DF3-4607-92B7-4C710C984F51}"/>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96E2A287-E9F8-41F5-A4E3-54C86DF56557}"/>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12 / 24</a:t>
            </a:r>
          </a:p>
        </p:txBody>
      </p:sp>
      <p:sp>
        <p:nvSpPr>
          <p:cNvPr id="11" name="">
            <a:extLst xmlns:a="http://schemas.openxmlformats.org/drawingml/2006/main">
              <a:ext uri="{FF2B5EF4-FFF2-40B4-BE49-F238E27FC236}">
                <a16:creationId xmlns:a16="http://schemas.microsoft.com/office/drawing/2014/main" id="{C9809F65-A35D-4C1F-BAD2-45ECC45CCBFB}"/>
              </a:ext>
            </a:extLst>
          </p:cNvPr>
          <p:cNvSpPr>
            <a:spLocks xmlns:a="http://schemas.openxmlformats.org/drawingml/2006/main" noGrp="1"/>
          </p:cNvSpPr>
          <p:nvPr/>
        </p:nvSpPr>
        <p:spPr>
          <a:xfrm xmlns:a="http://schemas.openxmlformats.org/drawingml/2006/main">
            <a:off x="857250" y="16383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LEFT: Spoon-printed seed</a:t>
            </a:r>
          </a:p>
        </p:txBody>
      </p:sp>
      <p:sp>
        <p:nvSpPr>
          <p:cNvPr id="12" name="">
            <a:extLst xmlns:a="http://schemas.openxmlformats.org/drawingml/2006/main">
              <a:ext uri="{FF2B5EF4-FFF2-40B4-BE49-F238E27FC236}">
                <a16:creationId xmlns:a16="http://schemas.microsoft.com/office/drawing/2014/main" id="{C17610CF-2705-4311-A3B1-719E2D6CC80A}"/>
              </a:ext>
            </a:extLst>
          </p:cNvPr>
          <p:cNvSpPr>
            <a:spLocks xmlns:a="http://schemas.openxmlformats.org/drawingml/2006/main" noGrp="1"/>
          </p:cNvSpPr>
          <p:nvPr/>
        </p:nvSpPr>
        <p:spPr>
          <a:xfrm xmlns:a="http://schemas.openxmlformats.org/drawingml/2006/main">
            <a:off x="6238875" y="16383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RIGHT: same seed + one mutation</a:t>
            </a:r>
          </a:p>
        </p:txBody>
      </p:sp>
      <p:sp>
        <p:nvSpPr>
          <p:cNvPr id="13" name="">
            <a:extLst xmlns:a="http://schemas.openxmlformats.org/drawingml/2006/main">
              <a:ext uri="{FF2B5EF4-FFF2-40B4-BE49-F238E27FC236}">
                <a16:creationId xmlns:a16="http://schemas.microsoft.com/office/drawing/2014/main" id="{CB78E3BA-E890-4CBC-A21C-E292D283BA0A}"/>
              </a:ext>
            </a:extLst>
          </p:cNvPr>
          <p:cNvSpPr>
            <a:spLocks xmlns:a="http://schemas.openxmlformats.org/drawingml/2006/main" noGrp="1"/>
          </p:cNvSpPr>
          <p:nvPr/>
        </p:nvSpPr>
        <p:spPr>
          <a:xfrm xmlns:a="http://schemas.openxmlformats.org/drawingml/2006/main">
            <a:off x="762000" y="2019300"/>
            <a:ext cx="4619625" cy="2333625"/>
          </a:xfrm>
          <a:prstGeom xmlns:a="http://schemas.openxmlformats.org/drawingml/2006/main" prst="rect">
            <a:avLst/>
          </a:prstGeom>
          <a:solidFill xmlns:a="http://schemas.openxmlformats.org/drawingml/2006/main">
            <a:srgbClr val="F5F5F5"/>
          </a:solidFill>
          <a:ln xmlns:a="http://schemas.openxmlformats.org/drawingml/2006/main" w="9525">
            <a:solidFill>
              <a:srgbClr val="E7E6E6"/>
            </a:solidFill>
            <a:prstDash val="solid"/>
          </a:ln>
        </p:spPr>
      </p:sp>
      <p:sp>
        <p:nvSpPr>
          <p:cNvPr id="14" name="">
            <a:extLst xmlns:a="http://schemas.openxmlformats.org/drawingml/2006/main">
              <a:ext uri="{FF2B5EF4-FFF2-40B4-BE49-F238E27FC236}">
                <a16:creationId xmlns:a16="http://schemas.microsoft.com/office/drawing/2014/main" id="{120174F1-A8CC-4D4E-B338-02D3CCBA1E65}"/>
              </a:ext>
            </a:extLst>
          </p:cNvPr>
          <p:cNvSpPr>
            <a:spLocks xmlns:a="http://schemas.openxmlformats.org/drawingml/2006/main" noGrp="1"/>
          </p:cNvSpPr>
          <p:nvPr/>
        </p:nvSpPr>
        <p:spPr>
          <a:xfrm xmlns:a="http://schemas.openxmlformats.org/drawingml/2006/main">
            <a:off x="6143625" y="2019300"/>
            <a:ext cx="4762500" cy="2333625"/>
          </a:xfrm>
          <a:prstGeom xmlns:a="http://schemas.openxmlformats.org/drawingml/2006/main" prst="rect">
            <a:avLst/>
          </a:prstGeom>
          <a:solidFill xmlns:a="http://schemas.openxmlformats.org/drawingml/2006/main">
            <a:srgbClr val="F5F5F5"/>
          </a:solidFill>
          <a:ln xmlns:a="http://schemas.openxmlformats.org/drawingml/2006/main" w="9525">
            <a:solidFill>
              <a:srgbClr val="E7E6E6"/>
            </a:solidFill>
            <a:prstDash val="solid"/>
          </a:ln>
        </p:spPr>
      </p:sp>
      <p:sp>
        <p:nvSpPr>
          <p:cNvPr id="15" name="">
            <a:extLst xmlns:a="http://schemas.openxmlformats.org/drawingml/2006/main">
              <a:ext uri="{FF2B5EF4-FFF2-40B4-BE49-F238E27FC236}">
                <a16:creationId xmlns:a16="http://schemas.microsoft.com/office/drawing/2014/main" id="{D7AE358B-4CCC-4E3E-882D-F3DEE82388CA}"/>
              </a:ext>
            </a:extLst>
          </p:cNvPr>
          <p:cNvSpPr>
            <a:spLocks xmlns:a="http://schemas.openxmlformats.org/drawingml/2006/main" noGrp="1"/>
          </p:cNvSpPr>
          <p:nvPr/>
        </p:nvSpPr>
        <p:spPr>
          <a:xfrm xmlns:a="http://schemas.openxmlformats.org/drawingml/2006/main">
            <a:off x="1047750" y="2266950"/>
            <a:ext cx="40005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int total = 0;</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for (int value : data) {</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    total += value;</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System.out.println(total);</a:t>
            </a:r>
          </a:p>
        </p:txBody>
      </p:sp>
      <p:sp>
        <p:nvSpPr>
          <p:cNvPr id="16" name="">
            <a:extLst xmlns:a="http://schemas.openxmlformats.org/drawingml/2006/main">
              <a:ext uri="{FF2B5EF4-FFF2-40B4-BE49-F238E27FC236}">
                <a16:creationId xmlns:a16="http://schemas.microsoft.com/office/drawing/2014/main" id="{DFCFD739-CCFA-439B-9E85-BD340A7C5EFC}"/>
              </a:ext>
            </a:extLst>
          </p:cNvPr>
          <p:cNvSpPr>
            <a:spLocks xmlns:a="http://schemas.openxmlformats.org/drawingml/2006/main" noGrp="1"/>
          </p:cNvSpPr>
          <p:nvPr/>
        </p:nvSpPr>
        <p:spPr>
          <a:xfrm xmlns:a="http://schemas.openxmlformats.org/drawingml/2006/main">
            <a:off x="6429375" y="2695575"/>
            <a:ext cx="4095750" cy="295275"/>
          </a:xfrm>
          <a:prstGeom xmlns:a="http://schemas.openxmlformats.org/drawingml/2006/main" prst="rect">
            <a:avLst/>
          </a:prstGeom>
          <a:solidFill xmlns:a="http://schemas.openxmlformats.org/drawingml/2006/main">
            <a:srgbClr val="E7F4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0E1D55C-5097-4B9D-A43A-F895DEDF6DCF}"/>
              </a:ext>
            </a:extLst>
          </p:cNvPr>
          <p:cNvSpPr>
            <a:spLocks xmlns:a="http://schemas.openxmlformats.org/drawingml/2006/main" noGrp="1"/>
          </p:cNvSpPr>
          <p:nvPr/>
        </p:nvSpPr>
        <p:spPr>
          <a:xfrm xmlns:a="http://schemas.openxmlformats.org/drawingml/2006/main">
            <a:off x="6429375" y="2266950"/>
            <a:ext cx="40957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int sum = 0;</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for (int value : data) {</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    sum += value;</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a:t>
            </a:r>
          </a:p>
          <a:p xmlns:a="http://schemas.openxmlformats.org/drawingml/2006/main">
            <a:pPr algn="l">
              <a:defRPr sz="1575" b="0">
                <a:solidFill>
                  <a:srgbClr val="232323"/>
                </a:solidFill>
                <a:latin typeface="Courier New"/>
                <a:ea typeface="Courier New"/>
                <a:cs typeface="Courier New"/>
              </a:defRPr>
            </a:pPr>
            <a:r>
              <a:rPr sz="1575" b="0">
                <a:solidFill>
                  <a:srgbClr val="232323"/>
                </a:solidFill>
                <a:latin typeface="Courier New"/>
                <a:ea typeface="Courier New"/>
                <a:cs typeface="Courier New"/>
              </a:rPr>
              <a:t>System.out.println(sum);</a:t>
            </a:r>
          </a:p>
        </p:txBody>
      </p:sp>
      <p:sp>
        <p:nvSpPr>
          <p:cNvPr id="18" name="">
            <a:extLst xmlns:a="http://schemas.openxmlformats.org/drawingml/2006/main">
              <a:ext uri="{FF2B5EF4-FFF2-40B4-BE49-F238E27FC236}">
                <a16:creationId xmlns:a16="http://schemas.microsoft.com/office/drawing/2014/main" id="{63203B31-8E01-429A-8F2C-B4E2836860F7}"/>
              </a:ext>
            </a:extLst>
          </p:cNvPr>
          <p:cNvSpPr>
            <a:spLocks xmlns:a="http://schemas.openxmlformats.org/drawingml/2006/main" noGrp="1"/>
          </p:cNvSpPr>
          <p:nvPr/>
        </p:nvSpPr>
        <p:spPr>
          <a:xfrm xmlns:a="http://schemas.openxmlformats.org/drawingml/2006/main">
            <a:off x="1285875" y="465772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7AC943"/>
                </a:solidFill>
                <a:latin typeface="Aptos"/>
                <a:ea typeface="Aptos"/>
                <a:cs typeface="Aptos"/>
              </a:defRPr>
            </a:pPr>
            <a:r>
              <a:rPr sz="1500" b="1">
                <a:solidFill>
                  <a:srgbClr val="7AC943"/>
                </a:solidFill>
                <a:latin typeface="Aptos"/>
                <a:ea typeface="Aptos"/>
                <a:cs typeface="Aptos"/>
              </a:rPr>
              <a:t>Compile left ✓</a:t>
            </a:r>
          </a:p>
        </p:txBody>
      </p:sp>
      <p:sp>
        <p:nvSpPr>
          <p:cNvPr id="19" name="">
            <a:extLst xmlns:a="http://schemas.openxmlformats.org/drawingml/2006/main">
              <a:ext uri="{FF2B5EF4-FFF2-40B4-BE49-F238E27FC236}">
                <a16:creationId xmlns:a16="http://schemas.microsoft.com/office/drawing/2014/main" id="{441B6D9F-7B94-4647-BE88-CD905672CBB6}"/>
              </a:ext>
            </a:extLst>
          </p:cNvPr>
          <p:cNvSpPr>
            <a:spLocks xmlns:a="http://schemas.openxmlformats.org/drawingml/2006/main" noGrp="1"/>
          </p:cNvSpPr>
          <p:nvPr/>
        </p:nvSpPr>
        <p:spPr>
          <a:xfrm xmlns:a="http://schemas.openxmlformats.org/drawingml/2006/main">
            <a:off x="4257675" y="465772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7AC943"/>
                </a:solidFill>
                <a:latin typeface="Aptos"/>
                <a:ea typeface="Aptos"/>
                <a:cs typeface="Aptos"/>
              </a:defRPr>
            </a:pPr>
            <a:r>
              <a:rPr sz="1500" b="1">
                <a:solidFill>
                  <a:srgbClr val="7AC943"/>
                </a:solidFill>
                <a:latin typeface="Aptos"/>
                <a:ea typeface="Aptos"/>
                <a:cs typeface="Aptos"/>
              </a:rPr>
              <a:t>Compile right ✓</a:t>
            </a:r>
          </a:p>
        </p:txBody>
      </p:sp>
      <p:sp>
        <p:nvSpPr>
          <p:cNvPr id="20" name="">
            <a:extLst xmlns:a="http://schemas.openxmlformats.org/drawingml/2006/main">
              <a:ext uri="{FF2B5EF4-FFF2-40B4-BE49-F238E27FC236}">
                <a16:creationId xmlns:a16="http://schemas.microsoft.com/office/drawing/2014/main" id="{6E3A8DBE-AB21-415D-81D6-4096CD0F865F}"/>
              </a:ext>
            </a:extLst>
          </p:cNvPr>
          <p:cNvSpPr>
            <a:spLocks xmlns:a="http://schemas.openxmlformats.org/drawingml/2006/main" noGrp="1"/>
          </p:cNvSpPr>
          <p:nvPr/>
        </p:nvSpPr>
        <p:spPr>
          <a:xfrm xmlns:a="http://schemas.openxmlformats.org/drawingml/2006/main">
            <a:off x="7239000" y="465772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00" b="1">
                <a:solidFill>
                  <a:srgbClr val="4F2683"/>
                </a:solidFill>
                <a:latin typeface="Aptos"/>
                <a:ea typeface="Aptos"/>
                <a:cs typeface="Aptos"/>
              </a:defRPr>
            </a:pPr>
            <a:r>
              <a:rPr sz="1500" b="1">
                <a:solidFill>
                  <a:srgbClr val="4F2683"/>
                </a:solidFill>
                <a:latin typeface="Aptos"/>
                <a:ea typeface="Aptos"/>
                <a:cs typeface="Aptos"/>
              </a:rPr>
              <a:t>Known region + expected type ✓</a:t>
            </a:r>
          </a:p>
        </p:txBody>
      </p:sp>
      <p:sp>
        <p:nvSpPr>
          <p:cNvPr id="21" name="">
            <a:extLst xmlns:a="http://schemas.openxmlformats.org/drawingml/2006/main">
              <a:ext uri="{FF2B5EF4-FFF2-40B4-BE49-F238E27FC236}">
                <a16:creationId xmlns:a16="http://schemas.microsoft.com/office/drawing/2014/main" id="{8B381BD6-9791-44F8-93D0-4A5F2F7AD238}"/>
              </a:ext>
            </a:extLst>
          </p:cNvPr>
          <p:cNvSpPr>
            <a:spLocks xmlns:a="http://schemas.openxmlformats.org/drawingml/2006/main" noGrp="1"/>
          </p:cNvSpPr>
          <p:nvPr/>
        </p:nvSpPr>
        <p:spPr>
          <a:xfrm xmlns:a="http://schemas.openxmlformats.org/drawingml/2006/main">
            <a:off x="2381250" y="5219700"/>
            <a:ext cx="704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0">
                <a:solidFill>
                  <a:srgbClr val="666666"/>
                </a:solidFill>
                <a:latin typeface="Aptos"/>
                <a:ea typeface="Aptos"/>
                <a:cs typeface="Aptos"/>
              </a:defRPr>
            </a:pPr>
            <a:r>
              <a:rPr sz="1425" b="0">
                <a:solidFill>
                  <a:srgbClr val="666666"/>
                </a:solidFill>
                <a:latin typeface="Aptos"/>
                <a:ea typeface="Aptos"/>
                <a:cs typeface="Aptos"/>
              </a:rPr>
              <a:t>If either side fails to compile, the pair is not admitted to the test.</a:t>
            </a:r>
          </a:p>
        </p:txBody>
      </p:sp>
    </p:spTree>
    <p:extLst>
      <p:ext uri="{BB962C8B-B14F-4D97-AF65-F5344CB8AC3E}">
        <p14:creationId xmlns:p14="http://schemas.microsoft.com/office/powerpoint/2010/main" val="258551416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mutation set — 10 simple operators</a:t>
            </a:r>
          </a:p>
        </p:txBody>
      </p:sp>
      <p:pic>
        <p:nvPicPr>
          <p:cNvPr id="39" name="Picture 3"/>
          <p:cNvPicPr>
            <a:picLocks xmlns:a="http://schemas.openxmlformats.org/drawingml/2006/main" noChangeAspect="1"/>
          </p:cNvPicPr>
          <p:nvPr/>
        </p:nvPicPr>
        <p:blipFill>
          <a:blip xmlns:r="http://schemas.openxmlformats.org/officeDocument/2006/relationships" xmlns:a="http://schemas.openxmlformats.org/drawingml/2006/main" r:embed="R99aa12c65cbb42a3"/>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D182553-3C20-4962-B02C-DDD8B32394FA}"/>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DC6A3BE7-2932-4C6F-8CAD-82B50079330D}"/>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Grouped by the semantic strength of the edit</a:t>
            </a:r>
          </a:p>
        </p:txBody>
      </p:sp>
      <p:sp>
        <p:nvSpPr>
          <p:cNvPr id="9" name="">
            <a:extLst xmlns:a="http://schemas.openxmlformats.org/drawingml/2006/main">
              <a:ext uri="{FF2B5EF4-FFF2-40B4-BE49-F238E27FC236}">
                <a16:creationId xmlns:a16="http://schemas.microsoft.com/office/drawing/2014/main" id="{9D1BEEC8-E470-466F-B3A8-FC169E5CC6A5}"/>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515E59EE-2843-4448-8045-7915DA91BE63}"/>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13 / 24</a:t>
            </a:r>
          </a:p>
        </p:txBody>
      </p:sp>
      <p:sp>
        <p:nvSpPr>
          <p:cNvPr id="11" name="">
            <a:extLst xmlns:a="http://schemas.openxmlformats.org/drawingml/2006/main">
              <a:ext uri="{FF2B5EF4-FFF2-40B4-BE49-F238E27FC236}">
                <a16:creationId xmlns:a16="http://schemas.microsoft.com/office/drawing/2014/main" id="{7923FD8E-EB17-48D3-9DD2-D79B18A2AE69}"/>
              </a:ext>
            </a:extLst>
          </p:cNvPr>
          <p:cNvSpPr>
            <a:spLocks xmlns:a="http://schemas.openxmlformats.org/drawingml/2006/main" noGrp="1"/>
          </p:cNvSpPr>
          <p:nvPr/>
        </p:nvSpPr>
        <p:spPr>
          <a:xfrm xmlns:a="http://schemas.openxmlformats.org/drawingml/2006/main">
            <a:off x="714375" y="1714500"/>
            <a:ext cx="319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4F2683"/>
                </a:solidFill>
                <a:latin typeface="Aptos"/>
                <a:ea typeface="Aptos"/>
                <a:cs typeface="Aptos"/>
              </a:defRPr>
            </a:pPr>
            <a:r>
              <a:rPr sz="1800" b="1">
                <a:solidFill>
                  <a:srgbClr val="4F2683"/>
                </a:solidFill>
                <a:latin typeface="Aptos"/>
                <a:ea typeface="Aptos"/>
                <a:cs typeface="Aptos"/>
              </a:rPr>
              <a:t>T1 · layout only</a:t>
            </a:r>
          </a:p>
        </p:txBody>
      </p:sp>
      <p:sp>
        <p:nvSpPr>
          <p:cNvPr id="12" name="">
            <a:extLst xmlns:a="http://schemas.openxmlformats.org/drawingml/2006/main">
              <a:ext uri="{FF2B5EF4-FFF2-40B4-BE49-F238E27FC236}">
                <a16:creationId xmlns:a16="http://schemas.microsoft.com/office/drawing/2014/main" id="{810ADC55-342C-4337-8B53-2AD79C14F441}"/>
              </a:ext>
            </a:extLst>
          </p:cNvPr>
          <p:cNvSpPr>
            <a:spLocks xmlns:a="http://schemas.openxmlformats.org/drawingml/2006/main" noGrp="1"/>
          </p:cNvSpPr>
          <p:nvPr/>
        </p:nvSpPr>
        <p:spPr>
          <a:xfrm xmlns:a="http://schemas.openxmlformats.org/drawingml/2006/main">
            <a:off x="952500" y="2171700"/>
            <a:ext cx="2714625" cy="0"/>
          </a:xfrm>
          <a:prstGeom xmlns:a="http://schemas.openxmlformats.org/drawingml/2006/main" prst="line">
            <a:avLst/>
          </a:prstGeom>
          <a:noFill xmlns:a="http://schemas.openxmlformats.org/drawingml/2006/main"/>
          <a:ln xmlns:a="http://schemas.openxmlformats.org/drawingml/2006/main" w="38100">
            <a:solidFill>
              <a:srgbClr val="4F2683"/>
            </a:solidFill>
            <a:prstDash val="solid"/>
          </a:ln>
        </p:spPr>
      </p:sp>
      <p:sp>
        <p:nvSpPr>
          <p:cNvPr id="13" name="">
            <a:extLst xmlns:a="http://schemas.openxmlformats.org/drawingml/2006/main">
              <a:ext uri="{FF2B5EF4-FFF2-40B4-BE49-F238E27FC236}">
                <a16:creationId xmlns:a16="http://schemas.microsoft.com/office/drawing/2014/main" id="{A3796C03-07C2-4AFB-849A-CD786E9E00EA}"/>
              </a:ext>
            </a:extLst>
          </p:cNvPr>
          <p:cNvSpPr>
            <a:spLocks xmlns:a="http://schemas.openxmlformats.org/drawingml/2006/main" noGrp="1"/>
          </p:cNvSpPr>
          <p:nvPr/>
        </p:nvSpPr>
        <p:spPr>
          <a:xfrm xmlns:a="http://schemas.openxmlformats.org/drawingml/2006/main">
            <a:off x="885825" y="2638425"/>
            <a:ext cx="95250" cy="95250"/>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72DA3E-EF48-4B2E-A03F-C252E83BD509}"/>
              </a:ext>
            </a:extLst>
          </p:cNvPr>
          <p:cNvSpPr>
            <a:spLocks xmlns:a="http://schemas.openxmlformats.org/drawingml/2006/main" noGrp="1"/>
          </p:cNvSpPr>
          <p:nvPr/>
        </p:nvSpPr>
        <p:spPr>
          <a:xfrm xmlns:a="http://schemas.openxmlformats.org/drawingml/2006/main">
            <a:off x="1114425" y="25431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End-of-line comment</a:t>
            </a:r>
          </a:p>
        </p:txBody>
      </p:sp>
      <p:sp>
        <p:nvSpPr>
          <p:cNvPr id="15" name="">
            <a:extLst xmlns:a="http://schemas.openxmlformats.org/drawingml/2006/main">
              <a:ext uri="{FF2B5EF4-FFF2-40B4-BE49-F238E27FC236}">
                <a16:creationId xmlns:a16="http://schemas.microsoft.com/office/drawing/2014/main" id="{85B54EBF-B6F8-44F2-B54F-6D52F34C24EB}"/>
              </a:ext>
            </a:extLst>
          </p:cNvPr>
          <p:cNvSpPr>
            <a:spLocks xmlns:a="http://schemas.openxmlformats.org/drawingml/2006/main" noGrp="1"/>
          </p:cNvSpPr>
          <p:nvPr/>
        </p:nvSpPr>
        <p:spPr>
          <a:xfrm xmlns:a="http://schemas.openxmlformats.org/drawingml/2006/main">
            <a:off x="885825" y="3276600"/>
            <a:ext cx="95250" cy="95250"/>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CB1AEF3-5AEE-4151-B315-136E6B32ADF8}"/>
              </a:ext>
            </a:extLst>
          </p:cNvPr>
          <p:cNvSpPr>
            <a:spLocks xmlns:a="http://schemas.openxmlformats.org/drawingml/2006/main" noGrp="1"/>
          </p:cNvSpPr>
          <p:nvPr/>
        </p:nvSpPr>
        <p:spPr>
          <a:xfrm xmlns:a="http://schemas.openxmlformats.org/drawingml/2006/main">
            <a:off x="1114425" y="31813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Blank line</a:t>
            </a:r>
          </a:p>
        </p:txBody>
      </p:sp>
      <p:sp>
        <p:nvSpPr>
          <p:cNvPr id="17" name="">
            <a:extLst xmlns:a="http://schemas.openxmlformats.org/drawingml/2006/main">
              <a:ext uri="{FF2B5EF4-FFF2-40B4-BE49-F238E27FC236}">
                <a16:creationId xmlns:a16="http://schemas.microsoft.com/office/drawing/2014/main" id="{17DA4360-4953-4E7B-9ECA-EA9D7F6394B1}"/>
              </a:ext>
            </a:extLst>
          </p:cNvPr>
          <p:cNvSpPr>
            <a:spLocks xmlns:a="http://schemas.openxmlformats.org/drawingml/2006/main" noGrp="1"/>
          </p:cNvSpPr>
          <p:nvPr/>
        </p:nvSpPr>
        <p:spPr>
          <a:xfrm xmlns:a="http://schemas.openxmlformats.org/drawingml/2006/main">
            <a:off x="885825" y="3914775"/>
            <a:ext cx="95250" cy="95250"/>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D27553F-427E-4426-9ED7-B3881DA24F1B}"/>
              </a:ext>
            </a:extLst>
          </p:cNvPr>
          <p:cNvSpPr>
            <a:spLocks xmlns:a="http://schemas.openxmlformats.org/drawingml/2006/main" noGrp="1"/>
          </p:cNvSpPr>
          <p:nvPr/>
        </p:nvSpPr>
        <p:spPr>
          <a:xfrm xmlns:a="http://schemas.openxmlformats.org/drawingml/2006/main">
            <a:off x="1114425" y="381952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Block comment</a:t>
            </a:r>
          </a:p>
        </p:txBody>
      </p:sp>
      <p:sp>
        <p:nvSpPr>
          <p:cNvPr id="19" name="">
            <a:extLst xmlns:a="http://schemas.openxmlformats.org/drawingml/2006/main">
              <a:ext uri="{FF2B5EF4-FFF2-40B4-BE49-F238E27FC236}">
                <a16:creationId xmlns:a16="http://schemas.microsoft.com/office/drawing/2014/main" id="{0E21BECA-4AED-4C56-A09D-37DF06F110EC}"/>
              </a:ext>
            </a:extLst>
          </p:cNvPr>
          <p:cNvSpPr>
            <a:spLocks xmlns:a="http://schemas.openxmlformats.org/drawingml/2006/main" noGrp="1"/>
          </p:cNvSpPr>
          <p:nvPr/>
        </p:nvSpPr>
        <p:spPr>
          <a:xfrm xmlns:a="http://schemas.openxmlformats.org/drawingml/2006/main">
            <a:off x="885825" y="4552950"/>
            <a:ext cx="95250" cy="95250"/>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C178AB-CC32-412D-9172-845E9C00BE5E}"/>
              </a:ext>
            </a:extLst>
          </p:cNvPr>
          <p:cNvSpPr>
            <a:spLocks xmlns:a="http://schemas.openxmlformats.org/drawingml/2006/main" noGrp="1"/>
          </p:cNvSpPr>
          <p:nvPr/>
        </p:nvSpPr>
        <p:spPr>
          <a:xfrm xmlns:a="http://schemas.openxmlformats.org/drawingml/2006/main">
            <a:off x="1114425" y="44577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Reindent</a:t>
            </a:r>
          </a:p>
        </p:txBody>
      </p:sp>
      <p:sp>
        <p:nvSpPr>
          <p:cNvPr id="21" name="">
            <a:extLst xmlns:a="http://schemas.openxmlformats.org/drawingml/2006/main">
              <a:ext uri="{FF2B5EF4-FFF2-40B4-BE49-F238E27FC236}">
                <a16:creationId xmlns:a16="http://schemas.microsoft.com/office/drawing/2014/main" id="{7AB1445A-73EF-4430-AC20-DB0EADE0C052}"/>
              </a:ext>
            </a:extLst>
          </p:cNvPr>
          <p:cNvSpPr>
            <a:spLocks xmlns:a="http://schemas.openxmlformats.org/drawingml/2006/main" noGrp="1"/>
          </p:cNvSpPr>
          <p:nvPr/>
        </p:nvSpPr>
        <p:spPr>
          <a:xfrm xmlns:a="http://schemas.openxmlformats.org/drawingml/2006/main">
            <a:off x="4381500" y="1714500"/>
            <a:ext cx="319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7AC943"/>
                </a:solidFill>
                <a:latin typeface="Aptos"/>
                <a:ea typeface="Aptos"/>
                <a:cs typeface="Aptos"/>
              </a:defRPr>
            </a:pPr>
            <a:r>
              <a:rPr sz="1800" b="1">
                <a:solidFill>
                  <a:srgbClr val="7AC943"/>
                </a:solidFill>
                <a:latin typeface="Aptos"/>
                <a:ea typeface="Aptos"/>
                <a:cs typeface="Aptos"/>
              </a:rPr>
              <a:t>T2 · token change</a:t>
            </a:r>
          </a:p>
        </p:txBody>
      </p:sp>
      <p:sp>
        <p:nvSpPr>
          <p:cNvPr id="22" name="">
            <a:extLst xmlns:a="http://schemas.openxmlformats.org/drawingml/2006/main">
              <a:ext uri="{FF2B5EF4-FFF2-40B4-BE49-F238E27FC236}">
                <a16:creationId xmlns:a16="http://schemas.microsoft.com/office/drawing/2014/main" id="{5ABE1147-1740-4B57-B06B-6A7D4831286A}"/>
              </a:ext>
            </a:extLst>
          </p:cNvPr>
          <p:cNvSpPr>
            <a:spLocks xmlns:a="http://schemas.openxmlformats.org/drawingml/2006/main" noGrp="1"/>
          </p:cNvSpPr>
          <p:nvPr/>
        </p:nvSpPr>
        <p:spPr>
          <a:xfrm xmlns:a="http://schemas.openxmlformats.org/drawingml/2006/main">
            <a:off x="4619625" y="2171700"/>
            <a:ext cx="2714625" cy="0"/>
          </a:xfrm>
          <a:prstGeom xmlns:a="http://schemas.openxmlformats.org/drawingml/2006/main" prst="line">
            <a:avLst/>
          </a:prstGeom>
          <a:noFill xmlns:a="http://schemas.openxmlformats.org/drawingml/2006/main"/>
          <a:ln xmlns:a="http://schemas.openxmlformats.org/drawingml/2006/main" w="38100">
            <a:solidFill>
              <a:srgbClr val="7AC943"/>
            </a:solidFill>
            <a:prstDash val="solid"/>
          </a:ln>
        </p:spPr>
      </p:sp>
      <p:sp>
        <p:nvSpPr>
          <p:cNvPr id="23" name="">
            <a:extLst xmlns:a="http://schemas.openxmlformats.org/drawingml/2006/main">
              <a:ext uri="{FF2B5EF4-FFF2-40B4-BE49-F238E27FC236}">
                <a16:creationId xmlns:a16="http://schemas.microsoft.com/office/drawing/2014/main" id="{52C92641-CC6E-4729-AEAC-330457FD7D53}"/>
              </a:ext>
            </a:extLst>
          </p:cNvPr>
          <p:cNvSpPr>
            <a:spLocks xmlns:a="http://schemas.openxmlformats.org/drawingml/2006/main" noGrp="1"/>
          </p:cNvSpPr>
          <p:nvPr/>
        </p:nvSpPr>
        <p:spPr>
          <a:xfrm xmlns:a="http://schemas.openxmlformats.org/drawingml/2006/main">
            <a:off x="4552950" y="2638425"/>
            <a:ext cx="95250" cy="95250"/>
          </a:xfrm>
          <a:prstGeom xmlns:a="http://schemas.openxmlformats.org/drawingml/2006/main" prst="ellipse">
            <a:avLst/>
          </a:prstGeom>
          <a:solidFill xmlns:a="http://schemas.openxmlformats.org/drawingml/2006/main">
            <a:srgbClr val="7AC9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2703941-516D-41D4-817A-ACE452D81B75}"/>
              </a:ext>
            </a:extLst>
          </p:cNvPr>
          <p:cNvSpPr>
            <a:spLocks xmlns:a="http://schemas.openxmlformats.org/drawingml/2006/main" noGrp="1"/>
          </p:cNvSpPr>
          <p:nvPr/>
        </p:nvSpPr>
        <p:spPr>
          <a:xfrm xmlns:a="http://schemas.openxmlformats.org/drawingml/2006/main">
            <a:off x="4781550" y="25431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Rename local variable</a:t>
            </a:r>
          </a:p>
        </p:txBody>
      </p:sp>
      <p:sp>
        <p:nvSpPr>
          <p:cNvPr id="25" name="">
            <a:extLst xmlns:a="http://schemas.openxmlformats.org/drawingml/2006/main">
              <a:ext uri="{FF2B5EF4-FFF2-40B4-BE49-F238E27FC236}">
                <a16:creationId xmlns:a16="http://schemas.microsoft.com/office/drawing/2014/main" id="{5A5ED13F-D5EA-4168-9A7B-934C0313B859}"/>
              </a:ext>
            </a:extLst>
          </p:cNvPr>
          <p:cNvSpPr>
            <a:spLocks xmlns:a="http://schemas.openxmlformats.org/drawingml/2006/main" noGrp="1"/>
          </p:cNvSpPr>
          <p:nvPr/>
        </p:nvSpPr>
        <p:spPr>
          <a:xfrm xmlns:a="http://schemas.openxmlformats.org/drawingml/2006/main">
            <a:off x="4552950" y="3276600"/>
            <a:ext cx="95250" cy="95250"/>
          </a:xfrm>
          <a:prstGeom xmlns:a="http://schemas.openxmlformats.org/drawingml/2006/main" prst="ellipse">
            <a:avLst/>
          </a:prstGeom>
          <a:solidFill xmlns:a="http://schemas.openxmlformats.org/drawingml/2006/main">
            <a:srgbClr val="7AC94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4A3B2B6-5829-4D33-82D3-436EB6B3E797}"/>
              </a:ext>
            </a:extLst>
          </p:cNvPr>
          <p:cNvSpPr>
            <a:spLocks xmlns:a="http://schemas.openxmlformats.org/drawingml/2006/main" noGrp="1"/>
          </p:cNvSpPr>
          <p:nvPr/>
        </p:nvSpPr>
        <p:spPr>
          <a:xfrm xmlns:a="http://schemas.openxmlformats.org/drawingml/2006/main">
            <a:off x="4781550" y="31813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Change int literal</a:t>
            </a:r>
          </a:p>
        </p:txBody>
      </p:sp>
      <p:sp>
        <p:nvSpPr>
          <p:cNvPr id="27" name="">
            <a:extLst xmlns:a="http://schemas.openxmlformats.org/drawingml/2006/main">
              <a:ext uri="{FF2B5EF4-FFF2-40B4-BE49-F238E27FC236}">
                <a16:creationId xmlns:a16="http://schemas.microsoft.com/office/drawing/2014/main" id="{A67064AA-1E22-4D25-8CA4-FD19A7428ED9}"/>
              </a:ext>
            </a:extLst>
          </p:cNvPr>
          <p:cNvSpPr>
            <a:spLocks xmlns:a="http://schemas.openxmlformats.org/drawingml/2006/main" noGrp="1"/>
          </p:cNvSpPr>
          <p:nvPr/>
        </p:nvSpPr>
        <p:spPr>
          <a:xfrm xmlns:a="http://schemas.openxmlformats.org/drawingml/2006/main">
            <a:off x="4552950" y="3914775"/>
            <a:ext cx="95250" cy="95250"/>
          </a:xfrm>
          <a:prstGeom xmlns:a="http://schemas.openxmlformats.org/drawingml/2006/main" prst="ellipse">
            <a:avLst/>
          </a:prstGeom>
          <a:solidFill xmlns:a="http://schemas.openxmlformats.org/drawingml/2006/main">
            <a:srgbClr val="7AC9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83C2B49-3992-4DA9-B56D-E931E34619EB}"/>
              </a:ext>
            </a:extLst>
          </p:cNvPr>
          <p:cNvSpPr>
            <a:spLocks xmlns:a="http://schemas.openxmlformats.org/drawingml/2006/main" noGrp="1"/>
          </p:cNvSpPr>
          <p:nvPr/>
        </p:nvSpPr>
        <p:spPr>
          <a:xfrm xmlns:a="http://schemas.openxmlformats.org/drawingml/2006/main">
            <a:off x="4781550" y="381952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Change string literal</a:t>
            </a:r>
          </a:p>
        </p:txBody>
      </p:sp>
      <p:sp>
        <p:nvSpPr>
          <p:cNvPr id="29" name="">
            <a:extLst xmlns:a="http://schemas.openxmlformats.org/drawingml/2006/main">
              <a:ext uri="{FF2B5EF4-FFF2-40B4-BE49-F238E27FC236}">
                <a16:creationId xmlns:a16="http://schemas.microsoft.com/office/drawing/2014/main" id="{E34BDC05-907C-40C4-947D-E240AA9F23D7}"/>
              </a:ext>
            </a:extLst>
          </p:cNvPr>
          <p:cNvSpPr>
            <a:spLocks xmlns:a="http://schemas.openxmlformats.org/drawingml/2006/main" noGrp="1"/>
          </p:cNvSpPr>
          <p:nvPr/>
        </p:nvSpPr>
        <p:spPr>
          <a:xfrm xmlns:a="http://schemas.openxmlformats.org/drawingml/2006/main">
            <a:off x="8048625" y="1714500"/>
            <a:ext cx="319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F0A757"/>
                </a:solidFill>
                <a:latin typeface="Aptos"/>
                <a:ea typeface="Aptos"/>
                <a:cs typeface="Aptos"/>
              </a:defRPr>
            </a:pPr>
            <a:r>
              <a:rPr sz="1800" b="1">
                <a:solidFill>
                  <a:srgbClr val="F0A757"/>
                </a:solidFill>
                <a:latin typeface="Aptos"/>
                <a:ea typeface="Aptos"/>
                <a:cs typeface="Aptos"/>
              </a:rPr>
              <a:t>T3 · statement change</a:t>
            </a:r>
          </a:p>
        </p:txBody>
      </p:sp>
      <p:sp>
        <p:nvSpPr>
          <p:cNvPr id="30" name="">
            <a:extLst xmlns:a="http://schemas.openxmlformats.org/drawingml/2006/main">
              <a:ext uri="{FF2B5EF4-FFF2-40B4-BE49-F238E27FC236}">
                <a16:creationId xmlns:a16="http://schemas.microsoft.com/office/drawing/2014/main" id="{EBD7AB7F-AEFF-47C3-AFC5-63E6DBFD3FEB}"/>
              </a:ext>
            </a:extLst>
          </p:cNvPr>
          <p:cNvSpPr>
            <a:spLocks xmlns:a="http://schemas.openxmlformats.org/drawingml/2006/main" noGrp="1"/>
          </p:cNvSpPr>
          <p:nvPr/>
        </p:nvSpPr>
        <p:spPr>
          <a:xfrm xmlns:a="http://schemas.openxmlformats.org/drawingml/2006/main">
            <a:off x="8286750" y="2171700"/>
            <a:ext cx="2714625" cy="0"/>
          </a:xfrm>
          <a:prstGeom xmlns:a="http://schemas.openxmlformats.org/drawingml/2006/main" prst="line">
            <a:avLst/>
          </a:prstGeom>
          <a:noFill xmlns:a="http://schemas.openxmlformats.org/drawingml/2006/main"/>
          <a:ln xmlns:a="http://schemas.openxmlformats.org/drawingml/2006/main" w="38100">
            <a:solidFill>
              <a:srgbClr val="F0A757"/>
            </a:solidFill>
            <a:prstDash val="solid"/>
          </a:ln>
        </p:spPr>
      </p:sp>
      <p:sp>
        <p:nvSpPr>
          <p:cNvPr id="31" name="">
            <a:extLst xmlns:a="http://schemas.openxmlformats.org/drawingml/2006/main">
              <a:ext uri="{FF2B5EF4-FFF2-40B4-BE49-F238E27FC236}">
                <a16:creationId xmlns:a16="http://schemas.microsoft.com/office/drawing/2014/main" id="{EA38DA7F-CFAD-47D4-B9A1-DC21D470DEF4}"/>
              </a:ext>
            </a:extLst>
          </p:cNvPr>
          <p:cNvSpPr>
            <a:spLocks xmlns:a="http://schemas.openxmlformats.org/drawingml/2006/main" noGrp="1"/>
          </p:cNvSpPr>
          <p:nvPr/>
        </p:nvSpPr>
        <p:spPr>
          <a:xfrm xmlns:a="http://schemas.openxmlformats.org/drawingml/2006/main">
            <a:off x="8220075" y="2638425"/>
            <a:ext cx="95250" cy="95250"/>
          </a:xfrm>
          <a:prstGeom xmlns:a="http://schemas.openxmlformats.org/drawingml/2006/main" prst="ellipse">
            <a:avLst/>
          </a:prstGeom>
          <a:solidFill xmlns:a="http://schemas.openxmlformats.org/drawingml/2006/main">
            <a:srgbClr val="F0A75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0872F70-5277-46FC-A6AC-17196C3D37FC}"/>
              </a:ext>
            </a:extLst>
          </p:cNvPr>
          <p:cNvSpPr>
            <a:spLocks xmlns:a="http://schemas.openxmlformats.org/drawingml/2006/main" noGrp="1"/>
          </p:cNvSpPr>
          <p:nvPr/>
        </p:nvSpPr>
        <p:spPr>
          <a:xfrm xmlns:a="http://schemas.openxmlformats.org/drawingml/2006/main">
            <a:off x="8448675" y="25431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Insert statement</a:t>
            </a:r>
          </a:p>
        </p:txBody>
      </p:sp>
      <p:sp>
        <p:nvSpPr>
          <p:cNvPr id="33" name="">
            <a:extLst xmlns:a="http://schemas.openxmlformats.org/drawingml/2006/main">
              <a:ext uri="{FF2B5EF4-FFF2-40B4-BE49-F238E27FC236}">
                <a16:creationId xmlns:a16="http://schemas.microsoft.com/office/drawing/2014/main" id="{E5B1C8DB-8E76-437B-A6D7-4FA477167E29}"/>
              </a:ext>
            </a:extLst>
          </p:cNvPr>
          <p:cNvSpPr>
            <a:spLocks xmlns:a="http://schemas.openxmlformats.org/drawingml/2006/main" noGrp="1"/>
          </p:cNvSpPr>
          <p:nvPr/>
        </p:nvSpPr>
        <p:spPr>
          <a:xfrm xmlns:a="http://schemas.openxmlformats.org/drawingml/2006/main">
            <a:off x="8220075" y="3276600"/>
            <a:ext cx="95250" cy="95250"/>
          </a:xfrm>
          <a:prstGeom xmlns:a="http://schemas.openxmlformats.org/drawingml/2006/main" prst="ellipse">
            <a:avLst/>
          </a:prstGeom>
          <a:solidFill xmlns:a="http://schemas.openxmlformats.org/drawingml/2006/main">
            <a:srgbClr val="F0A75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080974-009F-49AC-A72D-668F4ABD9D3B}"/>
              </a:ext>
            </a:extLst>
          </p:cNvPr>
          <p:cNvSpPr>
            <a:spLocks xmlns:a="http://schemas.openxmlformats.org/drawingml/2006/main" noGrp="1"/>
          </p:cNvSpPr>
          <p:nvPr/>
        </p:nvSpPr>
        <p:spPr>
          <a:xfrm xmlns:a="http://schemas.openxmlformats.org/drawingml/2006/main">
            <a:off x="8448675" y="31813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Delete statement</a:t>
            </a:r>
          </a:p>
        </p:txBody>
      </p:sp>
      <p:sp>
        <p:nvSpPr>
          <p:cNvPr id="35" name="">
            <a:extLst xmlns:a="http://schemas.openxmlformats.org/drawingml/2006/main">
              <a:ext uri="{FF2B5EF4-FFF2-40B4-BE49-F238E27FC236}">
                <a16:creationId xmlns:a16="http://schemas.microsoft.com/office/drawing/2014/main" id="{A204588B-BC98-40C5-9D5B-B352050F7CC7}"/>
              </a:ext>
            </a:extLst>
          </p:cNvPr>
          <p:cNvSpPr>
            <a:spLocks xmlns:a="http://schemas.openxmlformats.org/drawingml/2006/main" noGrp="1"/>
          </p:cNvSpPr>
          <p:nvPr/>
        </p:nvSpPr>
        <p:spPr>
          <a:xfrm xmlns:a="http://schemas.openxmlformats.org/drawingml/2006/main">
            <a:off x="8220075" y="3914775"/>
            <a:ext cx="95250" cy="95250"/>
          </a:xfrm>
          <a:prstGeom xmlns:a="http://schemas.openxmlformats.org/drawingml/2006/main" prst="ellipse">
            <a:avLst/>
          </a:prstGeom>
          <a:solidFill xmlns:a="http://schemas.openxmlformats.org/drawingml/2006/main">
            <a:srgbClr val="F0A75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7439553-0E6D-4B4E-84A3-90CFE82C2F23}"/>
              </a:ext>
            </a:extLst>
          </p:cNvPr>
          <p:cNvSpPr>
            <a:spLocks xmlns:a="http://schemas.openxmlformats.org/drawingml/2006/main" noGrp="1"/>
          </p:cNvSpPr>
          <p:nvPr/>
        </p:nvSpPr>
        <p:spPr>
          <a:xfrm xmlns:a="http://schemas.openxmlformats.org/drawingml/2006/main">
            <a:off x="8448675" y="381952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Wrap statement</a:t>
            </a:r>
          </a:p>
        </p:txBody>
      </p:sp>
      <p:sp>
        <p:nvSpPr>
          <p:cNvPr id="37" name="">
            <a:extLst xmlns:a="http://schemas.openxmlformats.org/drawingml/2006/main">
              <a:ext uri="{FF2B5EF4-FFF2-40B4-BE49-F238E27FC236}">
                <a16:creationId xmlns:a16="http://schemas.microsoft.com/office/drawing/2014/main" id="{31696D27-3139-4B64-A983-B37AED18BAFB}"/>
              </a:ext>
            </a:extLst>
          </p:cNvPr>
          <p:cNvSpPr>
            <a:spLocks xmlns:a="http://schemas.openxmlformats.org/drawingml/2006/main" noGrp="1"/>
          </p:cNvSpPr>
          <p:nvPr/>
        </p:nvSpPr>
        <p:spPr>
          <a:xfrm xmlns:a="http://schemas.openxmlformats.org/drawingml/2006/main">
            <a:off x="1190625" y="5219700"/>
            <a:ext cx="942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4F2683"/>
                </a:solidFill>
                <a:latin typeface="Aptos"/>
                <a:ea typeface="Aptos"/>
                <a:cs typeface="Aptos"/>
              </a:defRPr>
            </a:pPr>
            <a:r>
              <a:rPr sz="1425" b="1">
                <a:solidFill>
                  <a:srgbClr val="4F2683"/>
                </a:solidFill>
                <a:latin typeface="Aptos"/>
                <a:ea typeface="Aptos"/>
                <a:cs typeface="Aptos"/>
              </a:rPr>
              <a:t>After the final Spoon fixes: 0 compilation failures in 600 mutations; wrap applicability 97.5%, others 100%.</a:t>
            </a:r>
          </a:p>
        </p:txBody>
      </p:sp>
    </p:spTree>
    <p:extLst>
      <p:ext uri="{BB962C8B-B14F-4D97-AF65-F5344CB8AC3E}">
        <p14:creationId xmlns:p14="http://schemas.microsoft.com/office/powerpoint/2010/main" val="25855141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current sample — 4,000 admitted pairs</a:t>
            </a:r>
          </a:p>
        </p:txBody>
      </p:sp>
      <p:pic>
        <p:nvPicPr>
          <p:cNvPr id="31" name="Picture 3"/>
          <p:cNvPicPr>
            <a:picLocks xmlns:a="http://schemas.openxmlformats.org/drawingml/2006/main" noChangeAspect="1"/>
          </p:cNvPicPr>
          <p:nvPr/>
        </p:nvPicPr>
        <p:blipFill>
          <a:blip xmlns:r="http://schemas.openxmlformats.org/officeDocument/2006/relationships" xmlns:a="http://schemas.openxmlformats.org/drawingml/2006/main" r:embed="R43aec9bc9f16448d"/>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AB1FD03-F4D9-4FD8-ACEB-4FE8621F8DD5}"/>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AF46971D-38DF-4794-8FEE-F2BAFC0300F3}"/>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Four frozen batches; 249 CodeNet problems represented</a:t>
            </a:r>
          </a:p>
        </p:txBody>
      </p:sp>
      <p:sp>
        <p:nvSpPr>
          <p:cNvPr id="9" name="">
            <a:extLst xmlns:a="http://schemas.openxmlformats.org/drawingml/2006/main">
              <a:ext uri="{FF2B5EF4-FFF2-40B4-BE49-F238E27FC236}">
                <a16:creationId xmlns:a16="http://schemas.microsoft.com/office/drawing/2014/main" id="{7DAF6975-AFBD-4133-9608-0744B7D5547F}"/>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5D40545D-87CD-4994-951E-FAEF9225A73A}"/>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14 / 24</a:t>
            </a:r>
          </a:p>
        </p:txBody>
      </p:sp>
      <p:sp>
        <p:nvSpPr>
          <p:cNvPr id="11" name="">
            <a:extLst xmlns:a="http://schemas.openxmlformats.org/drawingml/2006/main">
              <a:ext uri="{FF2B5EF4-FFF2-40B4-BE49-F238E27FC236}">
                <a16:creationId xmlns:a16="http://schemas.microsoft.com/office/drawing/2014/main" id="{23794694-37D8-4E13-95C3-DF15A81C580C}"/>
              </a:ext>
            </a:extLst>
          </p:cNvPr>
          <p:cNvSpPr>
            <a:spLocks xmlns:a="http://schemas.openxmlformats.org/drawingml/2006/main" noGrp="1"/>
          </p:cNvSpPr>
          <p:nvPr/>
        </p:nvSpPr>
        <p:spPr>
          <a:xfrm xmlns:a="http://schemas.openxmlformats.org/drawingml/2006/main">
            <a:off x="666750" y="16002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4,000</a:t>
            </a:r>
          </a:p>
        </p:txBody>
      </p:sp>
      <p:sp>
        <p:nvSpPr>
          <p:cNvPr id="12" name="">
            <a:extLst xmlns:a="http://schemas.openxmlformats.org/drawingml/2006/main">
              <a:ext uri="{FF2B5EF4-FFF2-40B4-BE49-F238E27FC236}">
                <a16:creationId xmlns:a16="http://schemas.microsoft.com/office/drawing/2014/main" id="{7ABB58BF-FFE1-49CC-A56E-4EB666B2B688}"/>
              </a:ext>
            </a:extLst>
          </p:cNvPr>
          <p:cNvSpPr>
            <a:spLocks xmlns:a="http://schemas.openxmlformats.org/drawingml/2006/main" noGrp="1"/>
          </p:cNvSpPr>
          <p:nvPr/>
        </p:nvSpPr>
        <p:spPr>
          <a:xfrm xmlns:a="http://schemas.openxmlformats.org/drawingml/2006/main">
            <a:off x="666750" y="2266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evaluated pairs</a:t>
            </a:r>
          </a:p>
        </p:txBody>
      </p:sp>
      <p:sp>
        <p:nvSpPr>
          <p:cNvPr id="13" name="">
            <a:extLst xmlns:a="http://schemas.openxmlformats.org/drawingml/2006/main">
              <a:ext uri="{FF2B5EF4-FFF2-40B4-BE49-F238E27FC236}">
                <a16:creationId xmlns:a16="http://schemas.microsoft.com/office/drawing/2014/main" id="{4E4AD081-4019-4E03-8E9D-22DDD975D6E6}"/>
              </a:ext>
            </a:extLst>
          </p:cNvPr>
          <p:cNvSpPr>
            <a:spLocks xmlns:a="http://schemas.openxmlformats.org/drawingml/2006/main" noGrp="1"/>
          </p:cNvSpPr>
          <p:nvPr/>
        </p:nvSpPr>
        <p:spPr>
          <a:xfrm xmlns:a="http://schemas.openxmlformats.org/drawingml/2006/main">
            <a:off x="666750" y="26003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1,000 pairs × 4 batches</a:t>
            </a:r>
          </a:p>
        </p:txBody>
      </p:sp>
      <p:sp>
        <p:nvSpPr>
          <p:cNvPr id="14" name="">
            <a:extLst xmlns:a="http://schemas.openxmlformats.org/drawingml/2006/main">
              <a:ext uri="{FF2B5EF4-FFF2-40B4-BE49-F238E27FC236}">
                <a16:creationId xmlns:a16="http://schemas.microsoft.com/office/drawing/2014/main" id="{CEC9842A-CA1A-4E3B-AFF2-8F57831008A5}"/>
              </a:ext>
            </a:extLst>
          </p:cNvPr>
          <p:cNvSpPr>
            <a:spLocks xmlns:a="http://schemas.openxmlformats.org/drawingml/2006/main" noGrp="1"/>
          </p:cNvSpPr>
          <p:nvPr/>
        </p:nvSpPr>
        <p:spPr>
          <a:xfrm xmlns:a="http://schemas.openxmlformats.org/drawingml/2006/main">
            <a:off x="666750" y="326707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7AC943"/>
                </a:solidFill>
                <a:latin typeface="Aptos Display"/>
                <a:ea typeface="Aptos Display"/>
                <a:cs typeface="Aptos Display"/>
              </a:defRPr>
            </a:pPr>
            <a:r>
              <a:rPr sz="3600" b="1">
                <a:solidFill>
                  <a:srgbClr val="7AC943"/>
                </a:solidFill>
                <a:latin typeface="Aptos Display"/>
                <a:ea typeface="Aptos Display"/>
                <a:cs typeface="Aptos Display"/>
              </a:rPr>
              <a:t>249</a:t>
            </a:r>
          </a:p>
        </p:txBody>
      </p:sp>
      <p:sp>
        <p:nvSpPr>
          <p:cNvPr id="15" name="">
            <a:extLst xmlns:a="http://schemas.openxmlformats.org/drawingml/2006/main">
              <a:ext uri="{FF2B5EF4-FFF2-40B4-BE49-F238E27FC236}">
                <a16:creationId xmlns:a16="http://schemas.microsoft.com/office/drawing/2014/main" id="{88904489-0A9C-4F0F-AD4B-1E69E6FF10E7}"/>
              </a:ext>
            </a:extLst>
          </p:cNvPr>
          <p:cNvSpPr>
            <a:spLocks xmlns:a="http://schemas.openxmlformats.org/drawingml/2006/main" noGrp="1"/>
          </p:cNvSpPr>
          <p:nvPr/>
        </p:nvSpPr>
        <p:spPr>
          <a:xfrm xmlns:a="http://schemas.openxmlformats.org/drawingml/2006/main">
            <a:off x="666750" y="39338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different problems</a:t>
            </a:r>
          </a:p>
        </p:txBody>
      </p:sp>
      <p:sp>
        <p:nvSpPr>
          <p:cNvPr id="16" name="">
            <a:extLst xmlns:a="http://schemas.openxmlformats.org/drawingml/2006/main">
              <a:ext uri="{FF2B5EF4-FFF2-40B4-BE49-F238E27FC236}">
                <a16:creationId xmlns:a16="http://schemas.microsoft.com/office/drawing/2014/main" id="{F3FB3F69-A227-4C92-8973-524E07F9EDB9}"/>
              </a:ext>
            </a:extLst>
          </p:cNvPr>
          <p:cNvSpPr>
            <a:spLocks xmlns:a="http://schemas.openxmlformats.org/drawingml/2006/main" noGrp="1"/>
          </p:cNvSpPr>
          <p:nvPr/>
        </p:nvSpPr>
        <p:spPr>
          <a:xfrm xmlns:a="http://schemas.openxmlformats.org/drawingml/2006/main">
            <a:off x="666750" y="42672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CodeNet Java250</a:t>
            </a:r>
          </a:p>
        </p:txBody>
      </p:sp>
      <p:sp>
        <p:nvSpPr>
          <p:cNvPr id="17" name="">
            <a:extLst xmlns:a="http://schemas.openxmlformats.org/drawingml/2006/main">
              <a:ext uri="{FF2B5EF4-FFF2-40B4-BE49-F238E27FC236}">
                <a16:creationId xmlns:a16="http://schemas.microsoft.com/office/drawing/2014/main" id="{1B0AA697-BD09-48E9-B2D8-8F8E5306552F}"/>
              </a:ext>
            </a:extLst>
          </p:cNvPr>
          <p:cNvSpPr>
            <a:spLocks xmlns:a="http://schemas.openxmlformats.org/drawingml/2006/main" noGrp="1"/>
          </p:cNvSpPr>
          <p:nvPr/>
        </p:nvSpPr>
        <p:spPr>
          <a:xfrm xmlns:a="http://schemas.openxmlformats.org/drawingml/2006/main">
            <a:off x="3667125" y="1885950"/>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CodeNet pool</a:t>
            </a:r>
          </a:p>
        </p:txBody>
      </p:sp>
      <p:sp>
        <p:nvSpPr>
          <p:cNvPr id="18" name="">
            <a:extLst xmlns:a="http://schemas.openxmlformats.org/drawingml/2006/main">
              <a:ext uri="{FF2B5EF4-FFF2-40B4-BE49-F238E27FC236}">
                <a16:creationId xmlns:a16="http://schemas.microsoft.com/office/drawing/2014/main" id="{EAF2007D-5C91-40A0-BFC0-BE34461A129B}"/>
              </a:ext>
            </a:extLst>
          </p:cNvPr>
          <p:cNvSpPr>
            <a:spLocks xmlns:a="http://schemas.openxmlformats.org/drawingml/2006/main" noGrp="1"/>
          </p:cNvSpPr>
          <p:nvPr/>
        </p:nvSpPr>
        <p:spPr>
          <a:xfrm xmlns:a="http://schemas.openxmlformats.org/drawingml/2006/main">
            <a:off x="4953000" y="1905000"/>
            <a:ext cx="5429250" cy="2952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B374D95-964D-45BD-8E09-5346D2904053}"/>
              </a:ext>
            </a:extLst>
          </p:cNvPr>
          <p:cNvSpPr>
            <a:spLocks xmlns:a="http://schemas.openxmlformats.org/drawingml/2006/main" noGrp="1"/>
          </p:cNvSpPr>
          <p:nvPr/>
        </p:nvSpPr>
        <p:spPr>
          <a:xfrm xmlns:a="http://schemas.openxmlformats.org/drawingml/2006/main">
            <a:off x="4953000" y="1905000"/>
            <a:ext cx="5429250" cy="295275"/>
          </a:xfrm>
          <a:prstGeom xmlns:a="http://schemas.openxmlformats.org/drawingml/2006/main" prst="rect">
            <a:avLst/>
          </a:prstGeom>
          <a:solidFill xmlns:a="http://schemas.openxmlformats.org/drawingml/2006/main">
            <a:srgbClr val="A9A9A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941B226-A7B1-488B-BAE3-65A0842D1ABB}"/>
              </a:ext>
            </a:extLst>
          </p:cNvPr>
          <p:cNvSpPr>
            <a:spLocks xmlns:a="http://schemas.openxmlformats.org/drawingml/2006/main" noGrp="1"/>
          </p:cNvSpPr>
          <p:nvPr/>
        </p:nvSpPr>
        <p:spPr>
          <a:xfrm xmlns:a="http://schemas.openxmlformats.org/drawingml/2006/main">
            <a:off x="10496550" y="1866900"/>
            <a:ext cx="1143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A9A9A9"/>
                </a:solidFill>
                <a:latin typeface="Aptos"/>
                <a:ea typeface="Aptos"/>
                <a:cs typeface="Aptos"/>
              </a:defRPr>
            </a:pPr>
            <a:r>
              <a:rPr sz="1350" b="1">
                <a:solidFill>
                  <a:srgbClr val="A9A9A9"/>
                </a:solidFill>
                <a:latin typeface="Aptos"/>
                <a:ea typeface="Aptos"/>
                <a:cs typeface="Aptos"/>
              </a:rPr>
              <a:t>75,000</a:t>
            </a:r>
          </a:p>
        </p:txBody>
      </p:sp>
      <p:sp>
        <p:nvSpPr>
          <p:cNvPr id="21" name="">
            <a:extLst xmlns:a="http://schemas.openxmlformats.org/drawingml/2006/main">
              <a:ext uri="{FF2B5EF4-FFF2-40B4-BE49-F238E27FC236}">
                <a16:creationId xmlns:a16="http://schemas.microsoft.com/office/drawing/2014/main" id="{04B29783-4B97-4693-932A-2E87424C6520}"/>
              </a:ext>
            </a:extLst>
          </p:cNvPr>
          <p:cNvSpPr>
            <a:spLocks xmlns:a="http://schemas.openxmlformats.org/drawingml/2006/main" noGrp="1"/>
          </p:cNvSpPr>
          <p:nvPr/>
        </p:nvSpPr>
        <p:spPr>
          <a:xfrm xmlns:a="http://schemas.openxmlformats.org/drawingml/2006/main">
            <a:off x="3667125" y="2695575"/>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LOC-filtered</a:t>
            </a:r>
          </a:p>
        </p:txBody>
      </p:sp>
      <p:sp>
        <p:nvSpPr>
          <p:cNvPr id="22" name="">
            <a:extLst xmlns:a="http://schemas.openxmlformats.org/drawingml/2006/main">
              <a:ext uri="{FF2B5EF4-FFF2-40B4-BE49-F238E27FC236}">
                <a16:creationId xmlns:a16="http://schemas.microsoft.com/office/drawing/2014/main" id="{D4239A77-0AD5-437C-AF52-6293AE8BB2EC}"/>
              </a:ext>
            </a:extLst>
          </p:cNvPr>
          <p:cNvSpPr>
            <a:spLocks xmlns:a="http://schemas.openxmlformats.org/drawingml/2006/main" noGrp="1"/>
          </p:cNvSpPr>
          <p:nvPr/>
        </p:nvSpPr>
        <p:spPr>
          <a:xfrm xmlns:a="http://schemas.openxmlformats.org/drawingml/2006/main">
            <a:off x="4953000" y="2714625"/>
            <a:ext cx="5429250" cy="2952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67325C-FAAC-400D-8A53-67D0FFDB93FC}"/>
              </a:ext>
            </a:extLst>
          </p:cNvPr>
          <p:cNvSpPr>
            <a:spLocks xmlns:a="http://schemas.openxmlformats.org/drawingml/2006/main" noGrp="1"/>
          </p:cNvSpPr>
          <p:nvPr/>
        </p:nvSpPr>
        <p:spPr>
          <a:xfrm xmlns:a="http://schemas.openxmlformats.org/drawingml/2006/main">
            <a:off x="4953000" y="2714625"/>
            <a:ext cx="4216862" cy="295275"/>
          </a:xfrm>
          <a:prstGeom xmlns:a="http://schemas.openxmlformats.org/drawingml/2006/main" prst="rect">
            <a:avLst/>
          </a:prstGeom>
          <a:solidFill xmlns:a="http://schemas.openxmlformats.org/drawingml/2006/main">
            <a:srgbClr val="7A4AB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085A12F-0924-42DC-8096-4FC242F974AE}"/>
              </a:ext>
            </a:extLst>
          </p:cNvPr>
          <p:cNvSpPr>
            <a:spLocks xmlns:a="http://schemas.openxmlformats.org/drawingml/2006/main" noGrp="1"/>
          </p:cNvSpPr>
          <p:nvPr/>
        </p:nvSpPr>
        <p:spPr>
          <a:xfrm xmlns:a="http://schemas.openxmlformats.org/drawingml/2006/main">
            <a:off x="10496550" y="2676525"/>
            <a:ext cx="1143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7A4AB0"/>
                </a:solidFill>
                <a:latin typeface="Aptos"/>
                <a:ea typeface="Aptos"/>
                <a:cs typeface="Aptos"/>
              </a:defRPr>
            </a:pPr>
            <a:r>
              <a:rPr sz="1350" b="1">
                <a:solidFill>
                  <a:srgbClr val="7A4AB0"/>
                </a:solidFill>
                <a:latin typeface="Aptos"/>
                <a:ea typeface="Aptos"/>
                <a:cs typeface="Aptos"/>
              </a:rPr>
              <a:t>58,252</a:t>
            </a:r>
          </a:p>
        </p:txBody>
      </p:sp>
      <p:sp>
        <p:nvSpPr>
          <p:cNvPr id="25" name="">
            <a:extLst xmlns:a="http://schemas.openxmlformats.org/drawingml/2006/main">
              <a:ext uri="{FF2B5EF4-FFF2-40B4-BE49-F238E27FC236}">
                <a16:creationId xmlns:a16="http://schemas.microsoft.com/office/drawing/2014/main" id="{889DF5C7-43E7-4B57-A121-D25482CE6ED7}"/>
              </a:ext>
            </a:extLst>
          </p:cNvPr>
          <p:cNvSpPr>
            <a:spLocks xmlns:a="http://schemas.openxmlformats.org/drawingml/2006/main" noGrp="1"/>
          </p:cNvSpPr>
          <p:nvPr/>
        </p:nvSpPr>
        <p:spPr>
          <a:xfrm xmlns:a="http://schemas.openxmlformats.org/drawingml/2006/main">
            <a:off x="3667125" y="3505200"/>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Evaluated</a:t>
            </a:r>
          </a:p>
        </p:txBody>
      </p:sp>
      <p:sp>
        <p:nvSpPr>
          <p:cNvPr id="26" name="">
            <a:extLst xmlns:a="http://schemas.openxmlformats.org/drawingml/2006/main">
              <a:ext uri="{FF2B5EF4-FFF2-40B4-BE49-F238E27FC236}">
                <a16:creationId xmlns:a16="http://schemas.microsoft.com/office/drawing/2014/main" id="{FF9939F3-36AB-4DC9-AE97-E246BAB07098}"/>
              </a:ext>
            </a:extLst>
          </p:cNvPr>
          <p:cNvSpPr>
            <a:spLocks xmlns:a="http://schemas.openxmlformats.org/drawingml/2006/main" noGrp="1"/>
          </p:cNvSpPr>
          <p:nvPr/>
        </p:nvSpPr>
        <p:spPr>
          <a:xfrm xmlns:a="http://schemas.openxmlformats.org/drawingml/2006/main">
            <a:off x="4953000" y="3524250"/>
            <a:ext cx="5429250" cy="2952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DB59546-4275-4231-9879-8E78BDBBFF35}"/>
              </a:ext>
            </a:extLst>
          </p:cNvPr>
          <p:cNvSpPr>
            <a:spLocks xmlns:a="http://schemas.openxmlformats.org/drawingml/2006/main" noGrp="1"/>
          </p:cNvSpPr>
          <p:nvPr/>
        </p:nvSpPr>
        <p:spPr>
          <a:xfrm xmlns:a="http://schemas.openxmlformats.org/drawingml/2006/main">
            <a:off x="4953000" y="3524250"/>
            <a:ext cx="289560" cy="295275"/>
          </a:xfrm>
          <a:prstGeom xmlns:a="http://schemas.openxmlformats.org/drawingml/2006/main" prst="rect">
            <a:avLst/>
          </a:prstGeom>
          <a:solidFill xmlns:a="http://schemas.openxmlformats.org/drawingml/2006/main">
            <a:srgbClr val="7AC9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4AA5072-B708-407B-A549-312464208255}"/>
              </a:ext>
            </a:extLst>
          </p:cNvPr>
          <p:cNvSpPr>
            <a:spLocks xmlns:a="http://schemas.openxmlformats.org/drawingml/2006/main" noGrp="1"/>
          </p:cNvSpPr>
          <p:nvPr/>
        </p:nvSpPr>
        <p:spPr>
          <a:xfrm xmlns:a="http://schemas.openxmlformats.org/drawingml/2006/main">
            <a:off x="10496550" y="3486150"/>
            <a:ext cx="1143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7AC943"/>
                </a:solidFill>
                <a:latin typeface="Aptos"/>
                <a:ea typeface="Aptos"/>
                <a:cs typeface="Aptos"/>
              </a:defRPr>
            </a:pPr>
            <a:r>
              <a:rPr sz="1350" b="1">
                <a:solidFill>
                  <a:srgbClr val="7AC943"/>
                </a:solidFill>
                <a:latin typeface="Aptos"/>
                <a:ea typeface="Aptos"/>
                <a:cs typeface="Aptos"/>
              </a:rPr>
              <a:t>4,000</a:t>
            </a:r>
          </a:p>
        </p:txBody>
      </p:sp>
      <p:sp>
        <p:nvSpPr>
          <p:cNvPr id="29" name="">
            <a:extLst xmlns:a="http://schemas.openxmlformats.org/drawingml/2006/main">
              <a:ext uri="{FF2B5EF4-FFF2-40B4-BE49-F238E27FC236}">
                <a16:creationId xmlns:a16="http://schemas.microsoft.com/office/drawing/2014/main" id="{C997B174-9476-4F36-A0F8-866C96BE1C65}"/>
              </a:ext>
            </a:extLst>
          </p:cNvPr>
          <p:cNvSpPr>
            <a:spLocks xmlns:a="http://schemas.openxmlformats.org/drawingml/2006/main" noGrp="1"/>
          </p:cNvSpPr>
          <p:nvPr/>
        </p:nvSpPr>
        <p:spPr>
          <a:xfrm xmlns:a="http://schemas.openxmlformats.org/drawingml/2006/main">
            <a:off x="4000500" y="4533900"/>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75" b="0">
                <a:solidFill>
                  <a:srgbClr val="666666"/>
                </a:solidFill>
                <a:latin typeface="Aptos"/>
                <a:ea typeface="Aptos"/>
                <a:cs typeface="Aptos"/>
              </a:defRPr>
            </a:pPr>
            <a:r>
              <a:rPr sz="1575" b="0">
                <a:solidFill>
                  <a:srgbClr val="666666"/>
                </a:solidFill>
                <a:latin typeface="Aptos"/>
                <a:ea typeface="Aptos"/>
                <a:cs typeface="Aptos"/>
              </a:rPr>
              <a:t>Sampling is by valid source + applicable operator; every admitted pair passes compilation.</a:t>
            </a:r>
          </a:p>
        </p:txBody>
      </p:sp>
    </p:spTree>
    <p:extLst>
      <p:ext uri="{BB962C8B-B14F-4D97-AF65-F5344CB8AC3E}">
        <p14:creationId xmlns:p14="http://schemas.microsoft.com/office/powerpoint/2010/main" val="258551416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scoring uses 16,353 explicit references</a:t>
            </a:r>
          </a:p>
        </p:txBody>
      </p:sp>
      <p:pic>
        <p:nvPicPr>
          <p:cNvPr id="33" name="Picture 3"/>
          <p:cNvPicPr>
            <a:picLocks xmlns:a="http://schemas.openxmlformats.org/drawingml/2006/main" noChangeAspect="1"/>
          </p:cNvPicPr>
          <p:nvPr/>
        </p:nvPicPr>
        <p:blipFill>
          <a:blip xmlns:r="http://schemas.openxmlformats.org/officeDocument/2006/relationships" xmlns:a="http://schemas.openxmlformats.org/drawingml/2006/main" r:embed="Rb5662429901f4472"/>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E196914-1231-4121-8391-73FD20A68116}"/>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26F8DD1D-2DE3-4AFE-9D31-2D7C54BB542E}"/>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Each pair creates clone, mutation, and untouched expectations</a:t>
            </a:r>
          </a:p>
        </p:txBody>
      </p:sp>
      <p:sp>
        <p:nvSpPr>
          <p:cNvPr id="9" name="">
            <a:extLst xmlns:a="http://schemas.openxmlformats.org/drawingml/2006/main">
              <a:ext uri="{FF2B5EF4-FFF2-40B4-BE49-F238E27FC236}">
                <a16:creationId xmlns:a16="http://schemas.microsoft.com/office/drawing/2014/main" id="{6C410F52-B705-4BCB-928B-6113209D4DE1}"/>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27C3287B-DAB7-4A69-A5C7-A8F8BEF831E9}"/>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15 / 24</a:t>
            </a:r>
          </a:p>
        </p:txBody>
      </p:sp>
      <p:sp>
        <p:nvSpPr>
          <p:cNvPr id="11" name="">
            <a:extLst xmlns:a="http://schemas.openxmlformats.org/drawingml/2006/main">
              <a:ext uri="{FF2B5EF4-FFF2-40B4-BE49-F238E27FC236}">
                <a16:creationId xmlns:a16="http://schemas.microsoft.com/office/drawing/2014/main" id="{15B8DE17-6C11-44EC-9868-2BF2F3AE04F1}"/>
              </a:ext>
            </a:extLst>
          </p:cNvPr>
          <p:cNvSpPr>
            <a:spLocks xmlns:a="http://schemas.openxmlformats.org/drawingml/2006/main" noGrp="1"/>
          </p:cNvSpPr>
          <p:nvPr/>
        </p:nvSpPr>
        <p:spPr>
          <a:xfrm xmlns:a="http://schemas.openxmlformats.org/drawingml/2006/main">
            <a:off x="666750" y="1714500"/>
            <a:ext cx="2619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16,353</a:t>
            </a:r>
          </a:p>
        </p:txBody>
      </p:sp>
      <p:sp>
        <p:nvSpPr>
          <p:cNvPr id="12" name="">
            <a:extLst xmlns:a="http://schemas.openxmlformats.org/drawingml/2006/main">
              <a:ext uri="{FF2B5EF4-FFF2-40B4-BE49-F238E27FC236}">
                <a16:creationId xmlns:a16="http://schemas.microsoft.com/office/drawing/2014/main" id="{66A3EFD6-F6FF-4287-A547-FC59FF1C8B30}"/>
              </a:ext>
            </a:extLst>
          </p:cNvPr>
          <p:cNvSpPr>
            <a:spLocks xmlns:a="http://schemas.openxmlformats.org/drawingml/2006/main" noGrp="1"/>
          </p:cNvSpPr>
          <p:nvPr/>
        </p:nvSpPr>
        <p:spPr>
          <a:xfrm xmlns:a="http://schemas.openxmlformats.org/drawingml/2006/main">
            <a:off x="666750" y="2381250"/>
            <a:ext cx="2619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total references</a:t>
            </a:r>
          </a:p>
        </p:txBody>
      </p:sp>
      <p:sp>
        <p:nvSpPr>
          <p:cNvPr id="13" name="">
            <a:extLst xmlns:a="http://schemas.openxmlformats.org/drawingml/2006/main">
              <a:ext uri="{FF2B5EF4-FFF2-40B4-BE49-F238E27FC236}">
                <a16:creationId xmlns:a16="http://schemas.microsoft.com/office/drawing/2014/main" id="{CC458179-4927-47FE-B35A-BFAFA01CCD3F}"/>
              </a:ext>
            </a:extLst>
          </p:cNvPr>
          <p:cNvSpPr>
            <a:spLocks xmlns:a="http://schemas.openxmlformats.org/drawingml/2006/main" noGrp="1"/>
          </p:cNvSpPr>
          <p:nvPr/>
        </p:nvSpPr>
        <p:spPr>
          <a:xfrm xmlns:a="http://schemas.openxmlformats.org/drawingml/2006/main">
            <a:off x="666750" y="2714625"/>
            <a:ext cx="2619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from 4,000 pairs</a:t>
            </a:r>
          </a:p>
        </p:txBody>
      </p:sp>
      <p:sp>
        <p:nvSpPr>
          <p:cNvPr id="14" name="">
            <a:extLst xmlns:a="http://schemas.openxmlformats.org/drawingml/2006/main">
              <a:ext uri="{FF2B5EF4-FFF2-40B4-BE49-F238E27FC236}">
                <a16:creationId xmlns:a16="http://schemas.microsoft.com/office/drawing/2014/main" id="{88BF70AD-C89F-4EC6-A10A-8E512414A268}"/>
              </a:ext>
            </a:extLst>
          </p:cNvPr>
          <p:cNvSpPr>
            <a:spLocks xmlns:a="http://schemas.openxmlformats.org/drawingml/2006/main" noGrp="1"/>
          </p:cNvSpPr>
          <p:nvPr/>
        </p:nvSpPr>
        <p:spPr>
          <a:xfrm xmlns:a="http://schemas.openxmlformats.org/drawingml/2006/main">
            <a:off x="3810000" y="2105025"/>
            <a:ext cx="1700789" cy="6858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9D32EB-091D-4B1A-8D9B-F7E05DF8A1E6}"/>
              </a:ext>
            </a:extLst>
          </p:cNvPr>
          <p:cNvSpPr>
            <a:spLocks xmlns:a="http://schemas.openxmlformats.org/drawingml/2006/main" noGrp="1"/>
          </p:cNvSpPr>
          <p:nvPr/>
        </p:nvSpPr>
        <p:spPr>
          <a:xfrm xmlns:a="http://schemas.openxmlformats.org/drawingml/2006/main">
            <a:off x="3810000" y="2105025"/>
            <a:ext cx="1700789"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Clone 4,000</a:t>
            </a:r>
          </a:p>
        </p:txBody>
      </p:sp>
      <p:sp>
        <p:nvSpPr>
          <p:cNvPr id="16" name="">
            <a:extLst xmlns:a="http://schemas.openxmlformats.org/drawingml/2006/main">
              <a:ext uri="{FF2B5EF4-FFF2-40B4-BE49-F238E27FC236}">
                <a16:creationId xmlns:a16="http://schemas.microsoft.com/office/drawing/2014/main" id="{80AAE82E-D29D-4861-8862-94689B68EE11}"/>
              </a:ext>
            </a:extLst>
          </p:cNvPr>
          <p:cNvSpPr>
            <a:spLocks xmlns:a="http://schemas.openxmlformats.org/drawingml/2006/main" noGrp="1"/>
          </p:cNvSpPr>
          <p:nvPr/>
        </p:nvSpPr>
        <p:spPr>
          <a:xfrm xmlns:a="http://schemas.openxmlformats.org/drawingml/2006/main">
            <a:off x="5510789" y="2105025"/>
            <a:ext cx="1843655" cy="685800"/>
          </a:xfrm>
          <a:prstGeom xmlns:a="http://schemas.openxmlformats.org/drawingml/2006/main" prst="rect">
            <a:avLst/>
          </a:prstGeom>
          <a:solidFill xmlns:a="http://schemas.openxmlformats.org/drawingml/2006/main">
            <a:srgbClr val="7A4AB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0DF4029-DFEC-466A-AC74-E28DC8D6B36A}"/>
              </a:ext>
            </a:extLst>
          </p:cNvPr>
          <p:cNvSpPr>
            <a:spLocks xmlns:a="http://schemas.openxmlformats.org/drawingml/2006/main" noGrp="1"/>
          </p:cNvSpPr>
          <p:nvPr/>
        </p:nvSpPr>
        <p:spPr>
          <a:xfrm xmlns:a="http://schemas.openxmlformats.org/drawingml/2006/main">
            <a:off x="5510789" y="2105025"/>
            <a:ext cx="184365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Mutation 4,336</a:t>
            </a:r>
          </a:p>
        </p:txBody>
      </p:sp>
      <p:sp>
        <p:nvSpPr>
          <p:cNvPr id="18" name="">
            <a:extLst xmlns:a="http://schemas.openxmlformats.org/drawingml/2006/main">
              <a:ext uri="{FF2B5EF4-FFF2-40B4-BE49-F238E27FC236}">
                <a16:creationId xmlns:a16="http://schemas.microsoft.com/office/drawing/2014/main" id="{8BEF6891-1830-46B9-8D8A-5CAEC39D882F}"/>
              </a:ext>
            </a:extLst>
          </p:cNvPr>
          <p:cNvSpPr>
            <a:spLocks xmlns:a="http://schemas.openxmlformats.org/drawingml/2006/main" noGrp="1"/>
          </p:cNvSpPr>
          <p:nvPr/>
        </p:nvSpPr>
        <p:spPr>
          <a:xfrm xmlns:a="http://schemas.openxmlformats.org/drawingml/2006/main">
            <a:off x="7354444" y="2105025"/>
            <a:ext cx="3408806" cy="685800"/>
          </a:xfrm>
          <a:prstGeom xmlns:a="http://schemas.openxmlformats.org/drawingml/2006/main" prst="rect">
            <a:avLst/>
          </a:prstGeom>
          <a:solidFill xmlns:a="http://schemas.openxmlformats.org/drawingml/2006/main">
            <a:srgbClr val="7AC94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40B0638-512E-4BAE-B27F-DA99F0AA2EAF}"/>
              </a:ext>
            </a:extLst>
          </p:cNvPr>
          <p:cNvSpPr>
            <a:spLocks xmlns:a="http://schemas.openxmlformats.org/drawingml/2006/main" noGrp="1"/>
          </p:cNvSpPr>
          <p:nvPr/>
        </p:nvSpPr>
        <p:spPr>
          <a:xfrm xmlns:a="http://schemas.openxmlformats.org/drawingml/2006/main">
            <a:off x="7354444" y="2105025"/>
            <a:ext cx="3408806"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232323"/>
                </a:solidFill>
                <a:latin typeface="Aptos"/>
                <a:ea typeface="Aptos"/>
                <a:cs typeface="Aptos"/>
              </a:defRPr>
            </a:pPr>
            <a:r>
              <a:rPr sz="1275" b="1">
                <a:solidFill>
                  <a:srgbClr val="232323"/>
                </a:solidFill>
                <a:latin typeface="Aptos"/>
                <a:ea typeface="Aptos"/>
                <a:cs typeface="Aptos"/>
              </a:rPr>
              <a:t>Untouched 8,017</a:t>
            </a:r>
          </a:p>
        </p:txBody>
      </p:sp>
      <p:sp>
        <p:nvSpPr>
          <p:cNvPr id="20" name="">
            <a:extLst xmlns:a="http://schemas.openxmlformats.org/drawingml/2006/main">
              <a:ext uri="{FF2B5EF4-FFF2-40B4-BE49-F238E27FC236}">
                <a16:creationId xmlns:a16="http://schemas.microsoft.com/office/drawing/2014/main" id="{06C0EACA-A91A-4351-8165-946ACAE4B616}"/>
              </a:ext>
            </a:extLst>
          </p:cNvPr>
          <p:cNvSpPr>
            <a:spLocks xmlns:a="http://schemas.openxmlformats.org/drawingml/2006/main" noGrp="1"/>
          </p:cNvSpPr>
          <p:nvPr/>
        </p:nvSpPr>
        <p:spPr>
          <a:xfrm xmlns:a="http://schemas.openxmlformats.org/drawingml/2006/main">
            <a:off x="3857625" y="3429000"/>
            <a:ext cx="114300" cy="114300"/>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1DF1ABD-D6FE-4B8A-96D3-9A1A6BED47D8}"/>
              </a:ext>
            </a:extLst>
          </p:cNvPr>
          <p:cNvSpPr>
            <a:spLocks xmlns:a="http://schemas.openxmlformats.org/drawingml/2006/main" noGrp="1"/>
          </p:cNvSpPr>
          <p:nvPr/>
        </p:nvSpPr>
        <p:spPr>
          <a:xfrm xmlns:a="http://schemas.openxmlformats.org/drawingml/2006/main">
            <a:off x="4095750" y="33337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1">
                <a:solidFill>
                  <a:srgbClr val="232323"/>
                </a:solidFill>
                <a:latin typeface="Aptos"/>
                <a:ea typeface="Aptos"/>
                <a:cs typeface="Aptos"/>
              </a:defRPr>
            </a:pPr>
            <a:r>
              <a:rPr sz="1500" b="1">
                <a:solidFill>
                  <a:srgbClr val="232323"/>
                </a:solidFill>
                <a:latin typeface="Aptos"/>
                <a:ea typeface="Aptos"/>
                <a:cs typeface="Aptos"/>
              </a:rPr>
              <a:t>Clone interval</a:t>
            </a:r>
          </a:p>
        </p:txBody>
      </p:sp>
      <p:sp>
        <p:nvSpPr>
          <p:cNvPr id="22" name="">
            <a:extLst xmlns:a="http://schemas.openxmlformats.org/drawingml/2006/main">
              <a:ext uri="{FF2B5EF4-FFF2-40B4-BE49-F238E27FC236}">
                <a16:creationId xmlns:a16="http://schemas.microsoft.com/office/drawing/2014/main" id="{4CC5878D-CFED-46DA-A5B5-2BCA0A6488AC}"/>
              </a:ext>
            </a:extLst>
          </p:cNvPr>
          <p:cNvSpPr>
            <a:spLocks xmlns:a="http://schemas.openxmlformats.org/drawingml/2006/main" noGrp="1"/>
          </p:cNvSpPr>
          <p:nvPr/>
        </p:nvSpPr>
        <p:spPr>
          <a:xfrm xmlns:a="http://schemas.openxmlformats.org/drawingml/2006/main">
            <a:off x="6191250" y="333375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 70% region coverage</a:t>
            </a:r>
          </a:p>
        </p:txBody>
      </p:sp>
      <p:sp>
        <p:nvSpPr>
          <p:cNvPr id="23" name="">
            <a:extLst xmlns:a="http://schemas.openxmlformats.org/drawingml/2006/main">
              <a:ext uri="{FF2B5EF4-FFF2-40B4-BE49-F238E27FC236}">
                <a16:creationId xmlns:a16="http://schemas.microsoft.com/office/drawing/2014/main" id="{6C857858-1511-467D-A954-B3EC460C2B1D}"/>
              </a:ext>
            </a:extLst>
          </p:cNvPr>
          <p:cNvSpPr>
            <a:spLocks xmlns:a="http://schemas.openxmlformats.org/drawingml/2006/main" noGrp="1"/>
          </p:cNvSpPr>
          <p:nvPr/>
        </p:nvSpPr>
        <p:spPr>
          <a:xfrm xmlns:a="http://schemas.openxmlformats.org/drawingml/2006/main">
            <a:off x="9477375" y="3333750"/>
            <a:ext cx="1095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500" b="1">
                <a:solidFill>
                  <a:srgbClr val="4F2683"/>
                </a:solidFill>
                <a:latin typeface="Aptos"/>
                <a:ea typeface="Aptos"/>
                <a:cs typeface="Aptos"/>
              </a:defRPr>
            </a:pPr>
            <a:r>
              <a:rPr sz="1500" b="1">
                <a:solidFill>
                  <a:srgbClr val="4F2683"/>
                </a:solidFill>
                <a:latin typeface="Aptos"/>
                <a:ea typeface="Aptos"/>
                <a:cs typeface="Aptos"/>
              </a:rPr>
              <a:t>4,000</a:t>
            </a:r>
          </a:p>
        </p:txBody>
      </p:sp>
      <p:sp>
        <p:nvSpPr>
          <p:cNvPr id="24" name="">
            <a:extLst xmlns:a="http://schemas.openxmlformats.org/drawingml/2006/main">
              <a:ext uri="{FF2B5EF4-FFF2-40B4-BE49-F238E27FC236}">
                <a16:creationId xmlns:a16="http://schemas.microsoft.com/office/drawing/2014/main" id="{520AAE82-ECE4-4962-B398-D292E1AFE858}"/>
              </a:ext>
            </a:extLst>
          </p:cNvPr>
          <p:cNvSpPr>
            <a:spLocks xmlns:a="http://schemas.openxmlformats.org/drawingml/2006/main" noGrp="1"/>
          </p:cNvSpPr>
          <p:nvPr/>
        </p:nvSpPr>
        <p:spPr>
          <a:xfrm xmlns:a="http://schemas.openxmlformats.org/drawingml/2006/main">
            <a:off x="3857625" y="4057650"/>
            <a:ext cx="114300" cy="114300"/>
          </a:xfrm>
          <a:prstGeom xmlns:a="http://schemas.openxmlformats.org/drawingml/2006/main" prst="ellipse">
            <a:avLst/>
          </a:prstGeom>
          <a:solidFill xmlns:a="http://schemas.openxmlformats.org/drawingml/2006/main">
            <a:srgbClr val="7A4AB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1E74C3E-5BE1-42F7-9A21-404D56C762F1}"/>
              </a:ext>
            </a:extLst>
          </p:cNvPr>
          <p:cNvSpPr>
            <a:spLocks xmlns:a="http://schemas.openxmlformats.org/drawingml/2006/main" noGrp="1"/>
          </p:cNvSpPr>
          <p:nvPr/>
        </p:nvSpPr>
        <p:spPr>
          <a:xfrm xmlns:a="http://schemas.openxmlformats.org/drawingml/2006/main">
            <a:off x="4095750" y="39624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1">
                <a:solidFill>
                  <a:srgbClr val="232323"/>
                </a:solidFill>
                <a:latin typeface="Aptos"/>
                <a:ea typeface="Aptos"/>
                <a:cs typeface="Aptos"/>
              </a:defRPr>
            </a:pPr>
            <a:r>
              <a:rPr sz="1500" b="1">
                <a:solidFill>
                  <a:srgbClr val="232323"/>
                </a:solidFill>
                <a:latin typeface="Aptos"/>
                <a:ea typeface="Aptos"/>
                <a:cs typeface="Aptos"/>
              </a:rPr>
              <a:t>Mutated region</a:t>
            </a:r>
          </a:p>
        </p:txBody>
      </p:sp>
      <p:sp>
        <p:nvSpPr>
          <p:cNvPr id="26" name="">
            <a:extLst xmlns:a="http://schemas.openxmlformats.org/drawingml/2006/main">
              <a:ext uri="{FF2B5EF4-FFF2-40B4-BE49-F238E27FC236}">
                <a16:creationId xmlns:a16="http://schemas.microsoft.com/office/drawing/2014/main" id="{B38415A8-921D-4997-B00E-328E209CDA42}"/>
              </a:ext>
            </a:extLst>
          </p:cNvPr>
          <p:cNvSpPr>
            <a:spLocks xmlns:a="http://schemas.openxmlformats.org/drawingml/2006/main" noGrp="1"/>
          </p:cNvSpPr>
          <p:nvPr/>
        </p:nvSpPr>
        <p:spPr>
          <a:xfrm xmlns:a="http://schemas.openxmlformats.org/drawingml/2006/main">
            <a:off x="6191250" y="396240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any overlap + correct type</a:t>
            </a:r>
          </a:p>
        </p:txBody>
      </p:sp>
      <p:sp>
        <p:nvSpPr>
          <p:cNvPr id="27" name="">
            <a:extLst xmlns:a="http://schemas.openxmlformats.org/drawingml/2006/main">
              <a:ext uri="{FF2B5EF4-FFF2-40B4-BE49-F238E27FC236}">
                <a16:creationId xmlns:a16="http://schemas.microsoft.com/office/drawing/2014/main" id="{47DF9328-5E0D-4918-A39D-80F84C5D1CC3}"/>
              </a:ext>
            </a:extLst>
          </p:cNvPr>
          <p:cNvSpPr>
            <a:spLocks xmlns:a="http://schemas.openxmlformats.org/drawingml/2006/main" noGrp="1"/>
          </p:cNvSpPr>
          <p:nvPr/>
        </p:nvSpPr>
        <p:spPr>
          <a:xfrm xmlns:a="http://schemas.openxmlformats.org/drawingml/2006/main">
            <a:off x="9477375" y="3962400"/>
            <a:ext cx="1095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500" b="1">
                <a:solidFill>
                  <a:srgbClr val="4F2683"/>
                </a:solidFill>
                <a:latin typeface="Aptos"/>
                <a:ea typeface="Aptos"/>
                <a:cs typeface="Aptos"/>
              </a:defRPr>
            </a:pPr>
            <a:r>
              <a:rPr sz="1500" b="1">
                <a:solidFill>
                  <a:srgbClr val="4F2683"/>
                </a:solidFill>
                <a:latin typeface="Aptos"/>
                <a:ea typeface="Aptos"/>
                <a:cs typeface="Aptos"/>
              </a:rPr>
              <a:t>4,336</a:t>
            </a:r>
          </a:p>
        </p:txBody>
      </p:sp>
      <p:sp>
        <p:nvSpPr>
          <p:cNvPr id="28" name="">
            <a:extLst xmlns:a="http://schemas.openxmlformats.org/drawingml/2006/main">
              <a:ext uri="{FF2B5EF4-FFF2-40B4-BE49-F238E27FC236}">
                <a16:creationId xmlns:a16="http://schemas.microsoft.com/office/drawing/2014/main" id="{C8D16A93-2AAB-480E-BF0C-02884FF9402A}"/>
              </a:ext>
            </a:extLst>
          </p:cNvPr>
          <p:cNvSpPr>
            <a:spLocks xmlns:a="http://schemas.openxmlformats.org/drawingml/2006/main" noGrp="1"/>
          </p:cNvSpPr>
          <p:nvPr/>
        </p:nvSpPr>
        <p:spPr>
          <a:xfrm xmlns:a="http://schemas.openxmlformats.org/drawingml/2006/main">
            <a:off x="3857625" y="4686300"/>
            <a:ext cx="114300" cy="114300"/>
          </a:xfrm>
          <a:prstGeom xmlns:a="http://schemas.openxmlformats.org/drawingml/2006/main" prst="ellipse">
            <a:avLst/>
          </a:prstGeom>
          <a:solidFill xmlns:a="http://schemas.openxmlformats.org/drawingml/2006/main">
            <a:srgbClr val="7AC94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575A122-6B0A-4497-81AB-F687538E14ED}"/>
              </a:ext>
            </a:extLst>
          </p:cNvPr>
          <p:cNvSpPr>
            <a:spLocks xmlns:a="http://schemas.openxmlformats.org/drawingml/2006/main" noGrp="1"/>
          </p:cNvSpPr>
          <p:nvPr/>
        </p:nvSpPr>
        <p:spPr>
          <a:xfrm xmlns:a="http://schemas.openxmlformats.org/drawingml/2006/main">
            <a:off x="4095750" y="45910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1">
                <a:solidFill>
                  <a:srgbClr val="232323"/>
                </a:solidFill>
                <a:latin typeface="Aptos"/>
                <a:ea typeface="Aptos"/>
                <a:cs typeface="Aptos"/>
              </a:defRPr>
            </a:pPr>
            <a:r>
              <a:rPr sz="1500" b="1">
                <a:solidFill>
                  <a:srgbClr val="232323"/>
                </a:solidFill>
                <a:latin typeface="Aptos"/>
                <a:ea typeface="Aptos"/>
                <a:cs typeface="Aptos"/>
              </a:rPr>
              <a:t>Untouched region</a:t>
            </a:r>
          </a:p>
        </p:txBody>
      </p:sp>
      <p:sp>
        <p:nvSpPr>
          <p:cNvPr id="30" name="">
            <a:extLst xmlns:a="http://schemas.openxmlformats.org/drawingml/2006/main">
              <a:ext uri="{FF2B5EF4-FFF2-40B4-BE49-F238E27FC236}">
                <a16:creationId xmlns:a16="http://schemas.microsoft.com/office/drawing/2014/main" id="{DE541F6E-CA83-4F69-A0FB-2884077A5252}"/>
              </a:ext>
            </a:extLst>
          </p:cNvPr>
          <p:cNvSpPr>
            <a:spLocks xmlns:a="http://schemas.openxmlformats.org/drawingml/2006/main" noGrp="1"/>
          </p:cNvSpPr>
          <p:nvPr/>
        </p:nvSpPr>
        <p:spPr>
          <a:xfrm xmlns:a="http://schemas.openxmlformats.org/drawingml/2006/main">
            <a:off x="6191250" y="459105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should remain T1</a:t>
            </a:r>
          </a:p>
        </p:txBody>
      </p:sp>
      <p:sp>
        <p:nvSpPr>
          <p:cNvPr id="31" name="">
            <a:extLst xmlns:a="http://schemas.openxmlformats.org/drawingml/2006/main">
              <a:ext uri="{FF2B5EF4-FFF2-40B4-BE49-F238E27FC236}">
                <a16:creationId xmlns:a16="http://schemas.microsoft.com/office/drawing/2014/main" id="{406760D7-738A-46A9-80ED-553154309F58}"/>
              </a:ext>
            </a:extLst>
          </p:cNvPr>
          <p:cNvSpPr>
            <a:spLocks xmlns:a="http://schemas.openxmlformats.org/drawingml/2006/main" noGrp="1"/>
          </p:cNvSpPr>
          <p:nvPr/>
        </p:nvSpPr>
        <p:spPr>
          <a:xfrm xmlns:a="http://schemas.openxmlformats.org/drawingml/2006/main">
            <a:off x="9477375" y="4591050"/>
            <a:ext cx="1095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500" b="1">
                <a:solidFill>
                  <a:srgbClr val="4F2683"/>
                </a:solidFill>
                <a:latin typeface="Aptos"/>
                <a:ea typeface="Aptos"/>
                <a:cs typeface="Aptos"/>
              </a:defRPr>
            </a:pPr>
            <a:r>
              <a:rPr sz="1500" b="1">
                <a:solidFill>
                  <a:srgbClr val="4F2683"/>
                </a:solidFill>
                <a:latin typeface="Aptos"/>
                <a:ea typeface="Aptos"/>
                <a:cs typeface="Aptos"/>
              </a:rPr>
              <a:t>8,017</a:t>
            </a:r>
          </a:p>
        </p:txBody>
      </p:sp>
    </p:spTree>
    <p:extLst>
      <p:ext uri="{BB962C8B-B14F-4D97-AF65-F5344CB8AC3E}">
        <p14:creationId xmlns:p14="http://schemas.microsoft.com/office/powerpoint/2010/main" val="258551416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Ground-truth fixes changed scoring, not detector output</a:t>
            </a:r>
          </a:p>
        </p:txBody>
      </p:sp>
      <p:pic>
        <p:nvPicPr>
          <p:cNvPr id="16" name="Picture 3"/>
          <p:cNvPicPr>
            <a:picLocks xmlns:a="http://schemas.openxmlformats.org/drawingml/2006/main" noChangeAspect="1"/>
          </p:cNvPicPr>
          <p:nvPr/>
        </p:nvPicPr>
        <p:blipFill>
          <a:blip xmlns:r="http://schemas.openxmlformats.org/officeDocument/2006/relationships" xmlns:a="http://schemas.openxmlformats.org/drawingml/2006/main" r:embed="R198a4a779feb4694"/>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FFBDE7A-F72D-455A-B504-71F32773A4ED}"/>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9618793E-C2C3-4CF4-81EC-1D568C67F5EA}"/>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Three operator definitions were corrected after manual inspection</a:t>
            </a:r>
          </a:p>
        </p:txBody>
      </p:sp>
      <p:sp>
        <p:nvSpPr>
          <p:cNvPr id="9" name="">
            <a:extLst xmlns:a="http://schemas.openxmlformats.org/drawingml/2006/main">
              <a:ext uri="{FF2B5EF4-FFF2-40B4-BE49-F238E27FC236}">
                <a16:creationId xmlns:a16="http://schemas.microsoft.com/office/drawing/2014/main" id="{630DFE40-5944-4E5A-B9B0-EAC5C3A56447}"/>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D2909236-7DFA-4A50-AA15-9B6BEF839149}"/>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16 / 24</a:t>
            </a:r>
          </a:p>
        </p:txBody>
      </p:sp>
      <p:graphicFrame>
        <p:nvGraphicFramePr>
          <p:cNvPr id="21" name="Chart"/>
          <p:cNvGraphicFramePr/>
          <p:nvPr/>
        </p:nvGraphicFramePr>
        <p:xfrm>
          <a:off xmlns:a="http://schemas.openxmlformats.org/drawingml/2006/main" x="857250" y="1762125"/>
          <a:ext xmlns:a="http://schemas.openxmlformats.org/drawingml/2006/main" cx="8096250" cy="3238500"/>
        </p:xfrm>
        <a:graphic xmlns:a="http://schemas.openxmlformats.org/drawingml/2006/main">
          <a:graphicData uri="http://schemas.openxmlformats.org/drawingml/2006/chart">
            <c:chart xmlns:r="http://schemas.openxmlformats.org/officeDocument/2006/relationships" xmlns:c="http://schemas.openxmlformats.org/drawingml/2006/chart" r:id="R6de5fb56e58f4e90"/>
          </a:graphicData>
        </a:graphic>
      </p:graphicFrame>
      <p:sp>
        <p:nvSpPr>
          <p:cNvPr id="12" name="">
            <a:extLst xmlns:a="http://schemas.openxmlformats.org/drawingml/2006/main">
              <a:ext uri="{FF2B5EF4-FFF2-40B4-BE49-F238E27FC236}">
                <a16:creationId xmlns:a16="http://schemas.microsoft.com/office/drawing/2014/main" id="{28EB208D-B6D7-4EE4-AD3D-CA8FC3492CD1}"/>
              </a:ext>
            </a:extLst>
          </p:cNvPr>
          <p:cNvSpPr>
            <a:spLocks xmlns:a="http://schemas.openxmlformats.org/drawingml/2006/main" noGrp="1"/>
          </p:cNvSpPr>
          <p:nvPr/>
        </p:nvSpPr>
        <p:spPr>
          <a:xfrm xmlns:a="http://schemas.openxmlformats.org/drawingml/2006/main">
            <a:off x="9382125" y="19050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00" b="1">
                <a:solidFill>
                  <a:srgbClr val="666666"/>
                </a:solidFill>
                <a:latin typeface="Aptos"/>
                <a:ea typeface="Aptos"/>
                <a:cs typeface="Aptos"/>
              </a:defRPr>
            </a:pPr>
            <a:r>
              <a:rPr sz="1200" b="1">
                <a:solidFill>
                  <a:srgbClr val="666666"/>
                </a:solidFill>
                <a:latin typeface="Aptos"/>
                <a:ea typeface="Aptos"/>
                <a:cs typeface="Aptos"/>
              </a:rPr>
              <a:t>What changed?</a:t>
            </a:r>
          </a:p>
        </p:txBody>
      </p:sp>
      <p:sp>
        <p:nvSpPr>
          <p:cNvPr id="13" name="">
            <a:extLst xmlns:a="http://schemas.openxmlformats.org/drawingml/2006/main">
              <a:ext uri="{FF2B5EF4-FFF2-40B4-BE49-F238E27FC236}">
                <a16:creationId xmlns:a16="http://schemas.microsoft.com/office/drawing/2014/main" id="{E840B62E-4CE2-4980-ADAC-110D3FD986D1}"/>
              </a:ext>
            </a:extLst>
          </p:cNvPr>
          <p:cNvSpPr>
            <a:spLocks xmlns:a="http://schemas.openxmlformats.org/drawingml/2006/main" noGrp="1"/>
          </p:cNvSpPr>
          <p:nvPr/>
        </p:nvSpPr>
        <p:spPr>
          <a:xfrm xmlns:a="http://schemas.openxmlformats.org/drawingml/2006/main">
            <a:off x="9144000" y="2324100"/>
            <a:ext cx="2190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0">
                <a:solidFill>
                  <a:srgbClr val="232323"/>
                </a:solidFill>
                <a:latin typeface="Aptos"/>
                <a:ea typeface="Aptos"/>
                <a:cs typeface="Aptos"/>
              </a:defRPr>
            </a:pPr>
            <a:r>
              <a:rPr sz="1425" b="0">
                <a:solidFill>
                  <a:srgbClr val="232323"/>
                </a:solidFill>
                <a:latin typeface="Aptos"/>
                <a:ea typeface="Aptos"/>
                <a:cs typeface="Aptos"/>
              </a:rPr>
              <a:t>Wrap: compare inserted wrapper</a:t>
            </a:r>
          </a:p>
          <a:p xmlns:a="http://schemas.openxmlformats.org/drawingml/2006/main">
            <a:pPr algn="ctr">
              <a:defRPr sz="1425" b="0">
                <a:solidFill>
                  <a:srgbClr val="232323"/>
                </a:solidFill>
                <a:latin typeface="Aptos"/>
                <a:ea typeface="Aptos"/>
                <a:cs typeface="Aptos"/>
              </a:defRPr>
            </a:pPr>
            <a:r>
              <a:rPr sz="1425" b="0">
                <a:solidFill>
                  <a:srgbClr val="232323"/>
                </a:solidFill>
                <a:latin typeface="Aptos"/>
                <a:ea typeface="Aptos"/>
                <a:cs typeface="Aptos"/>
              </a:rPr>
              <a:t>Rename: include every renamed use</a:t>
            </a:r>
          </a:p>
          <a:p xmlns:a="http://schemas.openxmlformats.org/drawingml/2006/main">
            <a:pPr algn="ctr">
              <a:defRPr sz="1425" b="0">
                <a:solidFill>
                  <a:srgbClr val="232323"/>
                </a:solidFill>
                <a:latin typeface="Aptos"/>
                <a:ea typeface="Aptos"/>
                <a:cs typeface="Aptos"/>
              </a:defRPr>
            </a:pPr>
            <a:r>
              <a:rPr sz="1425" b="0">
                <a:solidFill>
                  <a:srgbClr val="232323"/>
                </a:solidFill>
                <a:latin typeface="Aptos"/>
                <a:ea typeface="Aptos"/>
                <a:cs typeface="Aptos"/>
              </a:rPr>
              <a:t>Reindent: use segmented lines</a:t>
            </a:r>
          </a:p>
        </p:txBody>
      </p:sp>
      <p:sp>
        <p:nvSpPr>
          <p:cNvPr id="14" name="">
            <a:extLst xmlns:a="http://schemas.openxmlformats.org/drawingml/2006/main">
              <a:ext uri="{FF2B5EF4-FFF2-40B4-BE49-F238E27FC236}">
                <a16:creationId xmlns:a16="http://schemas.microsoft.com/office/drawing/2014/main" id="{9251FC5F-FA94-400A-A793-88E3C738C126}"/>
              </a:ext>
            </a:extLst>
          </p:cNvPr>
          <p:cNvSpPr>
            <a:spLocks xmlns:a="http://schemas.openxmlformats.org/drawingml/2006/main" noGrp="1"/>
          </p:cNvSpPr>
          <p:nvPr/>
        </p:nvSpPr>
        <p:spPr>
          <a:xfrm xmlns:a="http://schemas.openxmlformats.org/drawingml/2006/main">
            <a:off x="9191625" y="4257675"/>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2350"/>
          </a:bodyPr>
          <a:lstStyle xmlns:a="http://schemas.openxmlformats.org/drawingml/2006/main"/>
          <a:p xmlns:a="http://schemas.openxmlformats.org/drawingml/2006/main">
            <a:pPr algn="ctr">
              <a:defRPr sz="1575" b="1">
                <a:solidFill>
                  <a:srgbClr val="7AC943"/>
                </a:solidFill>
                <a:latin typeface="Aptos"/>
                <a:ea typeface="Aptos"/>
                <a:cs typeface="Aptos"/>
              </a:defRPr>
            </a:pPr>
            <a:r>
              <a:rPr sz="1575" b="1">
                <a:solidFill>
                  <a:srgbClr val="7AC943"/>
                </a:solidFill>
                <a:latin typeface="Aptos"/>
                <a:ea typeface="Aptos"/>
                <a:cs typeface="Aptos"/>
              </a:rPr>
              <a:t>Raw JSON detector results were preserved.</a:t>
            </a:r>
          </a:p>
        </p:txBody>
      </p:sp>
    </p:spTree>
    <p:extLst>
      <p:ext uri="{BB962C8B-B14F-4D97-AF65-F5344CB8AC3E}">
        <p14:creationId xmlns:p14="http://schemas.microsoft.com/office/powerpoint/2010/main" val="258551416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All 4,000 admitted pairs used the full path</a:t>
            </a:r>
          </a:p>
        </p:txBody>
      </p:sp>
      <p:pic>
        <p:nvPicPr>
          <p:cNvPr id="23" name="Picture 3"/>
          <p:cNvPicPr>
            <a:picLocks xmlns:a="http://schemas.openxmlformats.org/drawingml/2006/main" noChangeAspect="1"/>
          </p:cNvPicPr>
          <p:nvPr/>
        </p:nvPicPr>
        <p:blipFill>
          <a:blip xmlns:r="http://schemas.openxmlformats.org/officeDocument/2006/relationships" xmlns:a="http://schemas.openxmlformats.org/drawingml/2006/main" r:embed="R01797ed94cdd48d7"/>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51597A-C839-4614-BD15-5F74382FA535}"/>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32D8DC90-5E31-4658-A55A-D37F49DEB1CD}"/>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Batches 1–4 are complete and frozen</a:t>
            </a:r>
          </a:p>
        </p:txBody>
      </p:sp>
      <p:sp>
        <p:nvSpPr>
          <p:cNvPr id="9" name="">
            <a:extLst xmlns:a="http://schemas.openxmlformats.org/drawingml/2006/main">
              <a:ext uri="{FF2B5EF4-FFF2-40B4-BE49-F238E27FC236}">
                <a16:creationId xmlns:a16="http://schemas.microsoft.com/office/drawing/2014/main" id="{1BA307CB-F460-420E-B550-C41BCCC7C1E7}"/>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6510E061-2C23-438F-B90C-35DDE5E567EE}"/>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17 / 24</a:t>
            </a:r>
          </a:p>
        </p:txBody>
      </p:sp>
      <p:sp>
        <p:nvSpPr>
          <p:cNvPr id="11" name="">
            <a:extLst xmlns:a="http://schemas.openxmlformats.org/drawingml/2006/main">
              <a:ext uri="{FF2B5EF4-FFF2-40B4-BE49-F238E27FC236}">
                <a16:creationId xmlns:a16="http://schemas.microsoft.com/office/drawing/2014/main" id="{A9280613-A6F2-45CA-81EB-2920271AA56F}"/>
              </a:ext>
            </a:extLst>
          </p:cNvPr>
          <p:cNvSpPr>
            <a:spLocks xmlns:a="http://schemas.openxmlformats.org/drawingml/2006/main" noGrp="1"/>
          </p:cNvSpPr>
          <p:nvPr/>
        </p:nvSpPr>
        <p:spPr>
          <a:xfrm xmlns:a="http://schemas.openxmlformats.org/drawingml/2006/main">
            <a:off x="666750" y="2000250"/>
            <a:ext cx="3095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7AC943"/>
                </a:solidFill>
                <a:latin typeface="Aptos Display"/>
                <a:ea typeface="Aptos Display"/>
                <a:cs typeface="Aptos Display"/>
              </a:defRPr>
            </a:pPr>
            <a:r>
              <a:rPr sz="3600" b="1">
                <a:solidFill>
                  <a:srgbClr val="7AC943"/>
                </a:solidFill>
                <a:latin typeface="Aptos Display"/>
                <a:ea typeface="Aptos Display"/>
                <a:cs typeface="Aptos Display"/>
              </a:rPr>
              <a:t>4,000 / 4,000</a:t>
            </a:r>
          </a:p>
        </p:txBody>
      </p:sp>
      <p:sp>
        <p:nvSpPr>
          <p:cNvPr id="12" name="">
            <a:extLst xmlns:a="http://schemas.openxmlformats.org/drawingml/2006/main">
              <a:ext uri="{FF2B5EF4-FFF2-40B4-BE49-F238E27FC236}">
                <a16:creationId xmlns:a16="http://schemas.microsoft.com/office/drawing/2014/main" id="{A4F84E95-5CC1-4C9F-BFF9-F1E8C51725EF}"/>
              </a:ext>
            </a:extLst>
          </p:cNvPr>
          <p:cNvSpPr>
            <a:spLocks xmlns:a="http://schemas.openxmlformats.org/drawingml/2006/main" noGrp="1"/>
          </p:cNvSpPr>
          <p:nvPr/>
        </p:nvSpPr>
        <p:spPr>
          <a:xfrm xmlns:a="http://schemas.openxmlformats.org/drawingml/2006/main">
            <a:off x="666750" y="2667000"/>
            <a:ext cx="309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status OK</a:t>
            </a:r>
          </a:p>
        </p:txBody>
      </p:sp>
      <p:sp>
        <p:nvSpPr>
          <p:cNvPr id="13" name="">
            <a:extLst xmlns:a="http://schemas.openxmlformats.org/drawingml/2006/main">
              <a:ext uri="{FF2B5EF4-FFF2-40B4-BE49-F238E27FC236}">
                <a16:creationId xmlns:a16="http://schemas.microsoft.com/office/drawing/2014/main" id="{89904012-2341-4ABC-8B5A-574F8AA957E3}"/>
              </a:ext>
            </a:extLst>
          </p:cNvPr>
          <p:cNvSpPr>
            <a:spLocks xmlns:a="http://schemas.openxmlformats.org/drawingml/2006/main" noGrp="1"/>
          </p:cNvSpPr>
          <p:nvPr/>
        </p:nvSpPr>
        <p:spPr>
          <a:xfrm xmlns:a="http://schemas.openxmlformats.org/drawingml/2006/main">
            <a:off x="666750" y="3000375"/>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0 failed rows</a:t>
            </a:r>
          </a:p>
        </p:txBody>
      </p:sp>
      <p:sp>
        <p:nvSpPr>
          <p:cNvPr id="14" name="">
            <a:extLst xmlns:a="http://schemas.openxmlformats.org/drawingml/2006/main">
              <a:ext uri="{FF2B5EF4-FFF2-40B4-BE49-F238E27FC236}">
                <a16:creationId xmlns:a16="http://schemas.microsoft.com/office/drawing/2014/main" id="{96584AF0-4A43-4179-B32A-680201C50AC8}"/>
              </a:ext>
            </a:extLst>
          </p:cNvPr>
          <p:cNvSpPr>
            <a:spLocks xmlns:a="http://schemas.openxmlformats.org/drawingml/2006/main" noGrp="1"/>
          </p:cNvSpPr>
          <p:nvPr/>
        </p:nvSpPr>
        <p:spPr>
          <a:xfrm xmlns:a="http://schemas.openxmlformats.org/drawingml/2006/main">
            <a:off x="4238625" y="2000250"/>
            <a:ext cx="3095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7AC943"/>
                </a:solidFill>
                <a:latin typeface="Aptos Display"/>
                <a:ea typeface="Aptos Display"/>
                <a:cs typeface="Aptos Display"/>
              </a:defRPr>
            </a:pPr>
            <a:r>
              <a:rPr sz="3600" b="1">
                <a:solidFill>
                  <a:srgbClr val="7AC943"/>
                </a:solidFill>
                <a:latin typeface="Aptos Display"/>
                <a:ea typeface="Aptos Display"/>
                <a:cs typeface="Aptos Display"/>
              </a:rPr>
              <a:t>0</a:t>
            </a:r>
          </a:p>
        </p:txBody>
      </p:sp>
      <p:sp>
        <p:nvSpPr>
          <p:cNvPr id="15" name="">
            <a:extLst xmlns:a="http://schemas.openxmlformats.org/drawingml/2006/main">
              <a:ext uri="{FF2B5EF4-FFF2-40B4-BE49-F238E27FC236}">
                <a16:creationId xmlns:a16="http://schemas.microsoft.com/office/drawing/2014/main" id="{AD532F48-027D-490E-A378-AC9AEEC60D32}"/>
              </a:ext>
            </a:extLst>
          </p:cNvPr>
          <p:cNvSpPr>
            <a:spLocks xmlns:a="http://schemas.openxmlformats.org/drawingml/2006/main" noGrp="1"/>
          </p:cNvSpPr>
          <p:nvPr/>
        </p:nvSpPr>
        <p:spPr>
          <a:xfrm xmlns:a="http://schemas.openxmlformats.org/drawingml/2006/main">
            <a:off x="4238625" y="2667000"/>
            <a:ext cx="309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fallback executions</a:t>
            </a:r>
          </a:p>
        </p:txBody>
      </p:sp>
      <p:sp>
        <p:nvSpPr>
          <p:cNvPr id="16" name="">
            <a:extLst xmlns:a="http://schemas.openxmlformats.org/drawingml/2006/main">
              <a:ext uri="{FF2B5EF4-FFF2-40B4-BE49-F238E27FC236}">
                <a16:creationId xmlns:a16="http://schemas.microsoft.com/office/drawing/2014/main" id="{A252079C-9A05-480C-BD04-E3FCDD42078F}"/>
              </a:ext>
            </a:extLst>
          </p:cNvPr>
          <p:cNvSpPr>
            <a:spLocks xmlns:a="http://schemas.openxmlformats.org/drawingml/2006/main" noGrp="1"/>
          </p:cNvSpPr>
          <p:nvPr/>
        </p:nvSpPr>
        <p:spPr>
          <a:xfrm xmlns:a="http://schemas.openxmlformats.org/drawingml/2006/main">
            <a:off x="4238625" y="3000375"/>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SOURCE_PLUS_WALA_SMT</a:t>
            </a:r>
          </a:p>
        </p:txBody>
      </p:sp>
      <p:sp>
        <p:nvSpPr>
          <p:cNvPr id="17" name="">
            <a:extLst xmlns:a="http://schemas.openxmlformats.org/drawingml/2006/main">
              <a:ext uri="{FF2B5EF4-FFF2-40B4-BE49-F238E27FC236}">
                <a16:creationId xmlns:a16="http://schemas.microsoft.com/office/drawing/2014/main" id="{AADE2F54-35FD-4298-9643-D2AA7D6A816A}"/>
              </a:ext>
            </a:extLst>
          </p:cNvPr>
          <p:cNvSpPr>
            <a:spLocks xmlns:a="http://schemas.openxmlformats.org/drawingml/2006/main" noGrp="1"/>
          </p:cNvSpPr>
          <p:nvPr/>
        </p:nvSpPr>
        <p:spPr>
          <a:xfrm xmlns:a="http://schemas.openxmlformats.org/drawingml/2006/main">
            <a:off x="7810500" y="2000250"/>
            <a:ext cx="3095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7AC943"/>
                </a:solidFill>
                <a:latin typeface="Aptos Display"/>
                <a:ea typeface="Aptos Display"/>
                <a:cs typeface="Aptos Display"/>
              </a:defRPr>
            </a:pPr>
            <a:r>
              <a:rPr sz="3600" b="1">
                <a:solidFill>
                  <a:srgbClr val="7AC943"/>
                </a:solidFill>
                <a:latin typeface="Aptos Display"/>
                <a:ea typeface="Aptos Display"/>
                <a:cs typeface="Aptos Display"/>
              </a:rPr>
              <a:t>100%</a:t>
            </a:r>
          </a:p>
        </p:txBody>
      </p:sp>
      <p:sp>
        <p:nvSpPr>
          <p:cNvPr id="18" name="">
            <a:extLst xmlns:a="http://schemas.openxmlformats.org/drawingml/2006/main">
              <a:ext uri="{FF2B5EF4-FFF2-40B4-BE49-F238E27FC236}">
                <a16:creationId xmlns:a16="http://schemas.microsoft.com/office/drawing/2014/main" id="{102AD15E-E532-45C9-B21A-7326E59A04B2}"/>
              </a:ext>
            </a:extLst>
          </p:cNvPr>
          <p:cNvSpPr>
            <a:spLocks xmlns:a="http://schemas.openxmlformats.org/drawingml/2006/main" noGrp="1"/>
          </p:cNvSpPr>
          <p:nvPr/>
        </p:nvSpPr>
        <p:spPr>
          <a:xfrm xmlns:a="http://schemas.openxmlformats.org/drawingml/2006/main">
            <a:off x="7810500" y="2667000"/>
            <a:ext cx="309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both sides compiled</a:t>
            </a:r>
          </a:p>
        </p:txBody>
      </p:sp>
      <p:sp>
        <p:nvSpPr>
          <p:cNvPr id="19" name="">
            <a:extLst xmlns:a="http://schemas.openxmlformats.org/drawingml/2006/main">
              <a:ext uri="{FF2B5EF4-FFF2-40B4-BE49-F238E27FC236}">
                <a16:creationId xmlns:a16="http://schemas.microsoft.com/office/drawing/2014/main" id="{CBE93304-9983-4532-B442-7CAB588B2BA8}"/>
              </a:ext>
            </a:extLst>
          </p:cNvPr>
          <p:cNvSpPr>
            <a:spLocks xmlns:a="http://schemas.openxmlformats.org/drawingml/2006/main" noGrp="1"/>
          </p:cNvSpPr>
          <p:nvPr/>
        </p:nvSpPr>
        <p:spPr>
          <a:xfrm xmlns:a="http://schemas.openxmlformats.org/drawingml/2006/main">
            <a:off x="7810500" y="3000375"/>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compile-gated</a:t>
            </a:r>
          </a:p>
        </p:txBody>
      </p:sp>
      <p:sp>
        <p:nvSpPr>
          <p:cNvPr id="20" name="">
            <a:extLst xmlns:a="http://schemas.openxmlformats.org/drawingml/2006/main">
              <a:ext uri="{FF2B5EF4-FFF2-40B4-BE49-F238E27FC236}">
                <a16:creationId xmlns:a16="http://schemas.microsoft.com/office/drawing/2014/main" id="{20A6AA2E-01EA-470C-8D2E-BD6575C1FD4D}"/>
              </a:ext>
            </a:extLst>
          </p:cNvPr>
          <p:cNvSpPr>
            <a:spLocks xmlns:a="http://schemas.openxmlformats.org/drawingml/2006/main" noGrp="1"/>
          </p:cNvSpPr>
          <p:nvPr/>
        </p:nvSpPr>
        <p:spPr>
          <a:xfrm xmlns:a="http://schemas.openxmlformats.org/drawingml/2006/main">
            <a:off x="1143000" y="3762375"/>
            <a:ext cx="933450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21" name="">
            <a:extLst xmlns:a="http://schemas.openxmlformats.org/drawingml/2006/main">
              <a:ext uri="{FF2B5EF4-FFF2-40B4-BE49-F238E27FC236}">
                <a16:creationId xmlns:a16="http://schemas.microsoft.com/office/drawing/2014/main" id="{FCBA903C-6085-4EF6-A3E8-7F50D918C028}"/>
              </a:ext>
            </a:extLst>
          </p:cNvPr>
          <p:cNvSpPr>
            <a:spLocks xmlns:a="http://schemas.openxmlformats.org/drawingml/2006/main" noGrp="1"/>
          </p:cNvSpPr>
          <p:nvPr/>
        </p:nvSpPr>
        <p:spPr>
          <a:xfrm xmlns:a="http://schemas.openxmlformats.org/drawingml/2006/main">
            <a:off x="1428750" y="4143375"/>
            <a:ext cx="876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4F2683"/>
                </a:solidFill>
                <a:latin typeface="Aptos"/>
                <a:ea typeface="Aptos"/>
                <a:cs typeface="Aptos"/>
              </a:defRPr>
            </a:pPr>
            <a:r>
              <a:rPr sz="1800" b="1">
                <a:solidFill>
                  <a:srgbClr val="4F2683"/>
                </a:solidFill>
                <a:latin typeface="Aptos"/>
                <a:ea typeface="Aptos"/>
                <a:cs typeface="Aptos"/>
              </a:rPr>
              <a:t>This removes the central V1 confound: a missed clone is no longer explainable by an invalid wrapper.</a:t>
            </a:r>
          </a:p>
        </p:txBody>
      </p:sp>
    </p:spTree>
    <p:extLst>
      <p:ext uri="{BB962C8B-B14F-4D97-AF65-F5344CB8AC3E}">
        <p14:creationId xmlns:p14="http://schemas.microsoft.com/office/powerpoint/2010/main" val="258551416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overall — results at three reference levels</a:t>
            </a:r>
          </a:p>
        </p:txBody>
      </p:sp>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310f0a50916e4c47"/>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70DF95-1BE2-4913-A7DD-CF2B8DDAC335}"/>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10B2BC56-E0FE-4B43-AD79-BDF8313F4789}"/>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Mutation-level type correctness is the main headline</a:t>
            </a:r>
          </a:p>
        </p:txBody>
      </p:sp>
      <p:sp>
        <p:nvSpPr>
          <p:cNvPr id="9" name="">
            <a:extLst xmlns:a="http://schemas.openxmlformats.org/drawingml/2006/main">
              <a:ext uri="{FF2B5EF4-FFF2-40B4-BE49-F238E27FC236}">
                <a16:creationId xmlns:a16="http://schemas.microsoft.com/office/drawing/2014/main" id="{77C758F2-24EB-46E0-8391-9B6FD7440930}"/>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21775D70-8CB9-48D2-AEFD-64ADA7C52CD9}"/>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18 / 24</a:t>
            </a:r>
          </a:p>
        </p:txBody>
      </p:sp>
      <p:graphicFrame>
        <p:nvGraphicFramePr>
          <p:cNvPr id="22" name="Chart"/>
          <p:cNvGraphicFramePr/>
          <p:nvPr/>
        </p:nvGraphicFramePr>
        <p:xfrm>
          <a:off xmlns:a="http://schemas.openxmlformats.org/drawingml/2006/main" x="762000" y="1762125"/>
          <a:ext xmlns:a="http://schemas.openxmlformats.org/drawingml/2006/main" cx="8429625" cy="3333750"/>
        </p:xfrm>
        <a:graphic xmlns:a="http://schemas.openxmlformats.org/drawingml/2006/main">
          <a:graphicData uri="http://schemas.openxmlformats.org/drawingml/2006/chart">
            <c:chart xmlns:r="http://schemas.openxmlformats.org/officeDocument/2006/relationships" xmlns:c="http://schemas.openxmlformats.org/drawingml/2006/chart" r:id="Rfbe267d003cb4c6f"/>
          </a:graphicData>
        </a:graphic>
      </p:graphicFrame>
      <p:sp>
        <p:nvSpPr>
          <p:cNvPr id="12" name="">
            <a:extLst xmlns:a="http://schemas.openxmlformats.org/drawingml/2006/main">
              <a:ext uri="{FF2B5EF4-FFF2-40B4-BE49-F238E27FC236}">
                <a16:creationId xmlns:a16="http://schemas.microsoft.com/office/drawing/2014/main" id="{A58B2565-DCFC-41E3-BE7D-A38D37478890}"/>
              </a:ext>
            </a:extLst>
          </p:cNvPr>
          <p:cNvSpPr>
            <a:spLocks xmlns:a="http://schemas.openxmlformats.org/drawingml/2006/main" noGrp="1"/>
          </p:cNvSpPr>
          <p:nvPr/>
        </p:nvSpPr>
        <p:spPr>
          <a:xfrm xmlns:a="http://schemas.openxmlformats.org/drawingml/2006/main">
            <a:off x="9477375" y="2190750"/>
            <a:ext cx="1762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81.6%</a:t>
            </a:r>
          </a:p>
        </p:txBody>
      </p:sp>
      <p:sp>
        <p:nvSpPr>
          <p:cNvPr id="13" name="">
            <a:extLst xmlns:a="http://schemas.openxmlformats.org/drawingml/2006/main">
              <a:ext uri="{FF2B5EF4-FFF2-40B4-BE49-F238E27FC236}">
                <a16:creationId xmlns:a16="http://schemas.microsoft.com/office/drawing/2014/main" id="{8663E610-9C4B-4975-A51E-17F2EA2B7933}"/>
              </a:ext>
            </a:extLst>
          </p:cNvPr>
          <p:cNvSpPr>
            <a:spLocks xmlns:a="http://schemas.openxmlformats.org/drawingml/2006/main" noGrp="1"/>
          </p:cNvSpPr>
          <p:nvPr/>
        </p:nvSpPr>
        <p:spPr>
          <a:xfrm xmlns:a="http://schemas.openxmlformats.org/drawingml/2006/main">
            <a:off x="9477375" y="285750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116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mutation type-correct</a:t>
            </a:r>
          </a:p>
        </p:txBody>
      </p:sp>
      <p:sp>
        <p:nvSpPr>
          <p:cNvPr id="14" name="">
            <a:extLst xmlns:a="http://schemas.openxmlformats.org/drawingml/2006/main">
              <a:ext uri="{FF2B5EF4-FFF2-40B4-BE49-F238E27FC236}">
                <a16:creationId xmlns:a16="http://schemas.microsoft.com/office/drawing/2014/main" id="{9E93437A-FE4D-4AA5-B413-AA76C9789216}"/>
              </a:ext>
            </a:extLst>
          </p:cNvPr>
          <p:cNvSpPr>
            <a:spLocks xmlns:a="http://schemas.openxmlformats.org/drawingml/2006/main" noGrp="1"/>
          </p:cNvSpPr>
          <p:nvPr/>
        </p:nvSpPr>
        <p:spPr>
          <a:xfrm xmlns:a="http://schemas.openxmlformats.org/drawingml/2006/main">
            <a:off x="9477375" y="3190875"/>
            <a:ext cx="1762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3,539 / 4,336 references</a:t>
            </a:r>
          </a:p>
        </p:txBody>
      </p:sp>
      <p:sp>
        <p:nvSpPr>
          <p:cNvPr id="15" name="">
            <a:extLst xmlns:a="http://schemas.openxmlformats.org/drawingml/2006/main">
              <a:ext uri="{FF2B5EF4-FFF2-40B4-BE49-F238E27FC236}">
                <a16:creationId xmlns:a16="http://schemas.microsoft.com/office/drawing/2014/main" id="{A9633E9D-3D28-4AF9-8BB3-D79EB763E77B}"/>
              </a:ext>
            </a:extLst>
          </p:cNvPr>
          <p:cNvSpPr>
            <a:spLocks xmlns:a="http://schemas.openxmlformats.org/drawingml/2006/main" noGrp="1"/>
          </p:cNvSpPr>
          <p:nvPr/>
        </p:nvSpPr>
        <p:spPr>
          <a:xfrm xmlns:a="http://schemas.openxmlformats.org/drawingml/2006/main">
            <a:off x="9334500" y="3886200"/>
            <a:ext cx="2000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0">
                <a:solidFill>
                  <a:srgbClr val="666666"/>
                </a:solidFill>
                <a:latin typeface="Aptos"/>
                <a:ea typeface="Aptos"/>
                <a:cs typeface="Aptos"/>
              </a:defRPr>
            </a:pPr>
            <a:r>
              <a:rPr sz="1275" b="0">
                <a:solidFill>
                  <a:srgbClr val="666666"/>
                </a:solidFill>
                <a:latin typeface="Aptos"/>
                <a:ea typeface="Aptos"/>
                <a:cs typeface="Aptos"/>
              </a:rPr>
              <a:t>Clone interval is intentionally easy because both files come from the same seed.</a:t>
            </a:r>
          </a:p>
        </p:txBody>
      </p:sp>
    </p:spTree>
    <p:extLst>
      <p:ext uri="{BB962C8B-B14F-4D97-AF65-F5344CB8AC3E}">
        <p14:creationId xmlns:p14="http://schemas.microsoft.com/office/powerpoint/2010/main" val="258551416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complete result — type correctness by operator</a:t>
            </a:r>
          </a:p>
        </p:txBody>
      </p:sp>
      <p:pic>
        <p:nvPicPr>
          <p:cNvPr id="53" name="Picture 3"/>
          <p:cNvPicPr>
            <a:picLocks xmlns:a="http://schemas.openxmlformats.org/drawingml/2006/main" noChangeAspect="1"/>
          </p:cNvPicPr>
          <p:nvPr/>
        </p:nvPicPr>
        <p:blipFill>
          <a:blip xmlns:r="http://schemas.openxmlformats.org/officeDocument/2006/relationships" xmlns:a="http://schemas.openxmlformats.org/drawingml/2006/main" r:embed="Rb74c0d2e831e454a"/>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07A6D6C-BC99-4580-A661-A74FDE84EBB1}"/>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ECA9753F-DD4A-43E6-81DB-59A300E0EBF5}"/>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Two layout operators are not observable in the current region model</a:t>
            </a:r>
          </a:p>
        </p:txBody>
      </p:sp>
      <p:sp>
        <p:nvSpPr>
          <p:cNvPr id="9" name="">
            <a:extLst xmlns:a="http://schemas.openxmlformats.org/drawingml/2006/main">
              <a:ext uri="{FF2B5EF4-FFF2-40B4-BE49-F238E27FC236}">
                <a16:creationId xmlns:a16="http://schemas.microsoft.com/office/drawing/2014/main" id="{533E81CB-3454-4857-891C-94493B797517}"/>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CA474C89-AF74-4B30-808F-07B82A166C7B}"/>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19 / 24</a:t>
            </a:r>
          </a:p>
        </p:txBody>
      </p:sp>
      <p:sp>
        <p:nvSpPr>
          <p:cNvPr id="11" name="">
            <a:extLst xmlns:a="http://schemas.openxmlformats.org/drawingml/2006/main">
              <a:ext uri="{FF2B5EF4-FFF2-40B4-BE49-F238E27FC236}">
                <a16:creationId xmlns:a16="http://schemas.microsoft.com/office/drawing/2014/main" id="{A2401ABC-83A7-48F2-AEDF-3385C93C48FD}"/>
              </a:ext>
            </a:extLst>
          </p:cNvPr>
          <p:cNvSpPr>
            <a:spLocks xmlns:a="http://schemas.openxmlformats.org/drawingml/2006/main" noGrp="1"/>
          </p:cNvSpPr>
          <p:nvPr/>
        </p:nvSpPr>
        <p:spPr>
          <a:xfrm xmlns:a="http://schemas.openxmlformats.org/drawingml/2006/main">
            <a:off x="666750" y="1581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Wrap statement</a:t>
            </a:r>
          </a:p>
        </p:txBody>
      </p:sp>
      <p:sp>
        <p:nvSpPr>
          <p:cNvPr id="12" name="">
            <a:extLst xmlns:a="http://schemas.openxmlformats.org/drawingml/2006/main">
              <a:ext uri="{FF2B5EF4-FFF2-40B4-BE49-F238E27FC236}">
                <a16:creationId xmlns:a16="http://schemas.microsoft.com/office/drawing/2014/main" id="{B6AC2E9F-0095-45AB-9551-8BFAF8474914}"/>
              </a:ext>
            </a:extLst>
          </p:cNvPr>
          <p:cNvSpPr>
            <a:spLocks xmlns:a="http://schemas.openxmlformats.org/drawingml/2006/main" noGrp="1"/>
          </p:cNvSpPr>
          <p:nvPr/>
        </p:nvSpPr>
        <p:spPr>
          <a:xfrm xmlns:a="http://schemas.openxmlformats.org/drawingml/2006/main">
            <a:off x="3143250" y="1600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A29877-6FCF-4673-889E-7D4BFFFDD73A}"/>
              </a:ext>
            </a:extLst>
          </p:cNvPr>
          <p:cNvSpPr>
            <a:spLocks xmlns:a="http://schemas.openxmlformats.org/drawingml/2006/main" noGrp="1"/>
          </p:cNvSpPr>
          <p:nvPr/>
        </p:nvSpPr>
        <p:spPr>
          <a:xfrm xmlns:a="http://schemas.openxmlformats.org/drawingml/2006/main">
            <a:off x="3143250" y="1600200"/>
            <a:ext cx="6178868" cy="1905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A47560-2532-42CD-B9D2-1A555CFC3F26}"/>
              </a:ext>
            </a:extLst>
          </p:cNvPr>
          <p:cNvSpPr>
            <a:spLocks xmlns:a="http://schemas.openxmlformats.org/drawingml/2006/main" noGrp="1"/>
          </p:cNvSpPr>
          <p:nvPr/>
        </p:nvSpPr>
        <p:spPr>
          <a:xfrm xmlns:a="http://schemas.openxmlformats.org/drawingml/2006/main">
            <a:off x="9448800" y="1562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4F2683"/>
                </a:solidFill>
                <a:latin typeface="Aptos"/>
                <a:ea typeface="Aptos"/>
                <a:cs typeface="Aptos"/>
              </a:defRPr>
            </a:pPr>
            <a:r>
              <a:rPr sz="1200" b="1">
                <a:solidFill>
                  <a:srgbClr val="4F2683"/>
                </a:solidFill>
                <a:latin typeface="Aptos"/>
                <a:ea typeface="Aptos"/>
                <a:cs typeface="Aptos"/>
              </a:rPr>
              <a:t>99.8%</a:t>
            </a:r>
          </a:p>
        </p:txBody>
      </p:sp>
      <p:sp>
        <p:nvSpPr>
          <p:cNvPr id="15" name="">
            <a:extLst xmlns:a="http://schemas.openxmlformats.org/drawingml/2006/main">
              <a:ext uri="{FF2B5EF4-FFF2-40B4-BE49-F238E27FC236}">
                <a16:creationId xmlns:a16="http://schemas.microsoft.com/office/drawing/2014/main" id="{E1CD01E9-DC9F-4706-AE89-78BB8033AFF7}"/>
              </a:ext>
            </a:extLst>
          </p:cNvPr>
          <p:cNvSpPr>
            <a:spLocks xmlns:a="http://schemas.openxmlformats.org/drawingml/2006/main" noGrp="1"/>
          </p:cNvSpPr>
          <p:nvPr/>
        </p:nvSpPr>
        <p:spPr>
          <a:xfrm xmlns:a="http://schemas.openxmlformats.org/drawingml/2006/main">
            <a:off x="666750" y="1962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String literal</a:t>
            </a:r>
          </a:p>
        </p:txBody>
      </p:sp>
      <p:sp>
        <p:nvSpPr>
          <p:cNvPr id="16" name="">
            <a:extLst xmlns:a="http://schemas.openxmlformats.org/drawingml/2006/main">
              <a:ext uri="{FF2B5EF4-FFF2-40B4-BE49-F238E27FC236}">
                <a16:creationId xmlns:a16="http://schemas.microsoft.com/office/drawing/2014/main" id="{1D62DC58-FD5C-44E8-8B12-86F7B569B6CF}"/>
              </a:ext>
            </a:extLst>
          </p:cNvPr>
          <p:cNvSpPr>
            <a:spLocks xmlns:a="http://schemas.openxmlformats.org/drawingml/2006/main" noGrp="1"/>
          </p:cNvSpPr>
          <p:nvPr/>
        </p:nvSpPr>
        <p:spPr>
          <a:xfrm xmlns:a="http://schemas.openxmlformats.org/drawingml/2006/main">
            <a:off x="3143250" y="1981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94E9F9A-99F0-43E8-A76E-A6CA7FADD754}"/>
              </a:ext>
            </a:extLst>
          </p:cNvPr>
          <p:cNvSpPr>
            <a:spLocks xmlns:a="http://schemas.openxmlformats.org/drawingml/2006/main" noGrp="1"/>
          </p:cNvSpPr>
          <p:nvPr/>
        </p:nvSpPr>
        <p:spPr>
          <a:xfrm xmlns:a="http://schemas.openxmlformats.org/drawingml/2006/main">
            <a:off x="3143250" y="1981200"/>
            <a:ext cx="6172676" cy="1905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BE7F27-13CD-4FDF-AAA8-978D54B64C16}"/>
              </a:ext>
            </a:extLst>
          </p:cNvPr>
          <p:cNvSpPr>
            <a:spLocks xmlns:a="http://schemas.openxmlformats.org/drawingml/2006/main" noGrp="1"/>
          </p:cNvSpPr>
          <p:nvPr/>
        </p:nvSpPr>
        <p:spPr>
          <a:xfrm xmlns:a="http://schemas.openxmlformats.org/drawingml/2006/main">
            <a:off x="9448800" y="1943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4F2683"/>
                </a:solidFill>
                <a:latin typeface="Aptos"/>
                <a:ea typeface="Aptos"/>
                <a:cs typeface="Aptos"/>
              </a:defRPr>
            </a:pPr>
            <a:r>
              <a:rPr sz="1200" b="1">
                <a:solidFill>
                  <a:srgbClr val="4F2683"/>
                </a:solidFill>
                <a:latin typeface="Aptos"/>
                <a:ea typeface="Aptos"/>
                <a:cs typeface="Aptos"/>
              </a:rPr>
              <a:t>99.7%</a:t>
            </a:r>
          </a:p>
        </p:txBody>
      </p:sp>
      <p:sp>
        <p:nvSpPr>
          <p:cNvPr id="19" name="">
            <a:extLst xmlns:a="http://schemas.openxmlformats.org/drawingml/2006/main">
              <a:ext uri="{FF2B5EF4-FFF2-40B4-BE49-F238E27FC236}">
                <a16:creationId xmlns:a16="http://schemas.microsoft.com/office/drawing/2014/main" id="{9BFF04AB-78D4-4A8E-BD9E-8D91E1360F2A}"/>
              </a:ext>
            </a:extLst>
          </p:cNvPr>
          <p:cNvSpPr>
            <a:spLocks xmlns:a="http://schemas.openxmlformats.org/drawingml/2006/main" noGrp="1"/>
          </p:cNvSpPr>
          <p:nvPr/>
        </p:nvSpPr>
        <p:spPr>
          <a:xfrm xmlns:a="http://schemas.openxmlformats.org/drawingml/2006/main">
            <a:off x="666750" y="2343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Rename local</a:t>
            </a:r>
          </a:p>
        </p:txBody>
      </p:sp>
      <p:sp>
        <p:nvSpPr>
          <p:cNvPr id="20" name="">
            <a:extLst xmlns:a="http://schemas.openxmlformats.org/drawingml/2006/main">
              <a:ext uri="{FF2B5EF4-FFF2-40B4-BE49-F238E27FC236}">
                <a16:creationId xmlns:a16="http://schemas.microsoft.com/office/drawing/2014/main" id="{62BB3CB8-EF77-4B78-AA76-2C9165E735E7}"/>
              </a:ext>
            </a:extLst>
          </p:cNvPr>
          <p:cNvSpPr>
            <a:spLocks xmlns:a="http://schemas.openxmlformats.org/drawingml/2006/main" noGrp="1"/>
          </p:cNvSpPr>
          <p:nvPr/>
        </p:nvSpPr>
        <p:spPr>
          <a:xfrm xmlns:a="http://schemas.openxmlformats.org/drawingml/2006/main">
            <a:off x="3143250" y="2362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7FCD460-E3BD-447F-9A47-8CCDB92D397E}"/>
              </a:ext>
            </a:extLst>
          </p:cNvPr>
          <p:cNvSpPr>
            <a:spLocks xmlns:a="http://schemas.openxmlformats.org/drawingml/2006/main" noGrp="1"/>
          </p:cNvSpPr>
          <p:nvPr/>
        </p:nvSpPr>
        <p:spPr>
          <a:xfrm xmlns:a="http://schemas.openxmlformats.org/drawingml/2006/main">
            <a:off x="3143250" y="2362200"/>
            <a:ext cx="6160294" cy="1905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E1BA1C9-A308-4DD5-BCE4-4626B5D2036A}"/>
              </a:ext>
            </a:extLst>
          </p:cNvPr>
          <p:cNvSpPr>
            <a:spLocks xmlns:a="http://schemas.openxmlformats.org/drawingml/2006/main" noGrp="1"/>
          </p:cNvSpPr>
          <p:nvPr/>
        </p:nvSpPr>
        <p:spPr>
          <a:xfrm xmlns:a="http://schemas.openxmlformats.org/drawingml/2006/main">
            <a:off x="9448800" y="2324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4F2683"/>
                </a:solidFill>
                <a:latin typeface="Aptos"/>
                <a:ea typeface="Aptos"/>
                <a:cs typeface="Aptos"/>
              </a:defRPr>
            </a:pPr>
            <a:r>
              <a:rPr sz="1200" b="1">
                <a:solidFill>
                  <a:srgbClr val="4F2683"/>
                </a:solidFill>
                <a:latin typeface="Aptos"/>
                <a:ea typeface="Aptos"/>
                <a:cs typeface="Aptos"/>
              </a:rPr>
              <a:t>99.5%</a:t>
            </a:r>
          </a:p>
        </p:txBody>
      </p:sp>
      <p:sp>
        <p:nvSpPr>
          <p:cNvPr id="23" name="">
            <a:extLst xmlns:a="http://schemas.openxmlformats.org/drawingml/2006/main">
              <a:ext uri="{FF2B5EF4-FFF2-40B4-BE49-F238E27FC236}">
                <a16:creationId xmlns:a16="http://schemas.microsoft.com/office/drawing/2014/main" id="{A8ADE655-1138-4DA0-A336-1D5910EB4E97}"/>
              </a:ext>
            </a:extLst>
          </p:cNvPr>
          <p:cNvSpPr>
            <a:spLocks xmlns:a="http://schemas.openxmlformats.org/drawingml/2006/main" noGrp="1"/>
          </p:cNvSpPr>
          <p:nvPr/>
        </p:nvSpPr>
        <p:spPr>
          <a:xfrm xmlns:a="http://schemas.openxmlformats.org/drawingml/2006/main">
            <a:off x="666750" y="2724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Reindent</a:t>
            </a:r>
          </a:p>
        </p:txBody>
      </p:sp>
      <p:sp>
        <p:nvSpPr>
          <p:cNvPr id="24" name="">
            <a:extLst xmlns:a="http://schemas.openxmlformats.org/drawingml/2006/main">
              <a:ext uri="{FF2B5EF4-FFF2-40B4-BE49-F238E27FC236}">
                <a16:creationId xmlns:a16="http://schemas.microsoft.com/office/drawing/2014/main" id="{786D1FFA-0924-457B-895D-6E414FA73958}"/>
              </a:ext>
            </a:extLst>
          </p:cNvPr>
          <p:cNvSpPr>
            <a:spLocks xmlns:a="http://schemas.openxmlformats.org/drawingml/2006/main" noGrp="1"/>
          </p:cNvSpPr>
          <p:nvPr/>
        </p:nvSpPr>
        <p:spPr>
          <a:xfrm xmlns:a="http://schemas.openxmlformats.org/drawingml/2006/main">
            <a:off x="3143250" y="2743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3039CEE-7FD8-42B7-B50F-1E489971F291}"/>
              </a:ext>
            </a:extLst>
          </p:cNvPr>
          <p:cNvSpPr>
            <a:spLocks xmlns:a="http://schemas.openxmlformats.org/drawingml/2006/main" noGrp="1"/>
          </p:cNvSpPr>
          <p:nvPr/>
        </p:nvSpPr>
        <p:spPr>
          <a:xfrm xmlns:a="http://schemas.openxmlformats.org/drawingml/2006/main">
            <a:off x="3143250" y="2743200"/>
            <a:ext cx="6110764" cy="1905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302AC55-D842-47A2-92DF-00950B5BAEE1}"/>
              </a:ext>
            </a:extLst>
          </p:cNvPr>
          <p:cNvSpPr>
            <a:spLocks xmlns:a="http://schemas.openxmlformats.org/drawingml/2006/main" noGrp="1"/>
          </p:cNvSpPr>
          <p:nvPr/>
        </p:nvSpPr>
        <p:spPr>
          <a:xfrm xmlns:a="http://schemas.openxmlformats.org/drawingml/2006/main">
            <a:off x="9448800" y="2705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4F2683"/>
                </a:solidFill>
                <a:latin typeface="Aptos"/>
                <a:ea typeface="Aptos"/>
                <a:cs typeface="Aptos"/>
              </a:defRPr>
            </a:pPr>
            <a:r>
              <a:rPr sz="1200" b="1">
                <a:solidFill>
                  <a:srgbClr val="4F2683"/>
                </a:solidFill>
                <a:latin typeface="Aptos"/>
                <a:ea typeface="Aptos"/>
                <a:cs typeface="Aptos"/>
              </a:rPr>
              <a:t>98.7%</a:t>
            </a:r>
          </a:p>
        </p:txBody>
      </p:sp>
      <p:sp>
        <p:nvSpPr>
          <p:cNvPr id="27" name="">
            <a:extLst xmlns:a="http://schemas.openxmlformats.org/drawingml/2006/main">
              <a:ext uri="{FF2B5EF4-FFF2-40B4-BE49-F238E27FC236}">
                <a16:creationId xmlns:a16="http://schemas.microsoft.com/office/drawing/2014/main" id="{04C2549A-946F-4C72-B108-61A6D45AC3C3}"/>
              </a:ext>
            </a:extLst>
          </p:cNvPr>
          <p:cNvSpPr>
            <a:spLocks xmlns:a="http://schemas.openxmlformats.org/drawingml/2006/main" noGrp="1"/>
          </p:cNvSpPr>
          <p:nvPr/>
        </p:nvSpPr>
        <p:spPr>
          <a:xfrm xmlns:a="http://schemas.openxmlformats.org/drawingml/2006/main">
            <a:off x="666750" y="3105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Int literal</a:t>
            </a:r>
          </a:p>
        </p:txBody>
      </p:sp>
      <p:sp>
        <p:nvSpPr>
          <p:cNvPr id="28" name="">
            <a:extLst xmlns:a="http://schemas.openxmlformats.org/drawingml/2006/main">
              <a:ext uri="{FF2B5EF4-FFF2-40B4-BE49-F238E27FC236}">
                <a16:creationId xmlns:a16="http://schemas.microsoft.com/office/drawing/2014/main" id="{D2490D20-E514-443D-9BBC-B8BE4992DB8A}"/>
              </a:ext>
            </a:extLst>
          </p:cNvPr>
          <p:cNvSpPr>
            <a:spLocks xmlns:a="http://schemas.openxmlformats.org/drawingml/2006/main" noGrp="1"/>
          </p:cNvSpPr>
          <p:nvPr/>
        </p:nvSpPr>
        <p:spPr>
          <a:xfrm xmlns:a="http://schemas.openxmlformats.org/drawingml/2006/main">
            <a:off x="3143250" y="3124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2BB1ADF-A4B3-4669-B76E-76016EF7C688}"/>
              </a:ext>
            </a:extLst>
          </p:cNvPr>
          <p:cNvSpPr>
            <a:spLocks xmlns:a="http://schemas.openxmlformats.org/drawingml/2006/main" noGrp="1"/>
          </p:cNvSpPr>
          <p:nvPr/>
        </p:nvSpPr>
        <p:spPr>
          <a:xfrm xmlns:a="http://schemas.openxmlformats.org/drawingml/2006/main">
            <a:off x="3143250" y="3124200"/>
            <a:ext cx="6085999" cy="1905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F50ED7B-B5CB-4FC8-AD3B-BB7C23436BA2}"/>
              </a:ext>
            </a:extLst>
          </p:cNvPr>
          <p:cNvSpPr>
            <a:spLocks xmlns:a="http://schemas.openxmlformats.org/drawingml/2006/main" noGrp="1"/>
          </p:cNvSpPr>
          <p:nvPr/>
        </p:nvSpPr>
        <p:spPr>
          <a:xfrm xmlns:a="http://schemas.openxmlformats.org/drawingml/2006/main">
            <a:off x="9448800" y="3086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4F2683"/>
                </a:solidFill>
                <a:latin typeface="Aptos"/>
                <a:ea typeface="Aptos"/>
                <a:cs typeface="Aptos"/>
              </a:defRPr>
            </a:pPr>
            <a:r>
              <a:rPr sz="1200" b="1">
                <a:solidFill>
                  <a:srgbClr val="4F2683"/>
                </a:solidFill>
                <a:latin typeface="Aptos"/>
                <a:ea typeface="Aptos"/>
                <a:cs typeface="Aptos"/>
              </a:rPr>
              <a:t>98.3%</a:t>
            </a:r>
          </a:p>
        </p:txBody>
      </p:sp>
      <p:sp>
        <p:nvSpPr>
          <p:cNvPr id="31" name="">
            <a:extLst xmlns:a="http://schemas.openxmlformats.org/drawingml/2006/main">
              <a:ext uri="{FF2B5EF4-FFF2-40B4-BE49-F238E27FC236}">
                <a16:creationId xmlns:a16="http://schemas.microsoft.com/office/drawing/2014/main" id="{E7C55861-A7B5-4F76-8492-266B94AA5887}"/>
              </a:ext>
            </a:extLst>
          </p:cNvPr>
          <p:cNvSpPr>
            <a:spLocks xmlns:a="http://schemas.openxmlformats.org/drawingml/2006/main" noGrp="1"/>
          </p:cNvSpPr>
          <p:nvPr/>
        </p:nvSpPr>
        <p:spPr>
          <a:xfrm xmlns:a="http://schemas.openxmlformats.org/drawingml/2006/main">
            <a:off x="666750" y="3486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Delete statement</a:t>
            </a:r>
          </a:p>
        </p:txBody>
      </p:sp>
      <p:sp>
        <p:nvSpPr>
          <p:cNvPr id="32" name="">
            <a:extLst xmlns:a="http://schemas.openxmlformats.org/drawingml/2006/main">
              <a:ext uri="{FF2B5EF4-FFF2-40B4-BE49-F238E27FC236}">
                <a16:creationId xmlns:a16="http://schemas.microsoft.com/office/drawing/2014/main" id="{17E0DFFD-CE14-4C30-A414-14EB620CFEC1}"/>
              </a:ext>
            </a:extLst>
          </p:cNvPr>
          <p:cNvSpPr>
            <a:spLocks xmlns:a="http://schemas.openxmlformats.org/drawingml/2006/main" noGrp="1"/>
          </p:cNvSpPr>
          <p:nvPr/>
        </p:nvSpPr>
        <p:spPr>
          <a:xfrm xmlns:a="http://schemas.openxmlformats.org/drawingml/2006/main">
            <a:off x="3143250" y="3505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8646B5E-F6AD-49B0-A785-2E5CAEE58670}"/>
              </a:ext>
            </a:extLst>
          </p:cNvPr>
          <p:cNvSpPr>
            <a:spLocks xmlns:a="http://schemas.openxmlformats.org/drawingml/2006/main" noGrp="1"/>
          </p:cNvSpPr>
          <p:nvPr/>
        </p:nvSpPr>
        <p:spPr>
          <a:xfrm xmlns:a="http://schemas.openxmlformats.org/drawingml/2006/main">
            <a:off x="3143250" y="3505200"/>
            <a:ext cx="5510213" cy="190500"/>
          </a:xfrm>
          <a:prstGeom xmlns:a="http://schemas.openxmlformats.org/drawingml/2006/main" prst="rect">
            <a:avLst/>
          </a:prstGeom>
          <a:solidFill xmlns:a="http://schemas.openxmlformats.org/drawingml/2006/main">
            <a:srgbClr val="F0A75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A39BB8B-5D12-4D3B-9131-6E5A2E491C75}"/>
              </a:ext>
            </a:extLst>
          </p:cNvPr>
          <p:cNvSpPr>
            <a:spLocks xmlns:a="http://schemas.openxmlformats.org/drawingml/2006/main" noGrp="1"/>
          </p:cNvSpPr>
          <p:nvPr/>
        </p:nvSpPr>
        <p:spPr>
          <a:xfrm xmlns:a="http://schemas.openxmlformats.org/drawingml/2006/main">
            <a:off x="9448800" y="3467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F0A757"/>
                </a:solidFill>
                <a:latin typeface="Aptos"/>
                <a:ea typeface="Aptos"/>
                <a:cs typeface="Aptos"/>
              </a:defRPr>
            </a:pPr>
            <a:r>
              <a:rPr sz="1200" b="1">
                <a:solidFill>
                  <a:srgbClr val="F0A757"/>
                </a:solidFill>
                <a:latin typeface="Aptos"/>
                <a:ea typeface="Aptos"/>
                <a:cs typeface="Aptos"/>
              </a:rPr>
              <a:t>89.0%</a:t>
            </a:r>
          </a:p>
        </p:txBody>
      </p:sp>
      <p:sp>
        <p:nvSpPr>
          <p:cNvPr id="35" name="">
            <a:extLst xmlns:a="http://schemas.openxmlformats.org/drawingml/2006/main">
              <a:ext uri="{FF2B5EF4-FFF2-40B4-BE49-F238E27FC236}">
                <a16:creationId xmlns:a16="http://schemas.microsoft.com/office/drawing/2014/main" id="{589CFCBB-ECB6-408B-94C5-DE9F18BF40F4}"/>
              </a:ext>
            </a:extLst>
          </p:cNvPr>
          <p:cNvSpPr>
            <a:spLocks xmlns:a="http://schemas.openxmlformats.org/drawingml/2006/main" noGrp="1"/>
          </p:cNvSpPr>
          <p:nvPr/>
        </p:nvSpPr>
        <p:spPr>
          <a:xfrm xmlns:a="http://schemas.openxmlformats.org/drawingml/2006/main">
            <a:off x="666750" y="3867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Insert statement</a:t>
            </a:r>
          </a:p>
        </p:txBody>
      </p:sp>
      <p:sp>
        <p:nvSpPr>
          <p:cNvPr id="36" name="">
            <a:extLst xmlns:a="http://schemas.openxmlformats.org/drawingml/2006/main">
              <a:ext uri="{FF2B5EF4-FFF2-40B4-BE49-F238E27FC236}">
                <a16:creationId xmlns:a16="http://schemas.microsoft.com/office/drawing/2014/main" id="{0940352A-8409-4783-8274-DF7D23E66FFD}"/>
              </a:ext>
            </a:extLst>
          </p:cNvPr>
          <p:cNvSpPr>
            <a:spLocks xmlns:a="http://schemas.openxmlformats.org/drawingml/2006/main" noGrp="1"/>
          </p:cNvSpPr>
          <p:nvPr/>
        </p:nvSpPr>
        <p:spPr>
          <a:xfrm xmlns:a="http://schemas.openxmlformats.org/drawingml/2006/main">
            <a:off x="3143250" y="3886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E16A46A-11FE-476F-86B2-872587B3964E}"/>
              </a:ext>
            </a:extLst>
          </p:cNvPr>
          <p:cNvSpPr>
            <a:spLocks xmlns:a="http://schemas.openxmlformats.org/drawingml/2006/main" noGrp="1"/>
          </p:cNvSpPr>
          <p:nvPr/>
        </p:nvSpPr>
        <p:spPr>
          <a:xfrm xmlns:a="http://schemas.openxmlformats.org/drawingml/2006/main">
            <a:off x="3143250" y="3886200"/>
            <a:ext cx="5497830" cy="190500"/>
          </a:xfrm>
          <a:prstGeom xmlns:a="http://schemas.openxmlformats.org/drawingml/2006/main" prst="rect">
            <a:avLst/>
          </a:prstGeom>
          <a:solidFill xmlns:a="http://schemas.openxmlformats.org/drawingml/2006/main">
            <a:srgbClr val="F0A75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93CF595-07F0-489C-A458-A4E4ECD85011}"/>
              </a:ext>
            </a:extLst>
          </p:cNvPr>
          <p:cNvSpPr>
            <a:spLocks xmlns:a="http://schemas.openxmlformats.org/drawingml/2006/main" noGrp="1"/>
          </p:cNvSpPr>
          <p:nvPr/>
        </p:nvSpPr>
        <p:spPr>
          <a:xfrm xmlns:a="http://schemas.openxmlformats.org/drawingml/2006/main">
            <a:off x="9448800" y="3848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F0A757"/>
                </a:solidFill>
                <a:latin typeface="Aptos"/>
                <a:ea typeface="Aptos"/>
                <a:cs typeface="Aptos"/>
              </a:defRPr>
            </a:pPr>
            <a:r>
              <a:rPr sz="1200" b="1">
                <a:solidFill>
                  <a:srgbClr val="F0A757"/>
                </a:solidFill>
                <a:latin typeface="Aptos"/>
                <a:ea typeface="Aptos"/>
                <a:cs typeface="Aptos"/>
              </a:rPr>
              <a:t>88.8%</a:t>
            </a:r>
          </a:p>
        </p:txBody>
      </p:sp>
      <p:sp>
        <p:nvSpPr>
          <p:cNvPr id="39" name="">
            <a:extLst xmlns:a="http://schemas.openxmlformats.org/drawingml/2006/main">
              <a:ext uri="{FF2B5EF4-FFF2-40B4-BE49-F238E27FC236}">
                <a16:creationId xmlns:a16="http://schemas.microsoft.com/office/drawing/2014/main" id="{08FB176E-15BC-4C4B-80E0-85E77D882BB3}"/>
              </a:ext>
            </a:extLst>
          </p:cNvPr>
          <p:cNvSpPr>
            <a:spLocks xmlns:a="http://schemas.openxmlformats.org/drawingml/2006/main" noGrp="1"/>
          </p:cNvSpPr>
          <p:nvPr/>
        </p:nvSpPr>
        <p:spPr>
          <a:xfrm xmlns:a="http://schemas.openxmlformats.org/drawingml/2006/main">
            <a:off x="666750" y="4248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EOL comment</a:t>
            </a:r>
          </a:p>
        </p:txBody>
      </p:sp>
      <p:sp>
        <p:nvSpPr>
          <p:cNvPr id="40" name="">
            <a:extLst xmlns:a="http://schemas.openxmlformats.org/drawingml/2006/main">
              <a:ext uri="{FF2B5EF4-FFF2-40B4-BE49-F238E27FC236}">
                <a16:creationId xmlns:a16="http://schemas.microsoft.com/office/drawing/2014/main" id="{D23F8030-6AA1-458D-8EDB-F0448E45F627}"/>
              </a:ext>
            </a:extLst>
          </p:cNvPr>
          <p:cNvSpPr>
            <a:spLocks xmlns:a="http://schemas.openxmlformats.org/drawingml/2006/main" noGrp="1"/>
          </p:cNvSpPr>
          <p:nvPr/>
        </p:nvSpPr>
        <p:spPr>
          <a:xfrm xmlns:a="http://schemas.openxmlformats.org/drawingml/2006/main">
            <a:off x="3143250" y="4267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62ACEFF-7783-4E44-8955-C7E4423A6559}"/>
              </a:ext>
            </a:extLst>
          </p:cNvPr>
          <p:cNvSpPr>
            <a:spLocks xmlns:a="http://schemas.openxmlformats.org/drawingml/2006/main" noGrp="1"/>
          </p:cNvSpPr>
          <p:nvPr/>
        </p:nvSpPr>
        <p:spPr>
          <a:xfrm xmlns:a="http://schemas.openxmlformats.org/drawingml/2006/main">
            <a:off x="3143250" y="4267200"/>
            <a:ext cx="4841558" cy="190500"/>
          </a:xfrm>
          <a:prstGeom xmlns:a="http://schemas.openxmlformats.org/drawingml/2006/main" prst="rect">
            <a:avLst/>
          </a:prstGeom>
          <a:solidFill xmlns:a="http://schemas.openxmlformats.org/drawingml/2006/main">
            <a:srgbClr val="F0A75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EF513A1-46B5-4075-AFAC-90B530907D0C}"/>
              </a:ext>
            </a:extLst>
          </p:cNvPr>
          <p:cNvSpPr>
            <a:spLocks xmlns:a="http://schemas.openxmlformats.org/drawingml/2006/main" noGrp="1"/>
          </p:cNvSpPr>
          <p:nvPr/>
        </p:nvSpPr>
        <p:spPr>
          <a:xfrm xmlns:a="http://schemas.openxmlformats.org/drawingml/2006/main">
            <a:off x="9448800" y="4229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F0A757"/>
                </a:solidFill>
                <a:latin typeface="Aptos"/>
                <a:ea typeface="Aptos"/>
                <a:cs typeface="Aptos"/>
              </a:defRPr>
            </a:pPr>
            <a:r>
              <a:rPr sz="1200" b="1">
                <a:solidFill>
                  <a:srgbClr val="F0A757"/>
                </a:solidFill>
                <a:latin typeface="Aptos"/>
                <a:ea typeface="Aptos"/>
                <a:cs typeface="Aptos"/>
              </a:rPr>
              <a:t>78.2%</a:t>
            </a:r>
          </a:p>
        </p:txBody>
      </p:sp>
      <p:sp>
        <p:nvSpPr>
          <p:cNvPr id="43" name="">
            <a:extLst xmlns:a="http://schemas.openxmlformats.org/drawingml/2006/main">
              <a:ext uri="{FF2B5EF4-FFF2-40B4-BE49-F238E27FC236}">
                <a16:creationId xmlns:a16="http://schemas.microsoft.com/office/drawing/2014/main" id="{9A627859-A7F4-4C16-A904-496423941587}"/>
              </a:ext>
            </a:extLst>
          </p:cNvPr>
          <p:cNvSpPr>
            <a:spLocks xmlns:a="http://schemas.openxmlformats.org/drawingml/2006/main" noGrp="1"/>
          </p:cNvSpPr>
          <p:nvPr/>
        </p:nvSpPr>
        <p:spPr>
          <a:xfrm xmlns:a="http://schemas.openxmlformats.org/drawingml/2006/main">
            <a:off x="666750" y="4629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Blank line</a:t>
            </a:r>
          </a:p>
        </p:txBody>
      </p:sp>
      <p:sp>
        <p:nvSpPr>
          <p:cNvPr id="44" name="">
            <a:extLst xmlns:a="http://schemas.openxmlformats.org/drawingml/2006/main">
              <a:ext uri="{FF2B5EF4-FFF2-40B4-BE49-F238E27FC236}">
                <a16:creationId xmlns:a16="http://schemas.microsoft.com/office/drawing/2014/main" id="{A3F8F02D-05A5-46B5-AF7C-BD4378F643B9}"/>
              </a:ext>
            </a:extLst>
          </p:cNvPr>
          <p:cNvSpPr>
            <a:spLocks xmlns:a="http://schemas.openxmlformats.org/drawingml/2006/main" noGrp="1"/>
          </p:cNvSpPr>
          <p:nvPr/>
        </p:nvSpPr>
        <p:spPr>
          <a:xfrm xmlns:a="http://schemas.openxmlformats.org/drawingml/2006/main">
            <a:off x="3143250" y="4648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FBF134A-638B-4388-A659-9890CD76E9BB}"/>
              </a:ext>
            </a:extLst>
          </p:cNvPr>
          <p:cNvSpPr>
            <a:spLocks xmlns:a="http://schemas.openxmlformats.org/drawingml/2006/main" noGrp="1"/>
          </p:cNvSpPr>
          <p:nvPr/>
        </p:nvSpPr>
        <p:spPr>
          <a:xfrm xmlns:a="http://schemas.openxmlformats.org/drawingml/2006/main">
            <a:off x="3143250" y="4648200"/>
            <a:ext cx="1541621" cy="1905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541C73C-AC8B-42C9-8D76-55D62E123EC0}"/>
              </a:ext>
            </a:extLst>
          </p:cNvPr>
          <p:cNvSpPr>
            <a:spLocks xmlns:a="http://schemas.openxmlformats.org/drawingml/2006/main" noGrp="1"/>
          </p:cNvSpPr>
          <p:nvPr/>
        </p:nvSpPr>
        <p:spPr>
          <a:xfrm xmlns:a="http://schemas.openxmlformats.org/drawingml/2006/main">
            <a:off x="9448800" y="4610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E4002B"/>
                </a:solidFill>
                <a:latin typeface="Aptos"/>
                <a:ea typeface="Aptos"/>
                <a:cs typeface="Aptos"/>
              </a:defRPr>
            </a:pPr>
            <a:r>
              <a:rPr sz="1200" b="1">
                <a:solidFill>
                  <a:srgbClr val="E4002B"/>
                </a:solidFill>
                <a:latin typeface="Aptos"/>
                <a:ea typeface="Aptos"/>
                <a:cs typeface="Aptos"/>
              </a:rPr>
              <a:t>24.9%</a:t>
            </a:r>
          </a:p>
        </p:txBody>
      </p:sp>
      <p:sp>
        <p:nvSpPr>
          <p:cNvPr id="47" name="">
            <a:extLst xmlns:a="http://schemas.openxmlformats.org/drawingml/2006/main">
              <a:ext uri="{FF2B5EF4-FFF2-40B4-BE49-F238E27FC236}">
                <a16:creationId xmlns:a16="http://schemas.microsoft.com/office/drawing/2014/main" id="{8D26019D-B510-498D-AE42-100D3969C375}"/>
              </a:ext>
            </a:extLst>
          </p:cNvPr>
          <p:cNvSpPr>
            <a:spLocks xmlns:a="http://schemas.openxmlformats.org/drawingml/2006/main" noGrp="1"/>
          </p:cNvSpPr>
          <p:nvPr/>
        </p:nvSpPr>
        <p:spPr>
          <a:xfrm xmlns:a="http://schemas.openxmlformats.org/drawingml/2006/main">
            <a:off x="666750" y="5010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0">
                <a:solidFill>
                  <a:srgbClr val="232323"/>
                </a:solidFill>
                <a:latin typeface="Aptos"/>
                <a:ea typeface="Aptos"/>
                <a:cs typeface="Aptos"/>
              </a:defRPr>
            </a:pPr>
            <a:r>
              <a:rPr sz="1200" b="0">
                <a:solidFill>
                  <a:srgbClr val="232323"/>
                </a:solidFill>
                <a:latin typeface="Aptos"/>
                <a:ea typeface="Aptos"/>
                <a:cs typeface="Aptos"/>
              </a:rPr>
              <a:t>Block comment</a:t>
            </a:r>
          </a:p>
        </p:txBody>
      </p:sp>
      <p:sp>
        <p:nvSpPr>
          <p:cNvPr id="48" name="">
            <a:extLst xmlns:a="http://schemas.openxmlformats.org/drawingml/2006/main">
              <a:ext uri="{FF2B5EF4-FFF2-40B4-BE49-F238E27FC236}">
                <a16:creationId xmlns:a16="http://schemas.microsoft.com/office/drawing/2014/main" id="{3FAC1434-4B73-49A3-AFE6-9180F9BBD76B}"/>
              </a:ext>
            </a:extLst>
          </p:cNvPr>
          <p:cNvSpPr>
            <a:spLocks xmlns:a="http://schemas.openxmlformats.org/drawingml/2006/main" noGrp="1"/>
          </p:cNvSpPr>
          <p:nvPr/>
        </p:nvSpPr>
        <p:spPr>
          <a:xfrm xmlns:a="http://schemas.openxmlformats.org/drawingml/2006/main">
            <a:off x="3143250" y="5029200"/>
            <a:ext cx="6191250" cy="19050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511DF781-3631-41C8-8AEC-9E2F69626FF0}"/>
              </a:ext>
            </a:extLst>
          </p:cNvPr>
          <p:cNvSpPr>
            <a:spLocks xmlns:a="http://schemas.openxmlformats.org/drawingml/2006/main" noGrp="1"/>
          </p:cNvSpPr>
          <p:nvPr/>
        </p:nvSpPr>
        <p:spPr>
          <a:xfrm xmlns:a="http://schemas.openxmlformats.org/drawingml/2006/main">
            <a:off x="3143250" y="5029200"/>
            <a:ext cx="1485900" cy="1905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591B5DD-EA26-42F0-A7A5-D3895893677B}"/>
              </a:ext>
            </a:extLst>
          </p:cNvPr>
          <p:cNvSpPr>
            <a:spLocks xmlns:a="http://schemas.openxmlformats.org/drawingml/2006/main" noGrp="1"/>
          </p:cNvSpPr>
          <p:nvPr/>
        </p:nvSpPr>
        <p:spPr>
          <a:xfrm xmlns:a="http://schemas.openxmlformats.org/drawingml/2006/main">
            <a:off x="9448800" y="4991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E4002B"/>
                </a:solidFill>
                <a:latin typeface="Aptos"/>
                <a:ea typeface="Aptos"/>
                <a:cs typeface="Aptos"/>
              </a:defRPr>
            </a:pPr>
            <a:r>
              <a:rPr sz="1200" b="1">
                <a:solidFill>
                  <a:srgbClr val="E4002B"/>
                </a:solidFill>
                <a:latin typeface="Aptos"/>
                <a:ea typeface="Aptos"/>
                <a:cs typeface="Aptos"/>
              </a:rPr>
              <a:t>24.0%</a:t>
            </a:r>
          </a:p>
        </p:txBody>
      </p:sp>
      <p:sp>
        <p:nvSpPr>
          <p:cNvPr id="51" name="">
            <a:extLst xmlns:a="http://schemas.openxmlformats.org/drawingml/2006/main">
              <a:ext uri="{FF2B5EF4-FFF2-40B4-BE49-F238E27FC236}">
                <a16:creationId xmlns:a16="http://schemas.microsoft.com/office/drawing/2014/main" id="{0F7DDA46-6245-4CA7-957E-AAA042D17DF2}"/>
              </a:ext>
            </a:extLst>
          </p:cNvPr>
          <p:cNvSpPr>
            <a:spLocks xmlns:a="http://schemas.openxmlformats.org/drawingml/2006/main" noGrp="1"/>
          </p:cNvSpPr>
          <p:nvPr/>
        </p:nvSpPr>
        <p:spPr>
          <a:xfrm xmlns:a="http://schemas.openxmlformats.org/drawingml/2006/main">
            <a:off x="3000375" y="5314950"/>
            <a:ext cx="814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1">
                <a:solidFill>
                  <a:srgbClr val="E4002B"/>
                </a:solidFill>
                <a:latin typeface="Aptos"/>
                <a:ea typeface="Aptos"/>
                <a:cs typeface="Aptos"/>
              </a:defRPr>
            </a:pPr>
            <a:r>
              <a:rPr sz="1125" b="1">
                <a:solidFill>
                  <a:srgbClr val="E4002B"/>
                </a:solidFill>
                <a:latin typeface="Aptos"/>
                <a:ea typeface="Aptos"/>
                <a:cs typeface="Aptos"/>
              </a:rPr>
              <a:t>Blank/block comments are not stable after parsing/printing; report them as unobservable.</a:t>
            </a:r>
          </a:p>
        </p:txBody>
      </p:sp>
    </p:spTree>
    <p:extLst>
      <p:ext uri="{BB962C8B-B14F-4D97-AF65-F5344CB8AC3E}">
        <p14:creationId xmlns:p14="http://schemas.microsoft.com/office/powerpoint/2010/main" val="258551416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Most V2 misses come from two untestable operators</a:t>
            </a:r>
          </a:p>
        </p:txBody>
      </p:sp>
      <p:pic>
        <p:nvPicPr>
          <p:cNvPr id="27" name="Picture 3"/>
          <p:cNvPicPr>
            <a:picLocks xmlns:a="http://schemas.openxmlformats.org/drawingml/2006/main" noChangeAspect="1"/>
          </p:cNvPicPr>
          <p:nvPr/>
        </p:nvPicPr>
        <p:blipFill>
          <a:blip xmlns:r="http://schemas.openxmlformats.org/officeDocument/2006/relationships" xmlns:a="http://schemas.openxmlformats.org/drawingml/2006/main" r:embed="R72f984f078364dad"/>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16D18F2-1DDF-43CD-A2DA-975BB257DC64}"/>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1DD146D4-AEFF-400C-BA2A-FE31BCDC8923}"/>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4,336 mutation references</a:t>
            </a:r>
          </a:p>
        </p:txBody>
      </p:sp>
      <p:sp>
        <p:nvSpPr>
          <p:cNvPr id="9" name="">
            <a:extLst xmlns:a="http://schemas.openxmlformats.org/drawingml/2006/main">
              <a:ext uri="{FF2B5EF4-FFF2-40B4-BE49-F238E27FC236}">
                <a16:creationId xmlns:a16="http://schemas.microsoft.com/office/drawing/2014/main" id="{A31913B2-5056-4ED4-B655-84F14660E866}"/>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C96AB7E3-51DF-4D47-8703-1E6EC0AC1BEA}"/>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20 / 24</a:t>
            </a:r>
          </a:p>
        </p:txBody>
      </p:sp>
      <p:sp>
        <p:nvSpPr>
          <p:cNvPr id="11" name="">
            <a:extLst xmlns:a="http://schemas.openxmlformats.org/drawingml/2006/main">
              <a:ext uri="{FF2B5EF4-FFF2-40B4-BE49-F238E27FC236}">
                <a16:creationId xmlns:a16="http://schemas.microsoft.com/office/drawing/2014/main" id="{4EBB0D42-E411-4641-9167-7858C5949888}"/>
              </a:ext>
            </a:extLst>
          </p:cNvPr>
          <p:cNvSpPr>
            <a:spLocks xmlns:a="http://schemas.openxmlformats.org/drawingml/2006/main" noGrp="1"/>
          </p:cNvSpPr>
          <p:nvPr/>
        </p:nvSpPr>
        <p:spPr>
          <a:xfrm xmlns:a="http://schemas.openxmlformats.org/drawingml/2006/main">
            <a:off x="809625" y="2095500"/>
            <a:ext cx="8201792" cy="762000"/>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08F172-2332-4874-BFBC-DB12A85EAF81}"/>
              </a:ext>
            </a:extLst>
          </p:cNvPr>
          <p:cNvSpPr>
            <a:spLocks xmlns:a="http://schemas.openxmlformats.org/drawingml/2006/main" noGrp="1"/>
          </p:cNvSpPr>
          <p:nvPr/>
        </p:nvSpPr>
        <p:spPr>
          <a:xfrm xmlns:a="http://schemas.openxmlformats.org/drawingml/2006/main">
            <a:off x="809625" y="2095500"/>
            <a:ext cx="8201792"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3,539 correct</a:t>
            </a:r>
          </a:p>
        </p:txBody>
      </p:sp>
      <p:sp>
        <p:nvSpPr>
          <p:cNvPr id="13" name="">
            <a:extLst xmlns:a="http://schemas.openxmlformats.org/drawingml/2006/main">
              <a:ext uri="{FF2B5EF4-FFF2-40B4-BE49-F238E27FC236}">
                <a16:creationId xmlns:a16="http://schemas.microsoft.com/office/drawing/2014/main" id="{23B9605F-317F-4037-A63A-FAF7F90AAEAA}"/>
              </a:ext>
            </a:extLst>
          </p:cNvPr>
          <p:cNvSpPr>
            <a:spLocks xmlns:a="http://schemas.openxmlformats.org/drawingml/2006/main" noGrp="1"/>
          </p:cNvSpPr>
          <p:nvPr/>
        </p:nvSpPr>
        <p:spPr>
          <a:xfrm xmlns:a="http://schemas.openxmlformats.org/drawingml/2006/main">
            <a:off x="9011417" y="2095500"/>
            <a:ext cx="1663997" cy="7620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90B2FD-3E24-4D80-BB66-35E8E41258D1}"/>
              </a:ext>
            </a:extLst>
          </p:cNvPr>
          <p:cNvSpPr>
            <a:spLocks xmlns:a="http://schemas.openxmlformats.org/drawingml/2006/main" noGrp="1"/>
          </p:cNvSpPr>
          <p:nvPr/>
        </p:nvSpPr>
        <p:spPr>
          <a:xfrm xmlns:a="http://schemas.openxmlformats.org/drawingml/2006/main">
            <a:off x="9011417" y="2095500"/>
            <a:ext cx="1663997"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718 not captured</a:t>
            </a:r>
          </a:p>
        </p:txBody>
      </p:sp>
      <p:sp>
        <p:nvSpPr>
          <p:cNvPr id="15" name="">
            <a:extLst xmlns:a="http://schemas.openxmlformats.org/drawingml/2006/main">
              <a:ext uri="{FF2B5EF4-FFF2-40B4-BE49-F238E27FC236}">
                <a16:creationId xmlns:a16="http://schemas.microsoft.com/office/drawing/2014/main" id="{63B23C31-C1B4-4B3F-9752-64A66E2C0A63}"/>
              </a:ext>
            </a:extLst>
          </p:cNvPr>
          <p:cNvSpPr>
            <a:spLocks xmlns:a="http://schemas.openxmlformats.org/drawingml/2006/main" noGrp="1"/>
          </p:cNvSpPr>
          <p:nvPr/>
        </p:nvSpPr>
        <p:spPr>
          <a:xfrm xmlns:a="http://schemas.openxmlformats.org/drawingml/2006/main">
            <a:off x="10675414" y="2095500"/>
            <a:ext cx="183086" cy="762000"/>
          </a:xfrm>
          <a:prstGeom xmlns:a="http://schemas.openxmlformats.org/drawingml/2006/main" prst="rect">
            <a:avLst/>
          </a:prstGeom>
          <a:solidFill xmlns:a="http://schemas.openxmlformats.org/drawingml/2006/main">
            <a:srgbClr val="F0A7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5F0F55A-7DCB-4CCA-BF2F-8BB1B5F31C0D}"/>
              </a:ext>
            </a:extLst>
          </p:cNvPr>
          <p:cNvSpPr>
            <a:spLocks xmlns:a="http://schemas.openxmlformats.org/drawingml/2006/main" noGrp="1"/>
          </p:cNvSpPr>
          <p:nvPr/>
        </p:nvSpPr>
        <p:spPr>
          <a:xfrm xmlns:a="http://schemas.openxmlformats.org/drawingml/2006/main">
            <a:off x="1047750" y="33337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E4002B"/>
                </a:solidFill>
                <a:latin typeface="Aptos Display"/>
                <a:ea typeface="Aptos Display"/>
                <a:cs typeface="Aptos Display"/>
              </a:defRPr>
            </a:pPr>
            <a:r>
              <a:rPr sz="3600" b="1">
                <a:solidFill>
                  <a:srgbClr val="E4002B"/>
                </a:solidFill>
                <a:latin typeface="Aptos Display"/>
                <a:ea typeface="Aptos Display"/>
                <a:cs typeface="Aptos Display"/>
              </a:rPr>
              <a:t>16.6%</a:t>
            </a:r>
          </a:p>
        </p:txBody>
      </p:sp>
      <p:sp>
        <p:nvSpPr>
          <p:cNvPr id="17" name="">
            <a:extLst xmlns:a="http://schemas.openxmlformats.org/drawingml/2006/main">
              <a:ext uri="{FF2B5EF4-FFF2-40B4-BE49-F238E27FC236}">
                <a16:creationId xmlns:a16="http://schemas.microsoft.com/office/drawing/2014/main" id="{E7ACA714-2F1B-4817-A6CA-882A5683CC0B}"/>
              </a:ext>
            </a:extLst>
          </p:cNvPr>
          <p:cNvSpPr>
            <a:spLocks xmlns:a="http://schemas.openxmlformats.org/drawingml/2006/main" noGrp="1"/>
          </p:cNvSpPr>
          <p:nvPr/>
        </p:nvSpPr>
        <p:spPr>
          <a:xfrm xmlns:a="http://schemas.openxmlformats.org/drawingml/2006/main">
            <a:off x="1047750" y="4000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never captured</a:t>
            </a:r>
          </a:p>
        </p:txBody>
      </p:sp>
      <p:sp>
        <p:nvSpPr>
          <p:cNvPr id="18" name="">
            <a:extLst xmlns:a="http://schemas.openxmlformats.org/drawingml/2006/main">
              <a:ext uri="{FF2B5EF4-FFF2-40B4-BE49-F238E27FC236}">
                <a16:creationId xmlns:a16="http://schemas.microsoft.com/office/drawing/2014/main" id="{6F04D17C-A6B6-4282-A0AB-0D34F49D99F5}"/>
              </a:ext>
            </a:extLst>
          </p:cNvPr>
          <p:cNvSpPr>
            <a:spLocks xmlns:a="http://schemas.openxmlformats.org/drawingml/2006/main" noGrp="1"/>
          </p:cNvSpPr>
          <p:nvPr/>
        </p:nvSpPr>
        <p:spPr>
          <a:xfrm xmlns:a="http://schemas.openxmlformats.org/drawingml/2006/main">
            <a:off x="1047750" y="43338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718 references</a:t>
            </a:r>
          </a:p>
        </p:txBody>
      </p:sp>
      <p:sp>
        <p:nvSpPr>
          <p:cNvPr id="19" name="">
            <a:extLst xmlns:a="http://schemas.openxmlformats.org/drawingml/2006/main">
              <a:ext uri="{FF2B5EF4-FFF2-40B4-BE49-F238E27FC236}">
                <a16:creationId xmlns:a16="http://schemas.microsoft.com/office/drawing/2014/main" id="{A9B63261-2AA2-45AC-88FD-02F4FEB384D1}"/>
              </a:ext>
            </a:extLst>
          </p:cNvPr>
          <p:cNvSpPr>
            <a:spLocks xmlns:a="http://schemas.openxmlformats.org/drawingml/2006/main" noGrp="1"/>
          </p:cNvSpPr>
          <p:nvPr/>
        </p:nvSpPr>
        <p:spPr>
          <a:xfrm xmlns:a="http://schemas.openxmlformats.org/drawingml/2006/main">
            <a:off x="4429125" y="33337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F0A757"/>
                </a:solidFill>
                <a:latin typeface="Aptos Display"/>
                <a:ea typeface="Aptos Display"/>
                <a:cs typeface="Aptos Display"/>
              </a:defRPr>
            </a:pPr>
            <a:r>
              <a:rPr sz="3600" b="1">
                <a:solidFill>
                  <a:srgbClr val="F0A757"/>
                </a:solidFill>
                <a:latin typeface="Aptos Display"/>
                <a:ea typeface="Aptos Display"/>
                <a:cs typeface="Aptos Display"/>
              </a:rPr>
              <a:t>1.8%</a:t>
            </a:r>
          </a:p>
        </p:txBody>
      </p:sp>
      <p:sp>
        <p:nvSpPr>
          <p:cNvPr id="20" name="">
            <a:extLst xmlns:a="http://schemas.openxmlformats.org/drawingml/2006/main">
              <a:ext uri="{FF2B5EF4-FFF2-40B4-BE49-F238E27FC236}">
                <a16:creationId xmlns:a16="http://schemas.microsoft.com/office/drawing/2014/main" id="{DE2403D7-FD7E-48A3-8804-4FB0B4BAD50C}"/>
              </a:ext>
            </a:extLst>
          </p:cNvPr>
          <p:cNvSpPr>
            <a:spLocks xmlns:a="http://schemas.openxmlformats.org/drawingml/2006/main" noGrp="1"/>
          </p:cNvSpPr>
          <p:nvPr/>
        </p:nvSpPr>
        <p:spPr>
          <a:xfrm xmlns:a="http://schemas.openxmlformats.org/drawingml/2006/main">
            <a:off x="4429125" y="4000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captured, wrong type</a:t>
            </a:r>
          </a:p>
        </p:txBody>
      </p:sp>
      <p:sp>
        <p:nvSpPr>
          <p:cNvPr id="21" name="">
            <a:extLst xmlns:a="http://schemas.openxmlformats.org/drawingml/2006/main">
              <a:ext uri="{FF2B5EF4-FFF2-40B4-BE49-F238E27FC236}">
                <a16:creationId xmlns:a16="http://schemas.microsoft.com/office/drawing/2014/main" id="{77A52DC9-9561-42C8-BDD4-50A90593B903}"/>
              </a:ext>
            </a:extLst>
          </p:cNvPr>
          <p:cNvSpPr>
            <a:spLocks xmlns:a="http://schemas.openxmlformats.org/drawingml/2006/main" noGrp="1"/>
          </p:cNvSpPr>
          <p:nvPr/>
        </p:nvSpPr>
        <p:spPr>
          <a:xfrm xmlns:a="http://schemas.openxmlformats.org/drawingml/2006/main">
            <a:off x="4429125" y="43338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79 references</a:t>
            </a:r>
          </a:p>
        </p:txBody>
      </p:sp>
      <p:sp>
        <p:nvSpPr>
          <p:cNvPr id="22" name="">
            <a:extLst xmlns:a="http://schemas.openxmlformats.org/drawingml/2006/main">
              <a:ext uri="{FF2B5EF4-FFF2-40B4-BE49-F238E27FC236}">
                <a16:creationId xmlns:a16="http://schemas.microsoft.com/office/drawing/2014/main" id="{1A490ADB-6BF9-407B-9A42-D93DD59D2FB7}"/>
              </a:ext>
            </a:extLst>
          </p:cNvPr>
          <p:cNvSpPr>
            <a:spLocks xmlns:a="http://schemas.openxmlformats.org/drawingml/2006/main" noGrp="1"/>
          </p:cNvSpPr>
          <p:nvPr/>
        </p:nvSpPr>
        <p:spPr>
          <a:xfrm xmlns:a="http://schemas.openxmlformats.org/drawingml/2006/main">
            <a:off x="7810500" y="333375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691 / 718</a:t>
            </a:r>
          </a:p>
        </p:txBody>
      </p:sp>
      <p:sp>
        <p:nvSpPr>
          <p:cNvPr id="23" name="">
            <a:extLst xmlns:a="http://schemas.openxmlformats.org/drawingml/2006/main">
              <a:ext uri="{FF2B5EF4-FFF2-40B4-BE49-F238E27FC236}">
                <a16:creationId xmlns:a16="http://schemas.microsoft.com/office/drawing/2014/main" id="{C7F8834D-9C39-4E15-8A89-BD2E0D53E1F5}"/>
              </a:ext>
            </a:extLst>
          </p:cNvPr>
          <p:cNvSpPr>
            <a:spLocks xmlns:a="http://schemas.openxmlformats.org/drawingml/2006/main" noGrp="1"/>
          </p:cNvSpPr>
          <p:nvPr/>
        </p:nvSpPr>
        <p:spPr>
          <a:xfrm xmlns:a="http://schemas.openxmlformats.org/drawingml/2006/main">
            <a:off x="7810500" y="40005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7187"/>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misses from blank/block comments</a:t>
            </a:r>
          </a:p>
        </p:txBody>
      </p:sp>
      <p:sp>
        <p:nvSpPr>
          <p:cNvPr id="24" name="">
            <a:extLst xmlns:a="http://schemas.openxmlformats.org/drawingml/2006/main">
              <a:ext uri="{FF2B5EF4-FFF2-40B4-BE49-F238E27FC236}">
                <a16:creationId xmlns:a16="http://schemas.microsoft.com/office/drawing/2014/main" id="{1689EA71-9EC7-4789-9205-8820C6023D94}"/>
              </a:ext>
            </a:extLst>
          </p:cNvPr>
          <p:cNvSpPr>
            <a:spLocks xmlns:a="http://schemas.openxmlformats.org/drawingml/2006/main" noGrp="1"/>
          </p:cNvSpPr>
          <p:nvPr/>
        </p:nvSpPr>
        <p:spPr>
          <a:xfrm xmlns:a="http://schemas.openxmlformats.org/drawingml/2006/main">
            <a:off x="7810500" y="4333875"/>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96% of uncaptured references</a:t>
            </a:r>
          </a:p>
        </p:txBody>
      </p:sp>
      <p:sp>
        <p:nvSpPr>
          <p:cNvPr id="25" name="">
            <a:extLst xmlns:a="http://schemas.openxmlformats.org/drawingml/2006/main">
              <a:ext uri="{FF2B5EF4-FFF2-40B4-BE49-F238E27FC236}">
                <a16:creationId xmlns:a16="http://schemas.microsoft.com/office/drawing/2014/main" id="{F9B770AA-AE52-4B42-BE51-3B3C0B697DE2}"/>
              </a:ext>
            </a:extLst>
          </p:cNvPr>
          <p:cNvSpPr>
            <a:spLocks xmlns:a="http://schemas.openxmlformats.org/drawingml/2006/main" noGrp="1"/>
          </p:cNvSpPr>
          <p:nvPr/>
        </p:nvSpPr>
        <p:spPr>
          <a:xfrm xmlns:a="http://schemas.openxmlformats.org/drawingml/2006/main">
            <a:off x="1809750" y="517207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575" b="1">
                <a:solidFill>
                  <a:srgbClr val="4F2683"/>
                </a:solidFill>
                <a:latin typeface="Aptos"/>
                <a:ea typeface="Aptos"/>
                <a:cs typeface="Aptos"/>
              </a:defRPr>
            </a:pPr>
            <a:r>
              <a:rPr sz="1575" b="1">
                <a:solidFill>
                  <a:srgbClr val="4F2683"/>
                </a:solidFill>
                <a:latin typeface="Aptos"/>
                <a:ea typeface="Aptos"/>
                <a:cs typeface="Aptos"/>
              </a:rPr>
              <a:t>Action: separate “not observable” from real detection errors in the final paper table.</a:t>
            </a:r>
          </a:p>
        </p:txBody>
      </p:sp>
    </p:spTree>
    <p:extLst>
      <p:ext uri="{BB962C8B-B14F-4D97-AF65-F5344CB8AC3E}">
        <p14:creationId xmlns:p14="http://schemas.microsoft.com/office/powerpoint/2010/main" val="258551416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Negative pilot — 98% produced no syntactic clone</a:t>
            </a:r>
          </a:p>
        </p:txBody>
      </p:sp>
      <p:pic>
        <p:nvPicPr>
          <p:cNvPr id="27" name="Picture 3"/>
          <p:cNvPicPr>
            <a:picLocks xmlns:a="http://schemas.openxmlformats.org/drawingml/2006/main" noChangeAspect="1"/>
          </p:cNvPicPr>
          <p:nvPr/>
        </p:nvPicPr>
        <p:blipFill>
          <a:blip xmlns:r="http://schemas.openxmlformats.org/officeDocument/2006/relationships" xmlns:a="http://schemas.openxmlformats.org/drawingml/2006/main" r:embed="Ra674f0999d254634"/>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4D9004-8A74-4ACA-9CE7-3B56D1AE1F52}"/>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3D7E926A-D632-4009-A78F-1BE0FFED833D}"/>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100 unrelated CodeNet pairs</a:t>
            </a:r>
          </a:p>
        </p:txBody>
      </p:sp>
      <p:sp>
        <p:nvSpPr>
          <p:cNvPr id="9" name="">
            <a:extLst xmlns:a="http://schemas.openxmlformats.org/drawingml/2006/main">
              <a:ext uri="{FF2B5EF4-FFF2-40B4-BE49-F238E27FC236}">
                <a16:creationId xmlns:a16="http://schemas.microsoft.com/office/drawing/2014/main" id="{10D09078-F2C8-49C8-B377-AA6CCB6CAE2B}"/>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CDA57D2C-39D1-466F-A80B-F10B36C70853}"/>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21 / 24</a:t>
            </a:r>
          </a:p>
        </p:txBody>
      </p:sp>
      <p:sp>
        <p:nvSpPr>
          <p:cNvPr id="11" name="">
            <a:extLst xmlns:a="http://schemas.openxmlformats.org/drawingml/2006/main">
              <a:ext uri="{FF2B5EF4-FFF2-40B4-BE49-F238E27FC236}">
                <a16:creationId xmlns:a16="http://schemas.microsoft.com/office/drawing/2014/main" id="{E8E1B5AE-378F-4312-B59F-73698A687140}"/>
              </a:ext>
            </a:extLst>
          </p:cNvPr>
          <p:cNvSpPr>
            <a:spLocks xmlns:a="http://schemas.openxmlformats.org/drawingml/2006/main" noGrp="1"/>
          </p:cNvSpPr>
          <p:nvPr/>
        </p:nvSpPr>
        <p:spPr>
          <a:xfrm xmlns:a="http://schemas.openxmlformats.org/drawingml/2006/main">
            <a:off x="904875" y="2095500"/>
            <a:ext cx="8023860" cy="742950"/>
          </a:xfrm>
          <a:prstGeom xmlns:a="http://schemas.openxmlformats.org/drawingml/2006/main" prst="rect">
            <a:avLst/>
          </a:prstGeom>
          <a:solidFill xmlns:a="http://schemas.openxmlformats.org/drawingml/2006/main">
            <a:srgbClr val="7AC94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BCD23D-82D8-4970-B46E-A64251ADE59D}"/>
              </a:ext>
            </a:extLst>
          </p:cNvPr>
          <p:cNvSpPr>
            <a:spLocks xmlns:a="http://schemas.openxmlformats.org/drawingml/2006/main" noGrp="1"/>
          </p:cNvSpPr>
          <p:nvPr/>
        </p:nvSpPr>
        <p:spPr>
          <a:xfrm xmlns:a="http://schemas.openxmlformats.org/drawingml/2006/main">
            <a:off x="904875" y="2095500"/>
            <a:ext cx="802386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232323"/>
                </a:solidFill>
                <a:latin typeface="Aptos"/>
                <a:ea typeface="Aptos"/>
                <a:cs typeface="Aptos"/>
              </a:defRPr>
            </a:pPr>
            <a:r>
              <a:rPr sz="1275" b="1">
                <a:solidFill>
                  <a:srgbClr val="232323"/>
                </a:solidFill>
                <a:latin typeface="Aptos"/>
                <a:ea typeface="Aptos"/>
                <a:cs typeface="Aptos"/>
              </a:rPr>
              <a:t>81 no output</a:t>
            </a:r>
          </a:p>
        </p:txBody>
      </p:sp>
      <p:sp>
        <p:nvSpPr>
          <p:cNvPr id="13" name="">
            <a:extLst xmlns:a="http://schemas.openxmlformats.org/drawingml/2006/main">
              <a:ext uri="{FF2B5EF4-FFF2-40B4-BE49-F238E27FC236}">
                <a16:creationId xmlns:a16="http://schemas.microsoft.com/office/drawing/2014/main" id="{6CAFD626-B5EE-445F-8665-8E7FB754DDB0}"/>
              </a:ext>
            </a:extLst>
          </p:cNvPr>
          <p:cNvSpPr>
            <a:spLocks xmlns:a="http://schemas.openxmlformats.org/drawingml/2006/main" noGrp="1"/>
          </p:cNvSpPr>
          <p:nvPr/>
        </p:nvSpPr>
        <p:spPr>
          <a:xfrm xmlns:a="http://schemas.openxmlformats.org/drawingml/2006/main">
            <a:off x="8928735" y="2095500"/>
            <a:ext cx="1684020" cy="742950"/>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E01CF5-634B-4D25-A15D-96B989A9AAFC}"/>
              </a:ext>
            </a:extLst>
          </p:cNvPr>
          <p:cNvSpPr>
            <a:spLocks xmlns:a="http://schemas.openxmlformats.org/drawingml/2006/main" noGrp="1"/>
          </p:cNvSpPr>
          <p:nvPr/>
        </p:nvSpPr>
        <p:spPr>
          <a:xfrm xmlns:a="http://schemas.openxmlformats.org/drawingml/2006/main">
            <a:off x="8928735" y="2095500"/>
            <a:ext cx="168402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232323"/>
                </a:solidFill>
                <a:latin typeface="Aptos"/>
                <a:ea typeface="Aptos"/>
                <a:cs typeface="Aptos"/>
              </a:defRPr>
            </a:pPr>
            <a:r>
              <a:rPr sz="1275" b="1">
                <a:solidFill>
                  <a:srgbClr val="232323"/>
                </a:solidFill>
                <a:latin typeface="Aptos"/>
                <a:ea typeface="Aptos"/>
                <a:cs typeface="Aptos"/>
              </a:rPr>
              <a:t>17 exploratory only</a:t>
            </a:r>
          </a:p>
        </p:txBody>
      </p:sp>
      <p:sp>
        <p:nvSpPr>
          <p:cNvPr id="15" name="">
            <a:extLst xmlns:a="http://schemas.openxmlformats.org/drawingml/2006/main">
              <a:ext uri="{FF2B5EF4-FFF2-40B4-BE49-F238E27FC236}">
                <a16:creationId xmlns:a16="http://schemas.microsoft.com/office/drawing/2014/main" id="{68236C83-85A1-439F-B981-5550B557768C}"/>
              </a:ext>
            </a:extLst>
          </p:cNvPr>
          <p:cNvSpPr>
            <a:spLocks xmlns:a="http://schemas.openxmlformats.org/drawingml/2006/main" noGrp="1"/>
          </p:cNvSpPr>
          <p:nvPr/>
        </p:nvSpPr>
        <p:spPr>
          <a:xfrm xmlns:a="http://schemas.openxmlformats.org/drawingml/2006/main">
            <a:off x="10612755" y="2095500"/>
            <a:ext cx="198120" cy="7429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375FC9E-B90E-415D-908B-FB5E216EF0DB}"/>
              </a:ext>
            </a:extLst>
          </p:cNvPr>
          <p:cNvSpPr>
            <a:spLocks xmlns:a="http://schemas.openxmlformats.org/drawingml/2006/main" noGrp="1"/>
          </p:cNvSpPr>
          <p:nvPr/>
        </p:nvSpPr>
        <p:spPr>
          <a:xfrm xmlns:a="http://schemas.openxmlformats.org/drawingml/2006/main">
            <a:off x="904875" y="33813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E4002B"/>
                </a:solidFill>
                <a:latin typeface="Aptos Display"/>
                <a:ea typeface="Aptos Display"/>
                <a:cs typeface="Aptos Display"/>
              </a:defRPr>
            </a:pPr>
            <a:r>
              <a:rPr sz="3600" b="1">
                <a:solidFill>
                  <a:srgbClr val="E4002B"/>
                </a:solidFill>
                <a:latin typeface="Aptos Display"/>
                <a:ea typeface="Aptos Display"/>
                <a:cs typeface="Aptos Display"/>
              </a:rPr>
              <a:t>2 / 100</a:t>
            </a:r>
          </a:p>
        </p:txBody>
      </p:sp>
      <p:sp>
        <p:nvSpPr>
          <p:cNvPr id="17" name="">
            <a:extLst xmlns:a="http://schemas.openxmlformats.org/drawingml/2006/main">
              <a:ext uri="{FF2B5EF4-FFF2-40B4-BE49-F238E27FC236}">
                <a16:creationId xmlns:a16="http://schemas.microsoft.com/office/drawing/2014/main" id="{37BF2F38-8E1C-47A9-BBE5-1045F0CB4147}"/>
              </a:ext>
            </a:extLst>
          </p:cNvPr>
          <p:cNvSpPr>
            <a:spLocks xmlns:a="http://schemas.openxmlformats.org/drawingml/2006/main" noGrp="1"/>
          </p:cNvSpPr>
          <p:nvPr/>
        </p:nvSpPr>
        <p:spPr>
          <a:xfrm xmlns:a="http://schemas.openxmlformats.org/drawingml/2006/main">
            <a:off x="904875" y="40481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syntactic outputs</a:t>
            </a:r>
          </a:p>
        </p:txBody>
      </p:sp>
      <p:sp>
        <p:nvSpPr>
          <p:cNvPr id="18" name="">
            <a:extLst xmlns:a="http://schemas.openxmlformats.org/drawingml/2006/main">
              <a:ext uri="{FF2B5EF4-FFF2-40B4-BE49-F238E27FC236}">
                <a16:creationId xmlns:a16="http://schemas.microsoft.com/office/drawing/2014/main" id="{67A6FF98-FFE2-4EE4-878A-4851EDCD0AB1}"/>
              </a:ext>
            </a:extLst>
          </p:cNvPr>
          <p:cNvSpPr>
            <a:spLocks xmlns:a="http://schemas.openxmlformats.org/drawingml/2006/main" noGrp="1"/>
          </p:cNvSpPr>
          <p:nvPr/>
        </p:nvSpPr>
        <p:spPr>
          <a:xfrm xmlns:a="http://schemas.openxmlformats.org/drawingml/2006/main">
            <a:off x="904875" y="4381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1 T2 · 1 T3</a:t>
            </a:r>
          </a:p>
        </p:txBody>
      </p:sp>
      <p:sp>
        <p:nvSpPr>
          <p:cNvPr id="19" name="">
            <a:extLst xmlns:a="http://schemas.openxmlformats.org/drawingml/2006/main">
              <a:ext uri="{FF2B5EF4-FFF2-40B4-BE49-F238E27FC236}">
                <a16:creationId xmlns:a16="http://schemas.microsoft.com/office/drawing/2014/main" id="{68F400AE-F68D-4B5C-90FF-A5CF95EDDB48}"/>
              </a:ext>
            </a:extLst>
          </p:cNvPr>
          <p:cNvSpPr>
            <a:spLocks xmlns:a="http://schemas.openxmlformats.org/drawingml/2006/main" noGrp="1"/>
          </p:cNvSpPr>
          <p:nvPr/>
        </p:nvSpPr>
        <p:spPr>
          <a:xfrm xmlns:a="http://schemas.openxmlformats.org/drawingml/2006/main">
            <a:off x="4429125" y="33813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21</a:t>
            </a:r>
          </a:p>
        </p:txBody>
      </p:sp>
      <p:sp>
        <p:nvSpPr>
          <p:cNvPr id="20" name="">
            <a:extLst xmlns:a="http://schemas.openxmlformats.org/drawingml/2006/main">
              <a:ext uri="{FF2B5EF4-FFF2-40B4-BE49-F238E27FC236}">
                <a16:creationId xmlns:a16="http://schemas.microsoft.com/office/drawing/2014/main" id="{B5D43169-5D88-4240-9419-FB55C1B23344}"/>
              </a:ext>
            </a:extLst>
          </p:cNvPr>
          <p:cNvSpPr>
            <a:spLocks xmlns:a="http://schemas.openxmlformats.org/drawingml/2006/main" noGrp="1"/>
          </p:cNvSpPr>
          <p:nvPr/>
        </p:nvSpPr>
        <p:spPr>
          <a:xfrm xmlns:a="http://schemas.openxmlformats.org/drawingml/2006/main">
            <a:off x="4429125" y="40481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possible T4 candidates</a:t>
            </a:r>
          </a:p>
        </p:txBody>
      </p:sp>
      <p:sp>
        <p:nvSpPr>
          <p:cNvPr id="21" name="">
            <a:extLst xmlns:a="http://schemas.openxmlformats.org/drawingml/2006/main">
              <a:ext uri="{FF2B5EF4-FFF2-40B4-BE49-F238E27FC236}">
                <a16:creationId xmlns:a16="http://schemas.microsoft.com/office/drawing/2014/main" id="{DD22CF4E-B4A8-4551-85D8-EA657F08F24B}"/>
              </a:ext>
            </a:extLst>
          </p:cNvPr>
          <p:cNvSpPr>
            <a:spLocks xmlns:a="http://schemas.openxmlformats.org/drawingml/2006/main" noGrp="1"/>
          </p:cNvSpPr>
          <p:nvPr/>
        </p:nvSpPr>
        <p:spPr>
          <a:xfrm xmlns:a="http://schemas.openxmlformats.org/drawingml/2006/main">
            <a:off x="4429125" y="4381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kept separate from syntactic clones</a:t>
            </a:r>
          </a:p>
        </p:txBody>
      </p:sp>
      <p:sp>
        <p:nvSpPr>
          <p:cNvPr id="22" name="">
            <a:extLst xmlns:a="http://schemas.openxmlformats.org/drawingml/2006/main">
              <a:ext uri="{FF2B5EF4-FFF2-40B4-BE49-F238E27FC236}">
                <a16:creationId xmlns:a16="http://schemas.microsoft.com/office/drawing/2014/main" id="{8CE053FC-FBF6-496F-9605-C89E4428C895}"/>
              </a:ext>
            </a:extLst>
          </p:cNvPr>
          <p:cNvSpPr>
            <a:spLocks xmlns:a="http://schemas.openxmlformats.org/drawingml/2006/main" noGrp="1"/>
          </p:cNvSpPr>
          <p:nvPr/>
        </p:nvSpPr>
        <p:spPr>
          <a:xfrm xmlns:a="http://schemas.openxmlformats.org/drawingml/2006/main">
            <a:off x="7953375" y="33813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7AC943"/>
                </a:solidFill>
                <a:latin typeface="Aptos Display"/>
                <a:ea typeface="Aptos Display"/>
                <a:cs typeface="Aptos Display"/>
              </a:defRPr>
            </a:pPr>
            <a:r>
              <a:rPr sz="3600" b="1">
                <a:solidFill>
                  <a:srgbClr val="7AC943"/>
                </a:solidFill>
                <a:latin typeface="Aptos Display"/>
                <a:ea typeface="Aptos Display"/>
                <a:cs typeface="Aptos Display"/>
              </a:rPr>
              <a:t>1,000</a:t>
            </a:r>
          </a:p>
        </p:txBody>
      </p:sp>
      <p:sp>
        <p:nvSpPr>
          <p:cNvPr id="23" name="">
            <a:extLst xmlns:a="http://schemas.openxmlformats.org/drawingml/2006/main">
              <a:ext uri="{FF2B5EF4-FFF2-40B4-BE49-F238E27FC236}">
                <a16:creationId xmlns:a16="http://schemas.microsoft.com/office/drawing/2014/main" id="{35E54284-6A9B-4EE3-8347-57A1092B6A91}"/>
              </a:ext>
            </a:extLst>
          </p:cNvPr>
          <p:cNvSpPr>
            <a:spLocks xmlns:a="http://schemas.openxmlformats.org/drawingml/2006/main" noGrp="1"/>
          </p:cNvSpPr>
          <p:nvPr/>
        </p:nvSpPr>
        <p:spPr>
          <a:xfrm xmlns:a="http://schemas.openxmlformats.org/drawingml/2006/main">
            <a:off x="7953375" y="40481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next negative target</a:t>
            </a:r>
          </a:p>
        </p:txBody>
      </p:sp>
      <p:sp>
        <p:nvSpPr>
          <p:cNvPr id="24" name="">
            <a:extLst xmlns:a="http://schemas.openxmlformats.org/drawingml/2006/main">
              <a:ext uri="{FF2B5EF4-FFF2-40B4-BE49-F238E27FC236}">
                <a16:creationId xmlns:a16="http://schemas.microsoft.com/office/drawing/2014/main" id="{EE4AA4B6-18FC-499F-8FE1-55995AAC54BA}"/>
              </a:ext>
            </a:extLst>
          </p:cNvPr>
          <p:cNvSpPr>
            <a:spLocks xmlns:a="http://schemas.openxmlformats.org/drawingml/2006/main" noGrp="1"/>
          </p:cNvSpPr>
          <p:nvPr/>
        </p:nvSpPr>
        <p:spPr>
          <a:xfrm xmlns:a="http://schemas.openxmlformats.org/drawingml/2006/main">
            <a:off x="7953375" y="4381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scale the pilot</a:t>
            </a:r>
          </a:p>
        </p:txBody>
      </p:sp>
      <p:sp>
        <p:nvSpPr>
          <p:cNvPr id="25" name="">
            <a:extLst xmlns:a="http://schemas.openxmlformats.org/drawingml/2006/main">
              <a:ext uri="{FF2B5EF4-FFF2-40B4-BE49-F238E27FC236}">
                <a16:creationId xmlns:a16="http://schemas.microsoft.com/office/drawing/2014/main" id="{CAB18C66-454F-4A09-B594-5B5A4A95A15F}"/>
              </a:ext>
            </a:extLst>
          </p:cNvPr>
          <p:cNvSpPr>
            <a:spLocks xmlns:a="http://schemas.openxmlformats.org/drawingml/2006/main" noGrp="1"/>
          </p:cNvSpPr>
          <p:nvPr/>
        </p:nvSpPr>
        <p:spPr>
          <a:xfrm xmlns:a="http://schemas.openxmlformats.org/drawingml/2006/main">
            <a:off x="1476375" y="5162550"/>
            <a:ext cx="8858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350" b="0">
                <a:solidFill>
                  <a:srgbClr val="666666"/>
                </a:solidFill>
                <a:latin typeface="Aptos"/>
                <a:ea typeface="Aptos"/>
                <a:cs typeface="Aptos"/>
              </a:defRPr>
            </a:pPr>
            <a:r>
              <a:rPr sz="1350" b="0">
                <a:solidFill>
                  <a:srgbClr val="666666"/>
                </a:solidFill>
                <a:latin typeface="Aptos"/>
                <a:ea typeface="Aptos"/>
                <a:cs typeface="Aptos"/>
              </a:rPr>
              <a:t>Important: “no output” is not yet proof of no semantic similarity; the expanded negative protocol must define that claim.</a:t>
            </a:r>
          </a:p>
        </p:txBody>
      </p:sp>
    </p:spTree>
    <p:extLst>
      <p:ext uri="{BB962C8B-B14F-4D97-AF65-F5344CB8AC3E}">
        <p14:creationId xmlns:p14="http://schemas.microsoft.com/office/powerpoint/2010/main" val="258551416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V2 operational performance — region search dominates</a:t>
            </a:r>
          </a:p>
        </p:txBody>
      </p:sp>
      <p:pic>
        <p:nvPicPr>
          <p:cNvPr id="41" name="Picture 3"/>
          <p:cNvPicPr>
            <a:picLocks xmlns:a="http://schemas.openxmlformats.org/drawingml/2006/main" noChangeAspect="1"/>
          </p:cNvPicPr>
          <p:nvPr/>
        </p:nvPicPr>
        <p:blipFill>
          <a:blip xmlns:r="http://schemas.openxmlformats.org/officeDocument/2006/relationships" xmlns:a="http://schemas.openxmlformats.org/drawingml/2006/main" r:embed="R10326aa715ec4530"/>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FB2175A-FA2C-4CD9-93B2-EE1DD9B8A7E2}"/>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280D96D8-B798-44E4-ABC1-8C95CEF3C749}"/>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Planning data on the current 8 GB host; not a formal benchmark</a:t>
            </a:r>
          </a:p>
        </p:txBody>
      </p:sp>
      <p:sp>
        <p:nvSpPr>
          <p:cNvPr id="9" name="">
            <a:extLst xmlns:a="http://schemas.openxmlformats.org/drawingml/2006/main">
              <a:ext uri="{FF2B5EF4-FFF2-40B4-BE49-F238E27FC236}">
                <a16:creationId xmlns:a16="http://schemas.microsoft.com/office/drawing/2014/main" id="{4FC61499-E703-4C2A-B0DE-BEA944B157D8}"/>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0D01D0D2-BB2D-4575-823D-62645ABB601E}"/>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22 / 24</a:t>
            </a:r>
          </a:p>
        </p:txBody>
      </p:sp>
      <p:sp>
        <p:nvSpPr>
          <p:cNvPr id="11" name="">
            <a:extLst xmlns:a="http://schemas.openxmlformats.org/drawingml/2006/main">
              <a:ext uri="{FF2B5EF4-FFF2-40B4-BE49-F238E27FC236}">
                <a16:creationId xmlns:a16="http://schemas.microsoft.com/office/drawing/2014/main" id="{D994EDAD-DF7F-4B84-B8B4-2340EA10EB13}"/>
              </a:ext>
            </a:extLst>
          </p:cNvPr>
          <p:cNvSpPr>
            <a:spLocks xmlns:a="http://schemas.openxmlformats.org/drawingml/2006/main" noGrp="1"/>
          </p:cNvSpPr>
          <p:nvPr/>
        </p:nvSpPr>
        <p:spPr>
          <a:xfrm xmlns:a="http://schemas.openxmlformats.org/drawingml/2006/main">
            <a:off x="523875" y="1600200"/>
            <a:ext cx="2333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4F2683"/>
                </a:solidFill>
                <a:latin typeface="Aptos Display"/>
                <a:ea typeface="Aptos Display"/>
                <a:cs typeface="Aptos Display"/>
              </a:defRPr>
            </a:pPr>
            <a:r>
              <a:rPr sz="3600" b="1">
                <a:solidFill>
                  <a:srgbClr val="4F2683"/>
                </a:solidFill>
                <a:latin typeface="Aptos Display"/>
                <a:ea typeface="Aptos Display"/>
                <a:cs typeface="Aptos Display"/>
              </a:rPr>
              <a:t>44.2 s</a:t>
            </a:r>
          </a:p>
        </p:txBody>
      </p:sp>
      <p:sp>
        <p:nvSpPr>
          <p:cNvPr id="12" name="">
            <a:extLst xmlns:a="http://schemas.openxmlformats.org/drawingml/2006/main">
              <a:ext uri="{FF2B5EF4-FFF2-40B4-BE49-F238E27FC236}">
                <a16:creationId xmlns:a16="http://schemas.microsoft.com/office/drawing/2014/main" id="{0B3AA6E1-7565-4319-B5DF-51543B89885B}"/>
              </a:ext>
            </a:extLst>
          </p:cNvPr>
          <p:cNvSpPr>
            <a:spLocks xmlns:a="http://schemas.openxmlformats.org/drawingml/2006/main" noGrp="1"/>
          </p:cNvSpPr>
          <p:nvPr/>
        </p:nvSpPr>
        <p:spPr>
          <a:xfrm xmlns:a="http://schemas.openxmlformats.org/drawingml/2006/main">
            <a:off x="523875" y="2266950"/>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median per pair</a:t>
            </a:r>
          </a:p>
        </p:txBody>
      </p:sp>
      <p:sp>
        <p:nvSpPr>
          <p:cNvPr id="13" name="">
            <a:extLst xmlns:a="http://schemas.openxmlformats.org/drawingml/2006/main">
              <a:ext uri="{FF2B5EF4-FFF2-40B4-BE49-F238E27FC236}">
                <a16:creationId xmlns:a16="http://schemas.microsoft.com/office/drawing/2014/main" id="{835AB12D-7708-43E8-8D59-79362DC2FC71}"/>
              </a:ext>
            </a:extLst>
          </p:cNvPr>
          <p:cNvSpPr>
            <a:spLocks xmlns:a="http://schemas.openxmlformats.org/drawingml/2006/main" noGrp="1"/>
          </p:cNvSpPr>
          <p:nvPr/>
        </p:nvSpPr>
        <p:spPr>
          <a:xfrm xmlns:a="http://schemas.openxmlformats.org/drawingml/2006/main">
            <a:off x="523875" y="260032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mean 73.6 s</a:t>
            </a:r>
          </a:p>
        </p:txBody>
      </p:sp>
      <p:sp>
        <p:nvSpPr>
          <p:cNvPr id="14" name="">
            <a:extLst xmlns:a="http://schemas.openxmlformats.org/drawingml/2006/main">
              <a:ext uri="{FF2B5EF4-FFF2-40B4-BE49-F238E27FC236}">
                <a16:creationId xmlns:a16="http://schemas.microsoft.com/office/drawing/2014/main" id="{AADF97A5-CB06-493E-B17E-8D1F497B0488}"/>
              </a:ext>
            </a:extLst>
          </p:cNvPr>
          <p:cNvSpPr>
            <a:spLocks xmlns:a="http://schemas.openxmlformats.org/drawingml/2006/main" noGrp="1"/>
          </p:cNvSpPr>
          <p:nvPr/>
        </p:nvSpPr>
        <p:spPr>
          <a:xfrm xmlns:a="http://schemas.openxmlformats.org/drawingml/2006/main">
            <a:off x="3048000" y="1600200"/>
            <a:ext cx="2333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3600" b="1">
                <a:solidFill>
                  <a:srgbClr val="E4002B"/>
                </a:solidFill>
                <a:latin typeface="Aptos Display"/>
                <a:ea typeface="Aptos Display"/>
                <a:cs typeface="Aptos Display"/>
              </a:defRPr>
            </a:pPr>
            <a:r>
              <a:rPr sz="3600" b="1">
                <a:solidFill>
                  <a:srgbClr val="E4002B"/>
                </a:solidFill>
                <a:latin typeface="Aptos Display"/>
                <a:ea typeface="Aptos Display"/>
                <a:cs typeface="Aptos Display"/>
              </a:rPr>
              <a:t>74.4 s</a:t>
            </a:r>
          </a:p>
        </p:txBody>
      </p:sp>
      <p:sp>
        <p:nvSpPr>
          <p:cNvPr id="15" name="">
            <a:extLst xmlns:a="http://schemas.openxmlformats.org/drawingml/2006/main">
              <a:ext uri="{FF2B5EF4-FFF2-40B4-BE49-F238E27FC236}">
                <a16:creationId xmlns:a16="http://schemas.microsoft.com/office/drawing/2014/main" id="{0E614529-682F-467C-ABD6-3A871F9E193B}"/>
              </a:ext>
            </a:extLst>
          </p:cNvPr>
          <p:cNvSpPr>
            <a:spLocks xmlns:a="http://schemas.openxmlformats.org/drawingml/2006/main" noGrp="1"/>
          </p:cNvSpPr>
          <p:nvPr/>
        </p:nvSpPr>
        <p:spPr>
          <a:xfrm xmlns:a="http://schemas.openxmlformats.org/drawingml/2006/main">
            <a:off x="3048000" y="2266950"/>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425" b="1">
                <a:solidFill>
                  <a:srgbClr val="232323"/>
                </a:solidFill>
                <a:latin typeface="Aptos"/>
                <a:ea typeface="Aptos"/>
                <a:cs typeface="Aptos"/>
              </a:defRPr>
            </a:pPr>
            <a:r>
              <a:rPr sz="1425" b="1">
                <a:solidFill>
                  <a:srgbClr val="232323"/>
                </a:solidFill>
                <a:latin typeface="Aptos"/>
                <a:ea typeface="Aptos"/>
                <a:cs typeface="Aptos"/>
              </a:rPr>
              <a:t>P90 per pair</a:t>
            </a:r>
          </a:p>
        </p:txBody>
      </p:sp>
      <p:sp>
        <p:nvSpPr>
          <p:cNvPr id="16" name="">
            <a:extLst xmlns:a="http://schemas.openxmlformats.org/drawingml/2006/main">
              <a:ext uri="{FF2B5EF4-FFF2-40B4-BE49-F238E27FC236}">
                <a16:creationId xmlns:a16="http://schemas.microsoft.com/office/drawing/2014/main" id="{22083D11-77C7-4F52-B77A-291C2E377EFB}"/>
              </a:ext>
            </a:extLst>
          </p:cNvPr>
          <p:cNvSpPr>
            <a:spLocks xmlns:a="http://schemas.openxmlformats.org/drawingml/2006/main" noGrp="1"/>
          </p:cNvSpPr>
          <p:nvPr/>
        </p:nvSpPr>
        <p:spPr>
          <a:xfrm xmlns:a="http://schemas.openxmlformats.org/drawingml/2006/main">
            <a:off x="3048000" y="260032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125" b="0">
                <a:solidFill>
                  <a:srgbClr val="666666"/>
                </a:solidFill>
                <a:latin typeface="Aptos"/>
                <a:ea typeface="Aptos"/>
                <a:cs typeface="Aptos"/>
              </a:defRPr>
            </a:pPr>
            <a:r>
              <a:rPr sz="1125" b="0">
                <a:solidFill>
                  <a:srgbClr val="666666"/>
                </a:solidFill>
                <a:latin typeface="Aptos"/>
                <a:ea typeface="Aptos"/>
                <a:cs typeface="Aptos"/>
              </a:rPr>
              <a:t>long-tail planning metric</a:t>
            </a:r>
          </a:p>
        </p:txBody>
      </p:sp>
      <p:sp>
        <p:nvSpPr>
          <p:cNvPr id="17" name="">
            <a:extLst xmlns:a="http://schemas.openxmlformats.org/drawingml/2006/main">
              <a:ext uri="{FF2B5EF4-FFF2-40B4-BE49-F238E27FC236}">
                <a16:creationId xmlns:a16="http://schemas.microsoft.com/office/drawing/2014/main" id="{99A96CD5-9B69-475F-9C71-2AC988D9C976}"/>
              </a:ext>
            </a:extLst>
          </p:cNvPr>
          <p:cNvSpPr>
            <a:spLocks xmlns:a="http://schemas.openxmlformats.org/drawingml/2006/main" noGrp="1"/>
          </p:cNvSpPr>
          <p:nvPr/>
        </p:nvSpPr>
        <p:spPr>
          <a:xfrm xmlns:a="http://schemas.openxmlformats.org/drawingml/2006/main">
            <a:off x="5953125" y="1619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4F2683"/>
                </a:solidFill>
                <a:latin typeface="Aptos"/>
                <a:ea typeface="Aptos"/>
                <a:cs typeface="Aptos"/>
              </a:defRPr>
            </a:pPr>
            <a:r>
              <a:rPr sz="1350" b="1">
                <a:solidFill>
                  <a:srgbClr val="4F2683"/>
                </a:solidFill>
                <a:latin typeface="Aptos"/>
                <a:ea typeface="Aptos"/>
                <a:cs typeface="Aptos"/>
              </a:rPr>
              <a:t>Median stage time</a:t>
            </a:r>
          </a:p>
        </p:txBody>
      </p:sp>
      <p:sp>
        <p:nvSpPr>
          <p:cNvPr id="18" name="">
            <a:extLst xmlns:a="http://schemas.openxmlformats.org/drawingml/2006/main">
              <a:ext uri="{FF2B5EF4-FFF2-40B4-BE49-F238E27FC236}">
                <a16:creationId xmlns:a16="http://schemas.microsoft.com/office/drawing/2014/main" id="{285FAEFF-F5BA-455B-96C2-9F7B1BDBEBD1}"/>
              </a:ext>
            </a:extLst>
          </p:cNvPr>
          <p:cNvSpPr>
            <a:spLocks xmlns:a="http://schemas.openxmlformats.org/drawingml/2006/main" noGrp="1"/>
          </p:cNvSpPr>
          <p:nvPr/>
        </p:nvSpPr>
        <p:spPr>
          <a:xfrm xmlns:a="http://schemas.openxmlformats.org/drawingml/2006/main">
            <a:off x="5953125" y="2066925"/>
            <a:ext cx="1381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Compile</a:t>
            </a:r>
          </a:p>
        </p:txBody>
      </p:sp>
      <p:sp>
        <p:nvSpPr>
          <p:cNvPr id="19" name="">
            <a:extLst xmlns:a="http://schemas.openxmlformats.org/drawingml/2006/main">
              <a:ext uri="{FF2B5EF4-FFF2-40B4-BE49-F238E27FC236}">
                <a16:creationId xmlns:a16="http://schemas.microsoft.com/office/drawing/2014/main" id="{D2FB7FA4-5001-4B65-99D6-4A2139E79007}"/>
              </a:ext>
            </a:extLst>
          </p:cNvPr>
          <p:cNvSpPr>
            <a:spLocks xmlns:a="http://schemas.openxmlformats.org/drawingml/2006/main" noGrp="1"/>
          </p:cNvSpPr>
          <p:nvPr/>
        </p:nvSpPr>
        <p:spPr>
          <a:xfrm xmlns:a="http://schemas.openxmlformats.org/drawingml/2006/main">
            <a:off x="7477125" y="2085975"/>
            <a:ext cx="3143250" cy="2190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D94E4BA-8A69-4980-9AE2-2F71F9D035C9}"/>
              </a:ext>
            </a:extLst>
          </p:cNvPr>
          <p:cNvSpPr>
            <a:spLocks xmlns:a="http://schemas.openxmlformats.org/drawingml/2006/main" noGrp="1"/>
          </p:cNvSpPr>
          <p:nvPr/>
        </p:nvSpPr>
        <p:spPr>
          <a:xfrm xmlns:a="http://schemas.openxmlformats.org/drawingml/2006/main">
            <a:off x="7477125" y="2085975"/>
            <a:ext cx="19050" cy="21907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33606CD-4C69-4E63-A89D-C76E69A1E845}"/>
              </a:ext>
            </a:extLst>
          </p:cNvPr>
          <p:cNvSpPr>
            <a:spLocks xmlns:a="http://schemas.openxmlformats.org/drawingml/2006/main" noGrp="1"/>
          </p:cNvSpPr>
          <p:nvPr/>
        </p:nvSpPr>
        <p:spPr>
          <a:xfrm xmlns:a="http://schemas.openxmlformats.org/drawingml/2006/main">
            <a:off x="10734675" y="2047875"/>
            <a:ext cx="114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1">
                <a:solidFill>
                  <a:srgbClr val="4F2683"/>
                </a:solidFill>
                <a:latin typeface="Aptos"/>
                <a:ea typeface="Aptos"/>
                <a:cs typeface="Aptos"/>
              </a:defRPr>
            </a:pPr>
            <a:r>
              <a:rPr sz="1275" b="1">
                <a:solidFill>
                  <a:srgbClr val="4F2683"/>
                </a:solidFill>
                <a:latin typeface="Aptos"/>
                <a:ea typeface="Aptos"/>
                <a:cs typeface="Aptos"/>
              </a:rPr>
              <a:t>0.1 s</a:t>
            </a:r>
          </a:p>
        </p:txBody>
      </p:sp>
      <p:sp>
        <p:nvSpPr>
          <p:cNvPr id="22" name="">
            <a:extLst xmlns:a="http://schemas.openxmlformats.org/drawingml/2006/main">
              <a:ext uri="{FF2B5EF4-FFF2-40B4-BE49-F238E27FC236}">
                <a16:creationId xmlns:a16="http://schemas.microsoft.com/office/drawing/2014/main" id="{ECD73A90-C217-4512-90F2-7F25EFE2BB22}"/>
              </a:ext>
            </a:extLst>
          </p:cNvPr>
          <p:cNvSpPr>
            <a:spLocks xmlns:a="http://schemas.openxmlformats.org/drawingml/2006/main" noGrp="1"/>
          </p:cNvSpPr>
          <p:nvPr/>
        </p:nvSpPr>
        <p:spPr>
          <a:xfrm xmlns:a="http://schemas.openxmlformats.org/drawingml/2006/main">
            <a:off x="5953125" y="2600325"/>
            <a:ext cx="1381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Graph</a:t>
            </a:r>
          </a:p>
        </p:txBody>
      </p:sp>
      <p:sp>
        <p:nvSpPr>
          <p:cNvPr id="23" name="">
            <a:extLst xmlns:a="http://schemas.openxmlformats.org/drawingml/2006/main">
              <a:ext uri="{FF2B5EF4-FFF2-40B4-BE49-F238E27FC236}">
                <a16:creationId xmlns:a16="http://schemas.microsoft.com/office/drawing/2014/main" id="{4FD921AF-6528-4454-A1F2-0417D513D85D}"/>
              </a:ext>
            </a:extLst>
          </p:cNvPr>
          <p:cNvSpPr>
            <a:spLocks xmlns:a="http://schemas.openxmlformats.org/drawingml/2006/main" noGrp="1"/>
          </p:cNvSpPr>
          <p:nvPr/>
        </p:nvSpPr>
        <p:spPr>
          <a:xfrm xmlns:a="http://schemas.openxmlformats.org/drawingml/2006/main">
            <a:off x="7477125" y="2619375"/>
            <a:ext cx="3143250" cy="2190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821B779-7C38-404A-816A-B67480C2B820}"/>
              </a:ext>
            </a:extLst>
          </p:cNvPr>
          <p:cNvSpPr>
            <a:spLocks xmlns:a="http://schemas.openxmlformats.org/drawingml/2006/main" noGrp="1"/>
          </p:cNvSpPr>
          <p:nvPr/>
        </p:nvSpPr>
        <p:spPr>
          <a:xfrm xmlns:a="http://schemas.openxmlformats.org/drawingml/2006/main">
            <a:off x="7477125" y="2619375"/>
            <a:ext cx="196453" cy="21907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123B33D-7CD7-4ED2-8A21-58FCB3074A91}"/>
              </a:ext>
            </a:extLst>
          </p:cNvPr>
          <p:cNvSpPr>
            <a:spLocks xmlns:a="http://schemas.openxmlformats.org/drawingml/2006/main" noGrp="1"/>
          </p:cNvSpPr>
          <p:nvPr/>
        </p:nvSpPr>
        <p:spPr>
          <a:xfrm xmlns:a="http://schemas.openxmlformats.org/drawingml/2006/main">
            <a:off x="10734675" y="2581275"/>
            <a:ext cx="114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1">
                <a:solidFill>
                  <a:srgbClr val="4F2683"/>
                </a:solidFill>
                <a:latin typeface="Aptos"/>
                <a:ea typeface="Aptos"/>
                <a:cs typeface="Aptos"/>
              </a:defRPr>
            </a:pPr>
            <a:r>
              <a:rPr sz="1275" b="1">
                <a:solidFill>
                  <a:srgbClr val="4F2683"/>
                </a:solidFill>
                <a:latin typeface="Aptos"/>
                <a:ea typeface="Aptos"/>
                <a:cs typeface="Aptos"/>
              </a:rPr>
              <a:t>2.5 s</a:t>
            </a:r>
          </a:p>
        </p:txBody>
      </p:sp>
      <p:sp>
        <p:nvSpPr>
          <p:cNvPr id="26" name="">
            <a:extLst xmlns:a="http://schemas.openxmlformats.org/drawingml/2006/main">
              <a:ext uri="{FF2B5EF4-FFF2-40B4-BE49-F238E27FC236}">
                <a16:creationId xmlns:a16="http://schemas.microsoft.com/office/drawing/2014/main" id="{E591B520-EF4B-4360-A42C-878455F75FDA}"/>
              </a:ext>
            </a:extLst>
          </p:cNvPr>
          <p:cNvSpPr>
            <a:spLocks xmlns:a="http://schemas.openxmlformats.org/drawingml/2006/main" noGrp="1"/>
          </p:cNvSpPr>
          <p:nvPr/>
        </p:nvSpPr>
        <p:spPr>
          <a:xfrm xmlns:a="http://schemas.openxmlformats.org/drawingml/2006/main">
            <a:off x="5953125" y="3133725"/>
            <a:ext cx="1381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SMT</a:t>
            </a:r>
          </a:p>
        </p:txBody>
      </p:sp>
      <p:sp>
        <p:nvSpPr>
          <p:cNvPr id="27" name="">
            <a:extLst xmlns:a="http://schemas.openxmlformats.org/drawingml/2006/main">
              <a:ext uri="{FF2B5EF4-FFF2-40B4-BE49-F238E27FC236}">
                <a16:creationId xmlns:a16="http://schemas.microsoft.com/office/drawing/2014/main" id="{7F0D87AE-A99A-4FE2-BDE6-54F2021D4ECC}"/>
              </a:ext>
            </a:extLst>
          </p:cNvPr>
          <p:cNvSpPr>
            <a:spLocks xmlns:a="http://schemas.openxmlformats.org/drawingml/2006/main" noGrp="1"/>
          </p:cNvSpPr>
          <p:nvPr/>
        </p:nvSpPr>
        <p:spPr>
          <a:xfrm xmlns:a="http://schemas.openxmlformats.org/drawingml/2006/main">
            <a:off x="7477125" y="3152775"/>
            <a:ext cx="3143250" cy="2190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C5FE127-E995-4CC5-8884-088E8965369E}"/>
              </a:ext>
            </a:extLst>
          </p:cNvPr>
          <p:cNvSpPr>
            <a:spLocks xmlns:a="http://schemas.openxmlformats.org/drawingml/2006/main" noGrp="1"/>
          </p:cNvSpPr>
          <p:nvPr/>
        </p:nvSpPr>
        <p:spPr>
          <a:xfrm xmlns:a="http://schemas.openxmlformats.org/drawingml/2006/main">
            <a:off x="7477125" y="3152775"/>
            <a:ext cx="251460" cy="21907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4F426CE-1531-474E-9A9A-1B5D566834DD}"/>
              </a:ext>
            </a:extLst>
          </p:cNvPr>
          <p:cNvSpPr>
            <a:spLocks xmlns:a="http://schemas.openxmlformats.org/drawingml/2006/main" noGrp="1"/>
          </p:cNvSpPr>
          <p:nvPr/>
        </p:nvSpPr>
        <p:spPr>
          <a:xfrm xmlns:a="http://schemas.openxmlformats.org/drawingml/2006/main">
            <a:off x="10734675" y="3114675"/>
            <a:ext cx="114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1">
                <a:solidFill>
                  <a:srgbClr val="4F2683"/>
                </a:solidFill>
                <a:latin typeface="Aptos"/>
                <a:ea typeface="Aptos"/>
                <a:cs typeface="Aptos"/>
              </a:defRPr>
            </a:pPr>
            <a:r>
              <a:rPr sz="1275" b="1">
                <a:solidFill>
                  <a:srgbClr val="4F2683"/>
                </a:solidFill>
                <a:latin typeface="Aptos"/>
                <a:ea typeface="Aptos"/>
                <a:cs typeface="Aptos"/>
              </a:rPr>
              <a:t>3.2 s</a:t>
            </a:r>
          </a:p>
        </p:txBody>
      </p:sp>
      <p:sp>
        <p:nvSpPr>
          <p:cNvPr id="30" name="">
            <a:extLst xmlns:a="http://schemas.openxmlformats.org/drawingml/2006/main">
              <a:ext uri="{FF2B5EF4-FFF2-40B4-BE49-F238E27FC236}">
                <a16:creationId xmlns:a16="http://schemas.microsoft.com/office/drawing/2014/main" id="{5A75AD7F-BFC4-48DE-8F15-30F0964E8363}"/>
              </a:ext>
            </a:extLst>
          </p:cNvPr>
          <p:cNvSpPr>
            <a:spLocks xmlns:a="http://schemas.openxmlformats.org/drawingml/2006/main" noGrp="1"/>
          </p:cNvSpPr>
          <p:nvPr/>
        </p:nvSpPr>
        <p:spPr>
          <a:xfrm xmlns:a="http://schemas.openxmlformats.org/drawingml/2006/main">
            <a:off x="5953125" y="3667125"/>
            <a:ext cx="1381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Regions</a:t>
            </a:r>
          </a:p>
        </p:txBody>
      </p:sp>
      <p:sp>
        <p:nvSpPr>
          <p:cNvPr id="31" name="">
            <a:extLst xmlns:a="http://schemas.openxmlformats.org/drawingml/2006/main">
              <a:ext uri="{FF2B5EF4-FFF2-40B4-BE49-F238E27FC236}">
                <a16:creationId xmlns:a16="http://schemas.microsoft.com/office/drawing/2014/main" id="{F40274C3-25D7-4280-AFB3-03766EC4747B}"/>
              </a:ext>
            </a:extLst>
          </p:cNvPr>
          <p:cNvSpPr>
            <a:spLocks xmlns:a="http://schemas.openxmlformats.org/drawingml/2006/main" noGrp="1"/>
          </p:cNvSpPr>
          <p:nvPr/>
        </p:nvSpPr>
        <p:spPr>
          <a:xfrm xmlns:a="http://schemas.openxmlformats.org/drawingml/2006/main">
            <a:off x="7477125" y="3686175"/>
            <a:ext cx="3143250" cy="2190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9FACBFB-E0D9-446F-922A-71C25FC0AF8E}"/>
              </a:ext>
            </a:extLst>
          </p:cNvPr>
          <p:cNvSpPr>
            <a:spLocks xmlns:a="http://schemas.openxmlformats.org/drawingml/2006/main" noGrp="1"/>
          </p:cNvSpPr>
          <p:nvPr/>
        </p:nvSpPr>
        <p:spPr>
          <a:xfrm xmlns:a="http://schemas.openxmlformats.org/drawingml/2006/main">
            <a:off x="7477125" y="3686175"/>
            <a:ext cx="2993946" cy="21907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C5C80FE-12F4-4954-9133-6931048A1A6D}"/>
              </a:ext>
            </a:extLst>
          </p:cNvPr>
          <p:cNvSpPr>
            <a:spLocks xmlns:a="http://schemas.openxmlformats.org/drawingml/2006/main" noGrp="1"/>
          </p:cNvSpPr>
          <p:nvPr/>
        </p:nvSpPr>
        <p:spPr>
          <a:xfrm xmlns:a="http://schemas.openxmlformats.org/drawingml/2006/main">
            <a:off x="10734675" y="3648075"/>
            <a:ext cx="114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1">
                <a:solidFill>
                  <a:srgbClr val="E4002B"/>
                </a:solidFill>
                <a:latin typeface="Aptos"/>
                <a:ea typeface="Aptos"/>
                <a:cs typeface="Aptos"/>
              </a:defRPr>
            </a:pPr>
            <a:r>
              <a:rPr sz="1275" b="1">
                <a:solidFill>
                  <a:srgbClr val="E4002B"/>
                </a:solidFill>
                <a:latin typeface="Aptos"/>
                <a:ea typeface="Aptos"/>
                <a:cs typeface="Aptos"/>
              </a:rPr>
              <a:t>38.1 s</a:t>
            </a:r>
          </a:p>
        </p:txBody>
      </p:sp>
      <p:sp>
        <p:nvSpPr>
          <p:cNvPr id="34" name="">
            <a:extLst xmlns:a="http://schemas.openxmlformats.org/drawingml/2006/main">
              <a:ext uri="{FF2B5EF4-FFF2-40B4-BE49-F238E27FC236}">
                <a16:creationId xmlns:a16="http://schemas.microsoft.com/office/drawing/2014/main" id="{BF97D414-5EF3-4D44-B5EB-CDC1933D8030}"/>
              </a:ext>
            </a:extLst>
          </p:cNvPr>
          <p:cNvSpPr>
            <a:spLocks xmlns:a="http://schemas.openxmlformats.org/drawingml/2006/main" noGrp="1"/>
          </p:cNvSpPr>
          <p:nvPr/>
        </p:nvSpPr>
        <p:spPr>
          <a:xfrm xmlns:a="http://schemas.openxmlformats.org/drawingml/2006/main">
            <a:off x="5953125" y="4200525"/>
            <a:ext cx="1381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0">
                <a:solidFill>
                  <a:srgbClr val="232323"/>
                </a:solidFill>
                <a:latin typeface="Aptos"/>
                <a:ea typeface="Aptos"/>
                <a:cs typeface="Aptos"/>
              </a:defRPr>
            </a:pPr>
            <a:r>
              <a:rPr sz="1275" b="0">
                <a:solidFill>
                  <a:srgbClr val="232323"/>
                </a:solidFill>
                <a:latin typeface="Aptos"/>
                <a:ea typeface="Aptos"/>
                <a:cs typeface="Aptos"/>
              </a:rPr>
              <a:t>Classify</a:t>
            </a:r>
          </a:p>
        </p:txBody>
      </p:sp>
      <p:sp>
        <p:nvSpPr>
          <p:cNvPr id="35" name="">
            <a:extLst xmlns:a="http://schemas.openxmlformats.org/drawingml/2006/main">
              <a:ext uri="{FF2B5EF4-FFF2-40B4-BE49-F238E27FC236}">
                <a16:creationId xmlns:a16="http://schemas.microsoft.com/office/drawing/2014/main" id="{9049B0B9-E81B-4242-B8BC-327A7DC9B82A}"/>
              </a:ext>
            </a:extLst>
          </p:cNvPr>
          <p:cNvSpPr>
            <a:spLocks xmlns:a="http://schemas.openxmlformats.org/drawingml/2006/main" noGrp="1"/>
          </p:cNvSpPr>
          <p:nvPr/>
        </p:nvSpPr>
        <p:spPr>
          <a:xfrm xmlns:a="http://schemas.openxmlformats.org/drawingml/2006/main">
            <a:off x="7477125" y="4219575"/>
            <a:ext cx="3143250" cy="219075"/>
          </a:xfrm>
          <a:prstGeom xmlns:a="http://schemas.openxmlformats.org/drawingml/2006/main" prst="rect">
            <a:avLst/>
          </a:prstGeom>
          <a:solidFill xmlns:a="http://schemas.openxmlformats.org/drawingml/2006/main">
            <a:srgbClr val="E7E6E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B7EAFDA-C1CF-4F77-8791-B516B95F43C4}"/>
              </a:ext>
            </a:extLst>
          </p:cNvPr>
          <p:cNvSpPr>
            <a:spLocks xmlns:a="http://schemas.openxmlformats.org/drawingml/2006/main" noGrp="1"/>
          </p:cNvSpPr>
          <p:nvPr/>
        </p:nvSpPr>
        <p:spPr>
          <a:xfrm xmlns:a="http://schemas.openxmlformats.org/drawingml/2006/main">
            <a:off x="7477125" y="4219575"/>
            <a:ext cx="19050" cy="219075"/>
          </a:xfrm>
          <a:prstGeom xmlns:a="http://schemas.openxmlformats.org/drawingml/2006/main" prst="rect">
            <a:avLst/>
          </a:prstGeom>
          <a:solidFill xmlns:a="http://schemas.openxmlformats.org/drawingml/2006/main">
            <a:srgbClr val="4F268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CCC5F15-EB24-40FF-8017-B72052A3696A}"/>
              </a:ext>
            </a:extLst>
          </p:cNvPr>
          <p:cNvSpPr>
            <a:spLocks xmlns:a="http://schemas.openxmlformats.org/drawingml/2006/main" noGrp="1"/>
          </p:cNvSpPr>
          <p:nvPr/>
        </p:nvSpPr>
        <p:spPr>
          <a:xfrm xmlns:a="http://schemas.openxmlformats.org/drawingml/2006/main">
            <a:off x="10734675" y="4181475"/>
            <a:ext cx="114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1">
                <a:solidFill>
                  <a:srgbClr val="4F2683"/>
                </a:solidFill>
                <a:latin typeface="Aptos"/>
                <a:ea typeface="Aptos"/>
                <a:cs typeface="Aptos"/>
              </a:defRPr>
            </a:pPr>
            <a:r>
              <a:rPr sz="1275" b="1">
                <a:solidFill>
                  <a:srgbClr val="4F2683"/>
                </a:solidFill>
                <a:latin typeface="Aptos"/>
                <a:ea typeface="Aptos"/>
                <a:cs typeface="Aptos"/>
              </a:rPr>
              <a:t>0.1 s</a:t>
            </a:r>
          </a:p>
        </p:txBody>
      </p:sp>
      <p:sp>
        <p:nvSpPr>
          <p:cNvPr id="38" name="">
            <a:extLst xmlns:a="http://schemas.openxmlformats.org/drawingml/2006/main">
              <a:ext uri="{FF2B5EF4-FFF2-40B4-BE49-F238E27FC236}">
                <a16:creationId xmlns:a16="http://schemas.microsoft.com/office/drawing/2014/main" id="{194A7C1F-8A86-44A7-9619-48F120A0E803}"/>
              </a:ext>
            </a:extLst>
          </p:cNvPr>
          <p:cNvSpPr>
            <a:spLocks xmlns:a="http://schemas.openxmlformats.org/drawingml/2006/main" noGrp="1"/>
          </p:cNvSpPr>
          <p:nvPr/>
        </p:nvSpPr>
        <p:spPr>
          <a:xfrm xmlns:a="http://schemas.openxmlformats.org/drawingml/2006/main">
            <a:off x="762000" y="3762375"/>
            <a:ext cx="423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650" b="1">
                <a:solidFill>
                  <a:srgbClr val="232323"/>
                </a:solidFill>
                <a:latin typeface="Aptos"/>
                <a:ea typeface="Aptos"/>
                <a:cs typeface="Aptos"/>
              </a:defRPr>
            </a:pPr>
            <a:r>
              <a:rPr sz="1650" b="1">
                <a:solidFill>
                  <a:srgbClr val="232323"/>
                </a:solidFill>
                <a:latin typeface="Aptos"/>
                <a:ea typeface="Aptos"/>
                <a:cs typeface="Aptos"/>
              </a:rPr>
              <a:t>2 workers × ~1.6 GB each</a:t>
            </a:r>
          </a:p>
        </p:txBody>
      </p:sp>
      <p:sp>
        <p:nvSpPr>
          <p:cNvPr id="39" name="">
            <a:extLst xmlns:a="http://schemas.openxmlformats.org/drawingml/2006/main">
              <a:ext uri="{FF2B5EF4-FFF2-40B4-BE49-F238E27FC236}">
                <a16:creationId xmlns:a16="http://schemas.microsoft.com/office/drawing/2014/main" id="{0EDD8B5B-A70F-4A98-9BBF-4ADB2991AE46}"/>
              </a:ext>
            </a:extLst>
          </p:cNvPr>
          <p:cNvSpPr>
            <a:spLocks xmlns:a="http://schemas.openxmlformats.org/drawingml/2006/main" noGrp="1"/>
          </p:cNvSpPr>
          <p:nvPr/>
        </p:nvSpPr>
        <p:spPr>
          <a:xfrm xmlns:a="http://schemas.openxmlformats.org/drawingml/2006/main">
            <a:off x="762000" y="4276725"/>
            <a:ext cx="423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350" b="0">
                <a:solidFill>
                  <a:srgbClr val="666666"/>
                </a:solidFill>
                <a:latin typeface="Aptos"/>
                <a:ea typeface="Aptos"/>
                <a:cs typeface="Aptos"/>
              </a:defRPr>
            </a:pPr>
            <a:r>
              <a:rPr sz="1350" b="0">
                <a:solidFill>
                  <a:srgbClr val="666666"/>
                </a:solidFill>
                <a:latin typeface="Aptos"/>
                <a:ea typeface="Aptos"/>
                <a:cs typeface="Aptos"/>
              </a:rPr>
              <a:t>Batch 2/4 slowed under contention. Use this to plan capacity, not to claim detector speed.</a:t>
            </a:r>
          </a:p>
        </p:txBody>
      </p:sp>
    </p:spTree>
    <p:extLst>
      <p:ext uri="{BB962C8B-B14F-4D97-AF65-F5344CB8AC3E}">
        <p14:creationId xmlns:p14="http://schemas.microsoft.com/office/powerpoint/2010/main" val="258551416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What is solved — and what still limits the claims?</a:t>
            </a:r>
          </a:p>
        </p:txBody>
      </p:sp>
      <p:pic>
        <p:nvPicPr>
          <p:cNvPr id="35" name="Picture 3"/>
          <p:cNvPicPr>
            <a:picLocks xmlns:a="http://schemas.openxmlformats.org/drawingml/2006/main" noChangeAspect="1"/>
          </p:cNvPicPr>
          <p:nvPr/>
        </p:nvPicPr>
        <p:blipFill>
          <a:blip xmlns:r="http://schemas.openxmlformats.org/officeDocument/2006/relationships" xmlns:a="http://schemas.openxmlformats.org/drawingml/2006/main" r:embed="R8ba8515c6f35486a"/>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295E620-E38D-41E6-BBAB-18AA085238D9}"/>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4AB0"/>
                </a:solidFill>
                <a:latin typeface="Aptos"/>
                <a:ea typeface="Aptos"/>
                <a:cs typeface="Aptos"/>
              </a:defRPr>
            </a:pPr>
            <a:r>
              <a:rPr sz="1050" b="1">
                <a:solidFill>
                  <a:srgbClr val="7A4AB0"/>
                </a:solidFill>
                <a:latin typeface="Aptos"/>
                <a:ea typeface="Aptos"/>
                <a:cs typeface="Aptos"/>
              </a:rPr>
              <a:t>V2: VALID MUTATIONS</a:t>
            </a:r>
          </a:p>
        </p:txBody>
      </p:sp>
      <p:sp>
        <p:nvSpPr>
          <p:cNvPr id="8" name="">
            <a:extLst xmlns:a="http://schemas.openxmlformats.org/drawingml/2006/main">
              <a:ext uri="{FF2B5EF4-FFF2-40B4-BE49-F238E27FC236}">
                <a16:creationId xmlns:a16="http://schemas.microsoft.com/office/drawing/2014/main" id="{C4AFFB97-D9AD-470B-A06A-E0FC0CD1E2AF}"/>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The test is valid; interpretation and coverage still need work</a:t>
            </a:r>
          </a:p>
        </p:txBody>
      </p:sp>
      <p:sp>
        <p:nvSpPr>
          <p:cNvPr id="9" name="">
            <a:extLst xmlns:a="http://schemas.openxmlformats.org/drawingml/2006/main">
              <a:ext uri="{FF2B5EF4-FFF2-40B4-BE49-F238E27FC236}">
                <a16:creationId xmlns:a16="http://schemas.microsoft.com/office/drawing/2014/main" id="{DBA2F569-31F7-4DC9-9E75-F942380C082F}"/>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0AECCD53-D6FB-4047-B1F2-B9FA010E3DA1}"/>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23 / 24</a:t>
            </a:r>
          </a:p>
        </p:txBody>
      </p:sp>
      <p:sp>
        <p:nvSpPr>
          <p:cNvPr id="11" name="">
            <a:extLst xmlns:a="http://schemas.openxmlformats.org/drawingml/2006/main">
              <a:ext uri="{FF2B5EF4-FFF2-40B4-BE49-F238E27FC236}">
                <a16:creationId xmlns:a16="http://schemas.microsoft.com/office/drawing/2014/main" id="{34EEFDE3-F199-48BB-81E4-2331D1EB7D6F}"/>
              </a:ext>
            </a:extLst>
          </p:cNvPr>
          <p:cNvSpPr>
            <a:spLocks xmlns:a="http://schemas.openxmlformats.org/drawingml/2006/main" noGrp="1"/>
          </p:cNvSpPr>
          <p:nvPr/>
        </p:nvSpPr>
        <p:spPr>
          <a:xfrm xmlns:a="http://schemas.openxmlformats.org/drawingml/2006/main">
            <a:off x="1285875" y="16954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75" b="1">
                <a:solidFill>
                  <a:srgbClr val="7AC943"/>
                </a:solidFill>
                <a:latin typeface="Aptos"/>
                <a:ea typeface="Aptos"/>
                <a:cs typeface="Aptos"/>
              </a:defRPr>
            </a:pPr>
            <a:r>
              <a:rPr sz="1875" b="1">
                <a:solidFill>
                  <a:srgbClr val="7AC943"/>
                </a:solidFill>
                <a:latin typeface="Aptos"/>
                <a:ea typeface="Aptos"/>
                <a:cs typeface="Aptos"/>
              </a:rPr>
              <a:t>SOLVED</a:t>
            </a:r>
          </a:p>
        </p:txBody>
      </p:sp>
      <p:sp>
        <p:nvSpPr>
          <p:cNvPr id="12" name="">
            <a:extLst xmlns:a="http://schemas.openxmlformats.org/drawingml/2006/main">
              <a:ext uri="{FF2B5EF4-FFF2-40B4-BE49-F238E27FC236}">
                <a16:creationId xmlns:a16="http://schemas.microsoft.com/office/drawing/2014/main" id="{26FAF9C2-F292-452A-9E36-D36EC9FD2668}"/>
              </a:ext>
            </a:extLst>
          </p:cNvPr>
          <p:cNvSpPr>
            <a:spLocks xmlns:a="http://schemas.openxmlformats.org/drawingml/2006/main" noGrp="1"/>
          </p:cNvSpPr>
          <p:nvPr/>
        </p:nvSpPr>
        <p:spPr>
          <a:xfrm xmlns:a="http://schemas.openxmlformats.org/drawingml/2006/main">
            <a:off x="7000875" y="16954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75" b="1">
                <a:solidFill>
                  <a:srgbClr val="E4002B"/>
                </a:solidFill>
                <a:latin typeface="Aptos"/>
                <a:ea typeface="Aptos"/>
                <a:cs typeface="Aptos"/>
              </a:defRPr>
            </a:pPr>
            <a:r>
              <a:rPr sz="1875" b="1">
                <a:solidFill>
                  <a:srgbClr val="E4002B"/>
                </a:solidFill>
                <a:latin typeface="Aptos"/>
                <a:ea typeface="Aptos"/>
                <a:cs typeface="Aptos"/>
              </a:rPr>
              <a:t>OPEN</a:t>
            </a:r>
          </a:p>
        </p:txBody>
      </p:sp>
      <p:sp>
        <p:nvSpPr>
          <p:cNvPr id="13" name="">
            <a:extLst xmlns:a="http://schemas.openxmlformats.org/drawingml/2006/main">
              <a:ext uri="{FF2B5EF4-FFF2-40B4-BE49-F238E27FC236}">
                <a16:creationId xmlns:a16="http://schemas.microsoft.com/office/drawing/2014/main" id="{2005BAF6-C56B-46B5-AFC6-212F5DEF035C}"/>
              </a:ext>
            </a:extLst>
          </p:cNvPr>
          <p:cNvSpPr>
            <a:spLocks xmlns:a="http://schemas.openxmlformats.org/drawingml/2006/main" noGrp="1"/>
          </p:cNvSpPr>
          <p:nvPr/>
        </p:nvSpPr>
        <p:spPr>
          <a:xfrm xmlns:a="http://schemas.openxmlformats.org/drawingml/2006/main">
            <a:off x="5953125" y="1666875"/>
            <a:ext cx="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4" name="">
            <a:extLst xmlns:a="http://schemas.openxmlformats.org/drawingml/2006/main">
              <a:ext uri="{FF2B5EF4-FFF2-40B4-BE49-F238E27FC236}">
                <a16:creationId xmlns:a16="http://schemas.microsoft.com/office/drawing/2014/main" id="{D5388B17-5C46-4C70-952C-0539C712204D}"/>
              </a:ext>
            </a:extLst>
          </p:cNvPr>
          <p:cNvSpPr>
            <a:spLocks xmlns:a="http://schemas.openxmlformats.org/drawingml/2006/main" noGrp="1"/>
          </p:cNvSpPr>
          <p:nvPr/>
        </p:nvSpPr>
        <p:spPr>
          <a:xfrm xmlns:a="http://schemas.openxmlformats.org/drawingml/2006/main">
            <a:off x="904875" y="23526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7AC943"/>
                </a:solidFill>
                <a:latin typeface="Aptos"/>
                <a:ea typeface="Aptos"/>
                <a:cs typeface="Aptos"/>
              </a:defRPr>
            </a:pPr>
            <a:r>
              <a:rPr sz="1800" b="1">
                <a:solidFill>
                  <a:srgbClr val="7AC943"/>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A1CA4E18-5F1F-40ED-9FD4-10931206DCD3}"/>
              </a:ext>
            </a:extLst>
          </p:cNvPr>
          <p:cNvSpPr>
            <a:spLocks xmlns:a="http://schemas.openxmlformats.org/drawingml/2006/main" noGrp="1"/>
          </p:cNvSpPr>
          <p:nvPr/>
        </p:nvSpPr>
        <p:spPr>
          <a:xfrm xmlns:a="http://schemas.openxmlformats.org/drawingml/2006/main">
            <a:off x="1381125" y="2352675"/>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Every admitted pair compiles</a:t>
            </a:r>
          </a:p>
        </p:txBody>
      </p:sp>
      <p:sp>
        <p:nvSpPr>
          <p:cNvPr id="16" name="">
            <a:extLst xmlns:a="http://schemas.openxmlformats.org/drawingml/2006/main">
              <a:ext uri="{FF2B5EF4-FFF2-40B4-BE49-F238E27FC236}">
                <a16:creationId xmlns:a16="http://schemas.microsoft.com/office/drawing/2014/main" id="{396F5AE0-7839-441E-963F-72F294E34E34}"/>
              </a:ext>
            </a:extLst>
          </p:cNvPr>
          <p:cNvSpPr>
            <a:spLocks xmlns:a="http://schemas.openxmlformats.org/drawingml/2006/main" noGrp="1"/>
          </p:cNvSpPr>
          <p:nvPr/>
        </p:nvSpPr>
        <p:spPr>
          <a:xfrm xmlns:a="http://schemas.openxmlformats.org/drawingml/2006/main">
            <a:off x="904875" y="29337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7AC943"/>
                </a:solidFill>
                <a:latin typeface="Aptos"/>
                <a:ea typeface="Aptos"/>
                <a:cs typeface="Aptos"/>
              </a:defRPr>
            </a:pPr>
            <a:r>
              <a:rPr sz="1800" b="1">
                <a:solidFill>
                  <a:srgbClr val="7AC943"/>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AE625BEA-0531-4D53-BC48-D63A69EDCB7E}"/>
              </a:ext>
            </a:extLst>
          </p:cNvPr>
          <p:cNvSpPr>
            <a:spLocks xmlns:a="http://schemas.openxmlformats.org/drawingml/2006/main" noGrp="1"/>
          </p:cNvSpPr>
          <p:nvPr/>
        </p:nvSpPr>
        <p:spPr>
          <a:xfrm xmlns:a="http://schemas.openxmlformats.org/drawingml/2006/main">
            <a:off x="1381125" y="2933700"/>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0 fallback; full WALA + SMT path</a:t>
            </a:r>
          </a:p>
        </p:txBody>
      </p:sp>
      <p:sp>
        <p:nvSpPr>
          <p:cNvPr id="18" name="">
            <a:extLst xmlns:a="http://schemas.openxmlformats.org/drawingml/2006/main">
              <a:ext uri="{FF2B5EF4-FFF2-40B4-BE49-F238E27FC236}">
                <a16:creationId xmlns:a16="http://schemas.microsoft.com/office/drawing/2014/main" id="{78EC5119-CF9E-4C4B-B366-5D521489A109}"/>
              </a:ext>
            </a:extLst>
          </p:cNvPr>
          <p:cNvSpPr>
            <a:spLocks xmlns:a="http://schemas.openxmlformats.org/drawingml/2006/main" noGrp="1"/>
          </p:cNvSpPr>
          <p:nvPr/>
        </p:nvSpPr>
        <p:spPr>
          <a:xfrm xmlns:a="http://schemas.openxmlformats.org/drawingml/2006/main">
            <a:off x="904875" y="35147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7AC943"/>
                </a:solidFill>
                <a:latin typeface="Aptos"/>
                <a:ea typeface="Aptos"/>
                <a:cs typeface="Aptos"/>
              </a:defRPr>
            </a:pPr>
            <a:r>
              <a:rPr sz="1800" b="1">
                <a:solidFill>
                  <a:srgbClr val="7AC943"/>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7140A821-73E3-40BD-8720-B994D3542624}"/>
              </a:ext>
            </a:extLst>
          </p:cNvPr>
          <p:cNvSpPr>
            <a:spLocks xmlns:a="http://schemas.openxmlformats.org/drawingml/2006/main" noGrp="1"/>
          </p:cNvSpPr>
          <p:nvPr/>
        </p:nvSpPr>
        <p:spPr>
          <a:xfrm xmlns:a="http://schemas.openxmlformats.org/drawingml/2006/main">
            <a:off x="1381125" y="3514725"/>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Non-contiguous regions use segments</a:t>
            </a:r>
          </a:p>
        </p:txBody>
      </p:sp>
      <p:sp>
        <p:nvSpPr>
          <p:cNvPr id="20" name="">
            <a:extLst xmlns:a="http://schemas.openxmlformats.org/drawingml/2006/main">
              <a:ext uri="{FF2B5EF4-FFF2-40B4-BE49-F238E27FC236}">
                <a16:creationId xmlns:a16="http://schemas.microsoft.com/office/drawing/2014/main" id="{6E90487F-2B0D-4445-A142-13FDB63C47FB}"/>
              </a:ext>
            </a:extLst>
          </p:cNvPr>
          <p:cNvSpPr>
            <a:spLocks xmlns:a="http://schemas.openxmlformats.org/drawingml/2006/main" noGrp="1"/>
          </p:cNvSpPr>
          <p:nvPr/>
        </p:nvSpPr>
        <p:spPr>
          <a:xfrm xmlns:a="http://schemas.openxmlformats.org/drawingml/2006/main">
            <a:off x="904875" y="409575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7AC943"/>
                </a:solidFill>
                <a:latin typeface="Aptos"/>
                <a:ea typeface="Aptos"/>
                <a:cs typeface="Aptos"/>
              </a:defRPr>
            </a:pPr>
            <a:r>
              <a:rPr sz="1800" b="1">
                <a:solidFill>
                  <a:srgbClr val="7AC943"/>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A61C2480-2CE0-4D87-83B3-163E5A1D8D19}"/>
              </a:ext>
            </a:extLst>
          </p:cNvPr>
          <p:cNvSpPr>
            <a:spLocks xmlns:a="http://schemas.openxmlformats.org/drawingml/2006/main" noGrp="1"/>
          </p:cNvSpPr>
          <p:nvPr/>
        </p:nvSpPr>
        <p:spPr>
          <a:xfrm xmlns:a="http://schemas.openxmlformats.org/drawingml/2006/main">
            <a:off x="1381125" y="4095750"/>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Multiple relations use subRegions</a:t>
            </a:r>
          </a:p>
        </p:txBody>
      </p:sp>
      <p:sp>
        <p:nvSpPr>
          <p:cNvPr id="22" name="">
            <a:extLst xmlns:a="http://schemas.openxmlformats.org/drawingml/2006/main">
              <a:ext uri="{FF2B5EF4-FFF2-40B4-BE49-F238E27FC236}">
                <a16:creationId xmlns:a16="http://schemas.microsoft.com/office/drawing/2014/main" id="{94ACD698-F756-4B29-B351-B35137EF5707}"/>
              </a:ext>
            </a:extLst>
          </p:cNvPr>
          <p:cNvSpPr>
            <a:spLocks xmlns:a="http://schemas.openxmlformats.org/drawingml/2006/main" noGrp="1"/>
          </p:cNvSpPr>
          <p:nvPr/>
        </p:nvSpPr>
        <p:spPr>
          <a:xfrm xmlns:a="http://schemas.openxmlformats.org/drawingml/2006/main">
            <a:off x="904875" y="46767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7AC943"/>
                </a:solidFill>
                <a:latin typeface="Aptos"/>
                <a:ea typeface="Aptos"/>
                <a:cs typeface="Aptos"/>
              </a:defRPr>
            </a:pPr>
            <a:r>
              <a:rPr sz="1800" b="1">
                <a:solidFill>
                  <a:srgbClr val="7AC943"/>
                </a:solidFill>
                <a:latin typeface="Aptos"/>
                <a:ea typeface="Aptos"/>
                <a:cs typeface="Aptos"/>
              </a:rPr>
              <a:t>✓</a:t>
            </a:r>
          </a:p>
        </p:txBody>
      </p:sp>
      <p:sp>
        <p:nvSpPr>
          <p:cNvPr id="23" name="">
            <a:extLst xmlns:a="http://schemas.openxmlformats.org/drawingml/2006/main">
              <a:ext uri="{FF2B5EF4-FFF2-40B4-BE49-F238E27FC236}">
                <a16:creationId xmlns:a16="http://schemas.microsoft.com/office/drawing/2014/main" id="{B2458BE3-EA43-42CA-A28F-AB51CFAC8124}"/>
              </a:ext>
            </a:extLst>
          </p:cNvPr>
          <p:cNvSpPr>
            <a:spLocks xmlns:a="http://schemas.openxmlformats.org/drawingml/2006/main" noGrp="1"/>
          </p:cNvSpPr>
          <p:nvPr/>
        </p:nvSpPr>
        <p:spPr>
          <a:xfrm xmlns:a="http://schemas.openxmlformats.org/drawingml/2006/main">
            <a:off x="1381125" y="4676775"/>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0">
                <a:solidFill>
                  <a:srgbClr val="232323"/>
                </a:solidFill>
                <a:latin typeface="Aptos"/>
                <a:ea typeface="Aptos"/>
                <a:cs typeface="Aptos"/>
              </a:defRPr>
            </a:pPr>
            <a:r>
              <a:rPr sz="1425" b="0">
                <a:solidFill>
                  <a:srgbClr val="232323"/>
                </a:solidFill>
                <a:latin typeface="Aptos"/>
                <a:ea typeface="Aptos"/>
                <a:cs typeface="Aptos"/>
              </a:rPr>
              <a:t>Dynamic stage removed without verdict change</a:t>
            </a:r>
          </a:p>
        </p:txBody>
      </p:sp>
      <p:sp>
        <p:nvSpPr>
          <p:cNvPr id="24" name="">
            <a:extLst xmlns:a="http://schemas.openxmlformats.org/drawingml/2006/main">
              <a:ext uri="{FF2B5EF4-FFF2-40B4-BE49-F238E27FC236}">
                <a16:creationId xmlns:a16="http://schemas.microsoft.com/office/drawing/2014/main" id="{1C9FED1D-37F2-45DC-BBCA-C5DF47FC6AB0}"/>
              </a:ext>
            </a:extLst>
          </p:cNvPr>
          <p:cNvSpPr>
            <a:spLocks xmlns:a="http://schemas.openxmlformats.org/drawingml/2006/main" noGrp="1"/>
          </p:cNvSpPr>
          <p:nvPr/>
        </p:nvSpPr>
        <p:spPr>
          <a:xfrm xmlns:a="http://schemas.openxmlformats.org/drawingml/2006/main">
            <a:off x="6619875" y="23526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E4002B"/>
                </a:solidFill>
                <a:latin typeface="Aptos"/>
                <a:ea typeface="Aptos"/>
                <a:cs typeface="Aptos"/>
              </a:defRPr>
            </a:pPr>
            <a:r>
              <a:rPr sz="1800" b="1">
                <a:solidFill>
                  <a:srgbClr val="E4002B"/>
                </a:solidFill>
                <a:latin typeface="Aptos"/>
                <a:ea typeface="Aptos"/>
                <a:cs typeface="Aptos"/>
              </a:rPr>
              <a:t>!</a:t>
            </a:r>
          </a:p>
        </p:txBody>
      </p:sp>
      <p:sp>
        <p:nvSpPr>
          <p:cNvPr id="25" name="">
            <a:extLst xmlns:a="http://schemas.openxmlformats.org/drawingml/2006/main">
              <a:ext uri="{FF2B5EF4-FFF2-40B4-BE49-F238E27FC236}">
                <a16:creationId xmlns:a16="http://schemas.microsoft.com/office/drawing/2014/main" id="{A004D0DF-B6F6-445B-8121-B3146D07ADF3}"/>
              </a:ext>
            </a:extLst>
          </p:cNvPr>
          <p:cNvSpPr>
            <a:spLocks xmlns:a="http://schemas.openxmlformats.org/drawingml/2006/main" noGrp="1"/>
          </p:cNvSpPr>
          <p:nvPr/>
        </p:nvSpPr>
        <p:spPr>
          <a:xfrm xmlns:a="http://schemas.openxmlformats.org/drawingml/2006/main">
            <a:off x="7096125" y="2352675"/>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Bounding-box suppression hides 58.9% of accepted regions</a:t>
            </a:r>
          </a:p>
        </p:txBody>
      </p:sp>
      <p:sp>
        <p:nvSpPr>
          <p:cNvPr id="26" name="">
            <a:extLst xmlns:a="http://schemas.openxmlformats.org/drawingml/2006/main">
              <a:ext uri="{FF2B5EF4-FFF2-40B4-BE49-F238E27FC236}">
                <a16:creationId xmlns:a16="http://schemas.microsoft.com/office/drawing/2014/main" id="{C0C5A0C6-C062-4EA5-8295-A4D8F51DFA1A}"/>
              </a:ext>
            </a:extLst>
          </p:cNvPr>
          <p:cNvSpPr>
            <a:spLocks xmlns:a="http://schemas.openxmlformats.org/drawingml/2006/main" noGrp="1"/>
          </p:cNvSpPr>
          <p:nvPr/>
        </p:nvSpPr>
        <p:spPr>
          <a:xfrm xmlns:a="http://schemas.openxmlformats.org/drawingml/2006/main">
            <a:off x="6619875" y="29337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E4002B"/>
                </a:solidFill>
                <a:latin typeface="Aptos"/>
                <a:ea typeface="Aptos"/>
                <a:cs typeface="Aptos"/>
              </a:defRPr>
            </a:pPr>
            <a:r>
              <a:rPr sz="1800" b="1">
                <a:solidFill>
                  <a:srgbClr val="E4002B"/>
                </a:solidFill>
                <a:latin typeface="Aptos"/>
                <a:ea typeface="Aptos"/>
                <a:cs typeface="Aptos"/>
              </a:rPr>
              <a:t>!</a:t>
            </a:r>
          </a:p>
        </p:txBody>
      </p:sp>
      <p:sp>
        <p:nvSpPr>
          <p:cNvPr id="27" name="">
            <a:extLst xmlns:a="http://schemas.openxmlformats.org/drawingml/2006/main">
              <a:ext uri="{FF2B5EF4-FFF2-40B4-BE49-F238E27FC236}">
                <a16:creationId xmlns:a16="http://schemas.microsoft.com/office/drawing/2014/main" id="{81745720-9B5E-40CE-8E51-9B0AE8D4A33B}"/>
              </a:ext>
            </a:extLst>
          </p:cNvPr>
          <p:cNvSpPr>
            <a:spLocks xmlns:a="http://schemas.openxmlformats.org/drawingml/2006/main" noGrp="1"/>
          </p:cNvSpPr>
          <p:nvPr/>
        </p:nvSpPr>
        <p:spPr>
          <a:xfrm xmlns:a="http://schemas.openxmlformats.org/drawingml/2006/main">
            <a:off x="7096125" y="293370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No-output negatives need a formal meaning</a:t>
            </a:r>
          </a:p>
        </p:txBody>
      </p:sp>
      <p:sp>
        <p:nvSpPr>
          <p:cNvPr id="28" name="">
            <a:extLst xmlns:a="http://schemas.openxmlformats.org/drawingml/2006/main">
              <a:ext uri="{FF2B5EF4-FFF2-40B4-BE49-F238E27FC236}">
                <a16:creationId xmlns:a16="http://schemas.microsoft.com/office/drawing/2014/main" id="{E02B7B50-7BF6-42D6-B22A-C6217D40A609}"/>
              </a:ext>
            </a:extLst>
          </p:cNvPr>
          <p:cNvSpPr>
            <a:spLocks xmlns:a="http://schemas.openxmlformats.org/drawingml/2006/main" noGrp="1"/>
          </p:cNvSpPr>
          <p:nvPr/>
        </p:nvSpPr>
        <p:spPr>
          <a:xfrm xmlns:a="http://schemas.openxmlformats.org/drawingml/2006/main">
            <a:off x="6619875" y="35147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E4002B"/>
                </a:solidFill>
                <a:latin typeface="Aptos"/>
                <a:ea typeface="Aptos"/>
                <a:cs typeface="Aptos"/>
              </a:defRPr>
            </a:pPr>
            <a:r>
              <a:rPr sz="1800" b="1">
                <a:solidFill>
                  <a:srgbClr val="E4002B"/>
                </a:solidFill>
                <a:latin typeface="Aptos"/>
                <a:ea typeface="Aptos"/>
                <a:cs typeface="Aptos"/>
              </a:rPr>
              <a:t>!</a:t>
            </a:r>
          </a:p>
        </p:txBody>
      </p:sp>
      <p:sp>
        <p:nvSpPr>
          <p:cNvPr id="29" name="">
            <a:extLst xmlns:a="http://schemas.openxmlformats.org/drawingml/2006/main">
              <a:ext uri="{FF2B5EF4-FFF2-40B4-BE49-F238E27FC236}">
                <a16:creationId xmlns:a16="http://schemas.microsoft.com/office/drawing/2014/main" id="{99A51CE4-5D5B-4232-94C3-690C2128EEE3}"/>
              </a:ext>
            </a:extLst>
          </p:cNvPr>
          <p:cNvSpPr>
            <a:spLocks xmlns:a="http://schemas.openxmlformats.org/drawingml/2006/main" noGrp="1"/>
          </p:cNvSpPr>
          <p:nvPr/>
        </p:nvSpPr>
        <p:spPr>
          <a:xfrm xmlns:a="http://schemas.openxmlformats.org/drawingml/2006/main">
            <a:off x="7096125" y="3514725"/>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T2 naming at region/subregion level</a:t>
            </a:r>
          </a:p>
        </p:txBody>
      </p:sp>
      <p:sp>
        <p:nvSpPr>
          <p:cNvPr id="30" name="">
            <a:extLst xmlns:a="http://schemas.openxmlformats.org/drawingml/2006/main">
              <a:ext uri="{FF2B5EF4-FFF2-40B4-BE49-F238E27FC236}">
                <a16:creationId xmlns:a16="http://schemas.microsoft.com/office/drawing/2014/main" id="{850F0C54-CB6C-4A69-B278-68E0E31984C0}"/>
              </a:ext>
            </a:extLst>
          </p:cNvPr>
          <p:cNvSpPr>
            <a:spLocks xmlns:a="http://schemas.openxmlformats.org/drawingml/2006/main" noGrp="1"/>
          </p:cNvSpPr>
          <p:nvPr/>
        </p:nvSpPr>
        <p:spPr>
          <a:xfrm xmlns:a="http://schemas.openxmlformats.org/drawingml/2006/main">
            <a:off x="6619875" y="409575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E4002B"/>
                </a:solidFill>
                <a:latin typeface="Aptos"/>
                <a:ea typeface="Aptos"/>
                <a:cs typeface="Aptos"/>
              </a:defRPr>
            </a:pPr>
            <a:r>
              <a:rPr sz="1800" b="1">
                <a:solidFill>
                  <a:srgbClr val="E4002B"/>
                </a:solidFill>
                <a:latin typeface="Aptos"/>
                <a:ea typeface="Aptos"/>
                <a:cs typeface="Aptos"/>
              </a:rPr>
              <a:t>!</a:t>
            </a:r>
          </a:p>
        </p:txBody>
      </p:sp>
      <p:sp>
        <p:nvSpPr>
          <p:cNvPr id="31" name="">
            <a:extLst xmlns:a="http://schemas.openxmlformats.org/drawingml/2006/main">
              <a:ext uri="{FF2B5EF4-FFF2-40B4-BE49-F238E27FC236}">
                <a16:creationId xmlns:a16="http://schemas.microsoft.com/office/drawing/2014/main" id="{3E2E92B2-BF1C-43EC-8890-8A7702718FCF}"/>
              </a:ext>
            </a:extLst>
          </p:cNvPr>
          <p:cNvSpPr>
            <a:spLocks xmlns:a="http://schemas.openxmlformats.org/drawingml/2006/main" noGrp="1"/>
          </p:cNvSpPr>
          <p:nvPr/>
        </p:nvSpPr>
        <p:spPr>
          <a:xfrm xmlns:a="http://schemas.openxmlformats.org/drawingml/2006/main">
            <a:off x="7096125" y="409575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Blank/block comments are not observable</a:t>
            </a:r>
          </a:p>
        </p:txBody>
      </p:sp>
      <p:sp>
        <p:nvSpPr>
          <p:cNvPr id="32" name="">
            <a:extLst xmlns:a="http://schemas.openxmlformats.org/drawingml/2006/main">
              <a:ext uri="{FF2B5EF4-FFF2-40B4-BE49-F238E27FC236}">
                <a16:creationId xmlns:a16="http://schemas.microsoft.com/office/drawing/2014/main" id="{DF0AF6D5-8B96-46A1-912E-D5790E4BC006}"/>
              </a:ext>
            </a:extLst>
          </p:cNvPr>
          <p:cNvSpPr>
            <a:spLocks xmlns:a="http://schemas.openxmlformats.org/drawingml/2006/main" noGrp="1"/>
          </p:cNvSpPr>
          <p:nvPr/>
        </p:nvSpPr>
        <p:spPr>
          <a:xfrm xmlns:a="http://schemas.openxmlformats.org/drawingml/2006/main">
            <a:off x="6619875" y="46767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800" b="1">
                <a:solidFill>
                  <a:srgbClr val="E4002B"/>
                </a:solidFill>
                <a:latin typeface="Aptos"/>
                <a:ea typeface="Aptos"/>
                <a:cs typeface="Aptos"/>
              </a:defRPr>
            </a:pPr>
            <a:r>
              <a:rPr sz="1800" b="1">
                <a:solidFill>
                  <a:srgbClr val="E4002B"/>
                </a:solidFill>
                <a:latin typeface="Aptos"/>
                <a:ea typeface="Aptos"/>
                <a:cs typeface="Aptos"/>
              </a:rPr>
              <a:t>!</a:t>
            </a:r>
          </a:p>
        </p:txBody>
      </p:sp>
      <p:sp>
        <p:nvSpPr>
          <p:cNvPr id="33" name="">
            <a:extLst xmlns:a="http://schemas.openxmlformats.org/drawingml/2006/main">
              <a:ext uri="{FF2B5EF4-FFF2-40B4-BE49-F238E27FC236}">
                <a16:creationId xmlns:a16="http://schemas.microsoft.com/office/drawing/2014/main" id="{B16C4C06-528C-4106-9094-2E3749602BA2}"/>
              </a:ext>
            </a:extLst>
          </p:cNvPr>
          <p:cNvSpPr>
            <a:spLocks xmlns:a="http://schemas.openxmlformats.org/drawingml/2006/main" noGrp="1"/>
          </p:cNvSpPr>
          <p:nvPr/>
        </p:nvSpPr>
        <p:spPr>
          <a:xfrm xmlns:a="http://schemas.openxmlformats.org/drawingml/2006/main">
            <a:off x="7096125" y="4676775"/>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232323"/>
                </a:solidFill>
                <a:latin typeface="Aptos"/>
                <a:ea typeface="Aptos"/>
                <a:cs typeface="Aptos"/>
              </a:defRPr>
            </a:pPr>
            <a:r>
              <a:rPr sz="1350" b="0">
                <a:solidFill>
                  <a:srgbClr val="232323"/>
                </a:solidFill>
                <a:latin typeface="Aptos"/>
                <a:ea typeface="Aptos"/>
                <a:cs typeface="Aptos"/>
              </a:rPr>
              <a:t>Clean-room BCB rerun still pending</a:t>
            </a:r>
          </a:p>
        </p:txBody>
      </p:sp>
    </p:spTree>
    <p:extLst>
      <p:ext uri="{BB962C8B-B14F-4D97-AF65-F5344CB8AC3E}">
        <p14:creationId xmlns:p14="http://schemas.microsoft.com/office/powerpoint/2010/main" val="258551416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775" y="295275"/>
            <a:ext cx="107823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a:solidFill>
                  <a:srgbClr val="4F2683"/>
                </a:solidFill>
                <a:latin typeface="Aptos Display"/>
                <a:ea typeface="Aptos Display"/>
                <a:cs typeface="Aptos Display"/>
              </a:defRPr>
            </a:pPr>
            <a:r>
              <a:rPr sz="3225">
                <a:solidFill>
                  <a:srgbClr val="4F2683"/>
                </a:solidFill>
                <a:latin typeface="Aptos Display"/>
                <a:ea typeface="Aptos Display"/>
                <a:cs typeface="Aptos Display"/>
              </a:rPr>
              <a:t>Next — finish the corrected arm, then freeze the claims</a:t>
            </a:r>
          </a:p>
        </p:txBody>
      </p:sp>
      <p:pic>
        <p:nvPicPr>
          <p:cNvPr id="32" name="Picture 3"/>
          <p:cNvPicPr>
            <a:picLocks xmlns:a="http://schemas.openxmlformats.org/drawingml/2006/main" noChangeAspect="1"/>
          </p:cNvPicPr>
          <p:nvPr/>
        </p:nvPicPr>
        <p:blipFill>
          <a:blip xmlns:r="http://schemas.openxmlformats.org/officeDocument/2006/relationships" xmlns:a="http://schemas.openxmlformats.org/drawingml/2006/main" r:embed="R7bd9728c39a5491d"/>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2EE2118-EAE6-4B0E-A606-7FA840374F3F}"/>
              </a:ext>
            </a:extLst>
          </p:cNvPr>
          <p:cNvSpPr>
            <a:spLocks xmlns:a="http://schemas.openxmlformats.org/drawingml/2006/main" noGrp="1"/>
          </p:cNvSpPr>
          <p:nvPr/>
        </p:nvSpPr>
        <p:spPr>
          <a:xfrm xmlns:a="http://schemas.openxmlformats.org/drawingml/2006/main">
            <a:off x="504825" y="1057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7AC943"/>
                </a:solidFill>
                <a:latin typeface="Aptos"/>
                <a:ea typeface="Aptos"/>
                <a:cs typeface="Aptos"/>
              </a:defRPr>
            </a:pPr>
            <a:r>
              <a:rPr sz="1050" b="1">
                <a:solidFill>
                  <a:srgbClr val="7AC943"/>
                </a:solidFill>
                <a:latin typeface="Aptos"/>
                <a:ea typeface="Aptos"/>
                <a:cs typeface="Aptos"/>
              </a:rPr>
              <a:t>NEXT</a:t>
            </a:r>
          </a:p>
        </p:txBody>
      </p:sp>
      <p:sp>
        <p:nvSpPr>
          <p:cNvPr id="8" name="">
            <a:extLst xmlns:a="http://schemas.openxmlformats.org/drawingml/2006/main">
              <a:ext uri="{FF2B5EF4-FFF2-40B4-BE49-F238E27FC236}">
                <a16:creationId xmlns:a16="http://schemas.microsoft.com/office/drawing/2014/main" id="{0FD00C2E-7811-4AB5-9E62-ACF279854285}"/>
              </a:ext>
            </a:extLst>
          </p:cNvPr>
          <p:cNvSpPr>
            <a:spLocks xmlns:a="http://schemas.openxmlformats.org/drawingml/2006/main" noGrp="1"/>
          </p:cNvSpPr>
          <p:nvPr/>
        </p:nvSpPr>
        <p:spPr>
          <a:xfrm xmlns:a="http://schemas.openxmlformats.org/drawingml/2006/main">
            <a:off x="3714750" y="10572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200" b="0">
                <a:solidFill>
                  <a:srgbClr val="666666"/>
                </a:solidFill>
                <a:latin typeface="Aptos"/>
                <a:ea typeface="Aptos"/>
                <a:cs typeface="Aptos"/>
              </a:defRPr>
            </a:pPr>
            <a:r>
              <a:rPr sz="1200" b="0">
                <a:solidFill>
                  <a:srgbClr val="666666"/>
                </a:solidFill>
                <a:latin typeface="Aptos"/>
                <a:ea typeface="Aptos"/>
                <a:cs typeface="Aptos"/>
              </a:rPr>
              <a:t>Do not merge Batch 5 with Batches 1–4 until definitions are reconciled</a:t>
            </a:r>
          </a:p>
        </p:txBody>
      </p:sp>
      <p:sp>
        <p:nvSpPr>
          <p:cNvPr id="9" name="">
            <a:extLst xmlns:a="http://schemas.openxmlformats.org/drawingml/2006/main">
              <a:ext uri="{FF2B5EF4-FFF2-40B4-BE49-F238E27FC236}">
                <a16:creationId xmlns:a16="http://schemas.microsoft.com/office/drawing/2014/main" id="{78C736F0-D7EB-4155-873C-3182D5B6C678}"/>
              </a:ext>
            </a:extLst>
          </p:cNvPr>
          <p:cNvSpPr>
            <a:spLocks xmlns:a="http://schemas.openxmlformats.org/drawingml/2006/main" noGrp="1"/>
          </p:cNvSpPr>
          <p:nvPr/>
        </p:nvSpPr>
        <p:spPr>
          <a:xfrm xmlns:a="http://schemas.openxmlformats.org/drawingml/2006/main">
            <a:off x="504825" y="1352550"/>
            <a:ext cx="1076325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0" name="">
            <a:extLst xmlns:a="http://schemas.openxmlformats.org/drawingml/2006/main">
              <a:ext uri="{FF2B5EF4-FFF2-40B4-BE49-F238E27FC236}">
                <a16:creationId xmlns:a16="http://schemas.microsoft.com/office/drawing/2014/main" id="{4528BD7E-52A4-4D83-859E-7CC027A23CEA}"/>
              </a:ext>
            </a:extLst>
          </p:cNvPr>
          <p:cNvSpPr>
            <a:spLocks xmlns:a="http://schemas.openxmlformats.org/drawingml/2006/main" noGrp="1"/>
          </p:cNvSpPr>
          <p:nvPr/>
        </p:nvSpPr>
        <p:spPr>
          <a:xfrm xmlns:a="http://schemas.openxmlformats.org/drawingml/2006/main">
            <a:off x="504825" y="62293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8A8A8A"/>
                </a:solidFill>
                <a:latin typeface="Aptos"/>
                <a:ea typeface="Aptos"/>
                <a:cs typeface="Aptos"/>
              </a:defRPr>
            </a:pPr>
            <a:r>
              <a:rPr sz="900" b="0">
                <a:solidFill>
                  <a:srgbClr val="8A8A8A"/>
                </a:solidFill>
                <a:latin typeface="Aptos"/>
                <a:ea typeface="Aptos"/>
                <a:cs typeface="Aptos"/>
              </a:rPr>
              <a:t>24 / 24</a:t>
            </a:r>
          </a:p>
        </p:txBody>
      </p:sp>
      <p:sp>
        <p:nvSpPr>
          <p:cNvPr id="11" name="">
            <a:extLst xmlns:a="http://schemas.openxmlformats.org/drawingml/2006/main">
              <a:ext uri="{FF2B5EF4-FFF2-40B4-BE49-F238E27FC236}">
                <a16:creationId xmlns:a16="http://schemas.microsoft.com/office/drawing/2014/main" id="{9583BD06-9078-4058-9131-72F6A4989C86}"/>
              </a:ext>
            </a:extLst>
          </p:cNvPr>
          <p:cNvSpPr>
            <a:spLocks xmlns:a="http://schemas.openxmlformats.org/drawingml/2006/main" noGrp="1"/>
          </p:cNvSpPr>
          <p:nvPr/>
        </p:nvSpPr>
        <p:spPr>
          <a:xfrm xmlns:a="http://schemas.openxmlformats.org/drawingml/2006/main">
            <a:off x="762000" y="1619250"/>
            <a:ext cx="447675" cy="447675"/>
          </a:xfrm>
          <a:prstGeom xmlns:a="http://schemas.openxmlformats.org/drawingml/2006/main" prst="ellipse">
            <a:avLst/>
          </a:prstGeom>
          <a:solidFill xmlns:a="http://schemas.openxmlformats.org/drawingml/2006/main">
            <a:srgbClr val="4F268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9F5AB25-41C2-4DDB-A7AC-8DB6C98E5581}"/>
              </a:ext>
            </a:extLst>
          </p:cNvPr>
          <p:cNvSpPr>
            <a:spLocks xmlns:a="http://schemas.openxmlformats.org/drawingml/2006/main" noGrp="1"/>
          </p:cNvSpPr>
          <p:nvPr/>
        </p:nvSpPr>
        <p:spPr>
          <a:xfrm xmlns:a="http://schemas.openxmlformats.org/drawingml/2006/main">
            <a:off x="762000" y="1619250"/>
            <a:ext cx="4476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13" name="">
            <a:extLst xmlns:a="http://schemas.openxmlformats.org/drawingml/2006/main">
              <a:ext uri="{FF2B5EF4-FFF2-40B4-BE49-F238E27FC236}">
                <a16:creationId xmlns:a16="http://schemas.microsoft.com/office/drawing/2014/main" id="{0D03636E-A94C-4D3C-BF07-BEBCB7B60DE1}"/>
              </a:ext>
            </a:extLst>
          </p:cNvPr>
          <p:cNvSpPr>
            <a:spLocks xmlns:a="http://schemas.openxmlformats.org/drawingml/2006/main" noGrp="1"/>
          </p:cNvSpPr>
          <p:nvPr/>
        </p:nvSpPr>
        <p:spPr>
          <a:xfrm xmlns:a="http://schemas.openxmlformats.org/drawingml/2006/main">
            <a:off x="1476375" y="16002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1">
                <a:solidFill>
                  <a:srgbClr val="232323"/>
                </a:solidFill>
                <a:latin typeface="Aptos"/>
                <a:ea typeface="Aptos"/>
                <a:cs typeface="Aptos"/>
              </a:defRPr>
            </a:pPr>
            <a:r>
              <a:rPr sz="1725" b="1">
                <a:solidFill>
                  <a:srgbClr val="232323"/>
                </a:solidFill>
                <a:latin typeface="Aptos"/>
                <a:ea typeface="Aptos"/>
                <a:cs typeface="Aptos"/>
              </a:rPr>
              <a:t>Complete Batch 5</a:t>
            </a:r>
          </a:p>
        </p:txBody>
      </p:sp>
      <p:sp>
        <p:nvSpPr>
          <p:cNvPr id="14" name="">
            <a:extLst xmlns:a="http://schemas.openxmlformats.org/drawingml/2006/main">
              <a:ext uri="{FF2B5EF4-FFF2-40B4-BE49-F238E27FC236}">
                <a16:creationId xmlns:a16="http://schemas.microsoft.com/office/drawing/2014/main" id="{935C3363-7223-4538-9EE4-4FA84F13EAFA}"/>
              </a:ext>
            </a:extLst>
          </p:cNvPr>
          <p:cNvSpPr>
            <a:spLocks xmlns:a="http://schemas.openxmlformats.org/drawingml/2006/main" noGrp="1"/>
          </p:cNvSpPr>
          <p:nvPr/>
        </p:nvSpPr>
        <p:spPr>
          <a:xfrm xmlns:a="http://schemas.openxmlformats.org/drawingml/2006/main">
            <a:off x="4762500" y="1600200"/>
            <a:ext cx="628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1,000 pairs prepared; corrected insert/delete definitions; run/scoring pending</a:t>
            </a:r>
          </a:p>
        </p:txBody>
      </p:sp>
      <p:sp>
        <p:nvSpPr>
          <p:cNvPr id="15" name="">
            <a:extLst xmlns:a="http://schemas.openxmlformats.org/drawingml/2006/main">
              <a:ext uri="{FF2B5EF4-FFF2-40B4-BE49-F238E27FC236}">
                <a16:creationId xmlns:a16="http://schemas.microsoft.com/office/drawing/2014/main" id="{0C9477B6-2A1A-4EBC-87CD-20A19854023D}"/>
              </a:ext>
            </a:extLst>
          </p:cNvPr>
          <p:cNvSpPr>
            <a:spLocks xmlns:a="http://schemas.openxmlformats.org/drawingml/2006/main" noGrp="1"/>
          </p:cNvSpPr>
          <p:nvPr/>
        </p:nvSpPr>
        <p:spPr>
          <a:xfrm xmlns:a="http://schemas.openxmlformats.org/drawingml/2006/main">
            <a:off x="1476375" y="2266950"/>
            <a:ext cx="952500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16" name="">
            <a:extLst xmlns:a="http://schemas.openxmlformats.org/drawingml/2006/main">
              <a:ext uri="{FF2B5EF4-FFF2-40B4-BE49-F238E27FC236}">
                <a16:creationId xmlns:a16="http://schemas.microsoft.com/office/drawing/2014/main" id="{60C4D3A7-F01C-4D3B-B681-F11838940EE6}"/>
              </a:ext>
            </a:extLst>
          </p:cNvPr>
          <p:cNvSpPr>
            <a:spLocks xmlns:a="http://schemas.openxmlformats.org/drawingml/2006/main" noGrp="1"/>
          </p:cNvSpPr>
          <p:nvPr/>
        </p:nvSpPr>
        <p:spPr>
          <a:xfrm xmlns:a="http://schemas.openxmlformats.org/drawingml/2006/main">
            <a:off x="762000" y="2543175"/>
            <a:ext cx="447675" cy="447675"/>
          </a:xfrm>
          <a:prstGeom xmlns:a="http://schemas.openxmlformats.org/drawingml/2006/main" prst="ellipse">
            <a:avLst/>
          </a:prstGeom>
          <a:solidFill xmlns:a="http://schemas.openxmlformats.org/drawingml/2006/main">
            <a:srgbClr val="E7E6E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A6FEA6D-81C9-4E8F-BE22-3E18698E7CF2}"/>
              </a:ext>
            </a:extLst>
          </p:cNvPr>
          <p:cNvSpPr>
            <a:spLocks xmlns:a="http://schemas.openxmlformats.org/drawingml/2006/main" noGrp="1"/>
          </p:cNvSpPr>
          <p:nvPr/>
        </p:nvSpPr>
        <p:spPr>
          <a:xfrm xmlns:a="http://schemas.openxmlformats.org/drawingml/2006/main">
            <a:off x="762000" y="2543175"/>
            <a:ext cx="4476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650" b="1">
                <a:solidFill>
                  <a:srgbClr val="4F2683"/>
                </a:solidFill>
                <a:latin typeface="Aptos"/>
                <a:ea typeface="Aptos"/>
                <a:cs typeface="Aptos"/>
              </a:defRPr>
            </a:pPr>
            <a:r>
              <a:rPr sz="1650" b="1">
                <a:solidFill>
                  <a:srgbClr val="4F2683"/>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79480F32-1F76-430C-B7B3-EF258370BC1C}"/>
              </a:ext>
            </a:extLst>
          </p:cNvPr>
          <p:cNvSpPr>
            <a:spLocks xmlns:a="http://schemas.openxmlformats.org/drawingml/2006/main" noGrp="1"/>
          </p:cNvSpPr>
          <p:nvPr/>
        </p:nvSpPr>
        <p:spPr>
          <a:xfrm xmlns:a="http://schemas.openxmlformats.org/drawingml/2006/main">
            <a:off x="1476375" y="2524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1">
                <a:solidFill>
                  <a:srgbClr val="232323"/>
                </a:solidFill>
                <a:latin typeface="Aptos"/>
                <a:ea typeface="Aptos"/>
                <a:cs typeface="Aptos"/>
              </a:defRPr>
            </a:pPr>
            <a:r>
              <a:rPr sz="1725" b="1">
                <a:solidFill>
                  <a:srgbClr val="232323"/>
                </a:solidFill>
                <a:latin typeface="Aptos"/>
                <a:ea typeface="Aptos"/>
                <a:cs typeface="Aptos"/>
              </a:rPr>
              <a:t>Scale robustness checks</a:t>
            </a:r>
          </a:p>
        </p:txBody>
      </p:sp>
      <p:sp>
        <p:nvSpPr>
          <p:cNvPr id="19" name="">
            <a:extLst xmlns:a="http://schemas.openxmlformats.org/drawingml/2006/main">
              <a:ext uri="{FF2B5EF4-FFF2-40B4-BE49-F238E27FC236}">
                <a16:creationId xmlns:a16="http://schemas.microsoft.com/office/drawing/2014/main" id="{03B492C3-17AB-4ACE-8FC2-1AB712EE083E}"/>
              </a:ext>
            </a:extLst>
          </p:cNvPr>
          <p:cNvSpPr>
            <a:spLocks xmlns:a="http://schemas.openxmlformats.org/drawingml/2006/main" noGrp="1"/>
          </p:cNvSpPr>
          <p:nvPr/>
        </p:nvSpPr>
        <p:spPr>
          <a:xfrm xmlns:a="http://schemas.openxmlformats.org/drawingml/2006/main">
            <a:off x="4762500" y="2524125"/>
            <a:ext cx="628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600 multi-mutation pairs + 1,000 negative pairs</a:t>
            </a:r>
          </a:p>
        </p:txBody>
      </p:sp>
      <p:sp>
        <p:nvSpPr>
          <p:cNvPr id="20" name="">
            <a:extLst xmlns:a="http://schemas.openxmlformats.org/drawingml/2006/main">
              <a:ext uri="{FF2B5EF4-FFF2-40B4-BE49-F238E27FC236}">
                <a16:creationId xmlns:a16="http://schemas.microsoft.com/office/drawing/2014/main" id="{DCE45E60-5B70-4840-A63B-AE3B2BC8D501}"/>
              </a:ext>
            </a:extLst>
          </p:cNvPr>
          <p:cNvSpPr>
            <a:spLocks xmlns:a="http://schemas.openxmlformats.org/drawingml/2006/main" noGrp="1"/>
          </p:cNvSpPr>
          <p:nvPr/>
        </p:nvSpPr>
        <p:spPr>
          <a:xfrm xmlns:a="http://schemas.openxmlformats.org/drawingml/2006/main">
            <a:off x="1476375" y="3190875"/>
            <a:ext cx="952500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21" name="">
            <a:extLst xmlns:a="http://schemas.openxmlformats.org/drawingml/2006/main">
              <a:ext uri="{FF2B5EF4-FFF2-40B4-BE49-F238E27FC236}">
                <a16:creationId xmlns:a16="http://schemas.microsoft.com/office/drawing/2014/main" id="{5ACDE37B-67BE-4267-B625-C12B0B4F267D}"/>
              </a:ext>
            </a:extLst>
          </p:cNvPr>
          <p:cNvSpPr>
            <a:spLocks xmlns:a="http://schemas.openxmlformats.org/drawingml/2006/main" noGrp="1"/>
          </p:cNvSpPr>
          <p:nvPr/>
        </p:nvSpPr>
        <p:spPr>
          <a:xfrm xmlns:a="http://schemas.openxmlformats.org/drawingml/2006/main">
            <a:off x="762000" y="3467100"/>
            <a:ext cx="447675" cy="447675"/>
          </a:xfrm>
          <a:prstGeom xmlns:a="http://schemas.openxmlformats.org/drawingml/2006/main" prst="ellipse">
            <a:avLst/>
          </a:prstGeom>
          <a:solidFill xmlns:a="http://schemas.openxmlformats.org/drawingml/2006/main">
            <a:srgbClr val="E7E6E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6EC9371-6B4E-481C-9C87-0A6CDDF4382E}"/>
              </a:ext>
            </a:extLst>
          </p:cNvPr>
          <p:cNvSpPr>
            <a:spLocks xmlns:a="http://schemas.openxmlformats.org/drawingml/2006/main" noGrp="1"/>
          </p:cNvSpPr>
          <p:nvPr/>
        </p:nvSpPr>
        <p:spPr>
          <a:xfrm xmlns:a="http://schemas.openxmlformats.org/drawingml/2006/main">
            <a:off x="762000" y="3467100"/>
            <a:ext cx="4476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650" b="1">
                <a:solidFill>
                  <a:srgbClr val="4F2683"/>
                </a:solidFill>
                <a:latin typeface="Aptos"/>
                <a:ea typeface="Aptos"/>
                <a:cs typeface="Aptos"/>
              </a:defRPr>
            </a:pPr>
            <a:r>
              <a:rPr sz="1650" b="1">
                <a:solidFill>
                  <a:srgbClr val="4F2683"/>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7B49A140-FFE9-478F-A9A1-D1D6DFD7905A}"/>
              </a:ext>
            </a:extLst>
          </p:cNvPr>
          <p:cNvSpPr>
            <a:spLocks xmlns:a="http://schemas.openxmlformats.org/drawingml/2006/main" noGrp="1"/>
          </p:cNvSpPr>
          <p:nvPr/>
        </p:nvSpPr>
        <p:spPr>
          <a:xfrm xmlns:a="http://schemas.openxmlformats.org/drawingml/2006/main">
            <a:off x="1476375" y="3448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1">
                <a:solidFill>
                  <a:srgbClr val="232323"/>
                </a:solidFill>
                <a:latin typeface="Aptos"/>
                <a:ea typeface="Aptos"/>
                <a:cs typeface="Aptos"/>
              </a:defRPr>
            </a:pPr>
            <a:r>
              <a:rPr sz="1725" b="1">
                <a:solidFill>
                  <a:srgbClr val="232323"/>
                </a:solidFill>
                <a:latin typeface="Aptos"/>
                <a:ea typeface="Aptos"/>
                <a:cs typeface="Aptos"/>
              </a:rPr>
              <a:t>Run clean-room BCB</a:t>
            </a:r>
          </a:p>
        </p:txBody>
      </p:sp>
      <p:sp>
        <p:nvSpPr>
          <p:cNvPr id="24" name="">
            <a:extLst xmlns:a="http://schemas.openxmlformats.org/drawingml/2006/main">
              <a:ext uri="{FF2B5EF4-FFF2-40B4-BE49-F238E27FC236}">
                <a16:creationId xmlns:a16="http://schemas.microsoft.com/office/drawing/2014/main" id="{D7B03919-3526-42BD-AF7F-915695ED11F3}"/>
              </a:ext>
            </a:extLst>
          </p:cNvPr>
          <p:cNvSpPr>
            <a:spLocks xmlns:a="http://schemas.openxmlformats.org/drawingml/2006/main" noGrp="1"/>
          </p:cNvSpPr>
          <p:nvPr/>
        </p:nvSpPr>
        <p:spPr>
          <a:xfrm xmlns:a="http://schemas.openxmlformats.org/drawingml/2006/main">
            <a:off x="4762500" y="3448050"/>
            <a:ext cx="628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Use original compilable files; compare with fragment-wrapper V1</a:t>
            </a:r>
          </a:p>
        </p:txBody>
      </p:sp>
      <p:sp>
        <p:nvSpPr>
          <p:cNvPr id="25" name="">
            <a:extLst xmlns:a="http://schemas.openxmlformats.org/drawingml/2006/main">
              <a:ext uri="{FF2B5EF4-FFF2-40B4-BE49-F238E27FC236}">
                <a16:creationId xmlns:a16="http://schemas.microsoft.com/office/drawing/2014/main" id="{42E40AD4-EA2C-4950-9F0F-B0D40448044C}"/>
              </a:ext>
            </a:extLst>
          </p:cNvPr>
          <p:cNvSpPr>
            <a:spLocks xmlns:a="http://schemas.openxmlformats.org/drawingml/2006/main" noGrp="1"/>
          </p:cNvSpPr>
          <p:nvPr/>
        </p:nvSpPr>
        <p:spPr>
          <a:xfrm xmlns:a="http://schemas.openxmlformats.org/drawingml/2006/main">
            <a:off x="1476375" y="4114800"/>
            <a:ext cx="9525000" cy="0"/>
          </a:xfrm>
          <a:prstGeom xmlns:a="http://schemas.openxmlformats.org/drawingml/2006/main" prst="line">
            <a:avLst/>
          </a:prstGeom>
          <a:noFill xmlns:a="http://schemas.openxmlformats.org/drawingml/2006/main"/>
          <a:ln xmlns:a="http://schemas.openxmlformats.org/drawingml/2006/main" w="9525">
            <a:solidFill>
              <a:srgbClr val="E7E6E6"/>
            </a:solidFill>
            <a:prstDash val="solid"/>
          </a:ln>
        </p:spPr>
      </p:sp>
      <p:sp>
        <p:nvSpPr>
          <p:cNvPr id="26" name="">
            <a:extLst xmlns:a="http://schemas.openxmlformats.org/drawingml/2006/main">
              <a:ext uri="{FF2B5EF4-FFF2-40B4-BE49-F238E27FC236}">
                <a16:creationId xmlns:a16="http://schemas.microsoft.com/office/drawing/2014/main" id="{F4546BDF-0E68-4523-B2B8-110CC312BCCC}"/>
              </a:ext>
            </a:extLst>
          </p:cNvPr>
          <p:cNvSpPr>
            <a:spLocks xmlns:a="http://schemas.openxmlformats.org/drawingml/2006/main" noGrp="1"/>
          </p:cNvSpPr>
          <p:nvPr/>
        </p:nvSpPr>
        <p:spPr>
          <a:xfrm xmlns:a="http://schemas.openxmlformats.org/drawingml/2006/main">
            <a:off x="762000" y="4391025"/>
            <a:ext cx="447675" cy="447675"/>
          </a:xfrm>
          <a:prstGeom xmlns:a="http://schemas.openxmlformats.org/drawingml/2006/main" prst="ellipse">
            <a:avLst/>
          </a:prstGeom>
          <a:solidFill xmlns:a="http://schemas.openxmlformats.org/drawingml/2006/main">
            <a:srgbClr val="E7E6E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F4B9748-EB81-4384-A377-235B1BDD216B}"/>
              </a:ext>
            </a:extLst>
          </p:cNvPr>
          <p:cNvSpPr>
            <a:spLocks xmlns:a="http://schemas.openxmlformats.org/drawingml/2006/main" noGrp="1"/>
          </p:cNvSpPr>
          <p:nvPr/>
        </p:nvSpPr>
        <p:spPr>
          <a:xfrm xmlns:a="http://schemas.openxmlformats.org/drawingml/2006/main">
            <a:off x="762000" y="4391025"/>
            <a:ext cx="4476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650" b="1">
                <a:solidFill>
                  <a:srgbClr val="4F2683"/>
                </a:solidFill>
                <a:latin typeface="Aptos"/>
                <a:ea typeface="Aptos"/>
                <a:cs typeface="Aptos"/>
              </a:defRPr>
            </a:pPr>
            <a:r>
              <a:rPr sz="1650" b="1">
                <a:solidFill>
                  <a:srgbClr val="4F2683"/>
                </a:solidFill>
                <a:latin typeface="Aptos"/>
                <a:ea typeface="Aptos"/>
                <a:cs typeface="Aptos"/>
              </a:rPr>
              <a:t>4</a:t>
            </a:r>
          </a:p>
        </p:txBody>
      </p:sp>
      <p:sp>
        <p:nvSpPr>
          <p:cNvPr id="28" name="">
            <a:extLst xmlns:a="http://schemas.openxmlformats.org/drawingml/2006/main">
              <a:ext uri="{FF2B5EF4-FFF2-40B4-BE49-F238E27FC236}">
                <a16:creationId xmlns:a16="http://schemas.microsoft.com/office/drawing/2014/main" id="{371C90B0-B8A6-426F-B1AA-3259F0B6D615}"/>
              </a:ext>
            </a:extLst>
          </p:cNvPr>
          <p:cNvSpPr>
            <a:spLocks xmlns:a="http://schemas.openxmlformats.org/drawingml/2006/main" noGrp="1"/>
          </p:cNvSpPr>
          <p:nvPr/>
        </p:nvSpPr>
        <p:spPr>
          <a:xfrm xmlns:a="http://schemas.openxmlformats.org/drawingml/2006/main">
            <a:off x="1476375" y="43719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1">
                <a:solidFill>
                  <a:srgbClr val="232323"/>
                </a:solidFill>
                <a:latin typeface="Aptos"/>
                <a:ea typeface="Aptos"/>
                <a:cs typeface="Aptos"/>
              </a:defRPr>
            </a:pPr>
            <a:r>
              <a:rPr sz="1725" b="1">
                <a:solidFill>
                  <a:srgbClr val="232323"/>
                </a:solidFill>
                <a:latin typeface="Aptos"/>
                <a:ea typeface="Aptos"/>
                <a:cs typeface="Aptos"/>
              </a:rPr>
              <a:t>Freeze paper tables</a:t>
            </a:r>
          </a:p>
        </p:txBody>
      </p:sp>
      <p:sp>
        <p:nvSpPr>
          <p:cNvPr id="29" name="">
            <a:extLst xmlns:a="http://schemas.openxmlformats.org/drawingml/2006/main">
              <a:ext uri="{FF2B5EF4-FFF2-40B4-BE49-F238E27FC236}">
                <a16:creationId xmlns:a16="http://schemas.microsoft.com/office/drawing/2014/main" id="{B1336266-64CB-4C94-93C0-DABBA15A8DDD}"/>
              </a:ext>
            </a:extLst>
          </p:cNvPr>
          <p:cNvSpPr>
            <a:spLocks xmlns:a="http://schemas.openxmlformats.org/drawingml/2006/main" noGrp="1"/>
          </p:cNvSpPr>
          <p:nvPr/>
        </p:nvSpPr>
        <p:spPr>
          <a:xfrm xmlns:a="http://schemas.openxmlformats.org/drawingml/2006/main">
            <a:off x="4762500" y="4371975"/>
            <a:ext cx="628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666666"/>
                </a:solidFill>
                <a:latin typeface="Aptos"/>
                <a:ea typeface="Aptos"/>
                <a:cs typeface="Aptos"/>
              </a:defRPr>
            </a:pPr>
            <a:r>
              <a:rPr sz="1350" b="0">
                <a:solidFill>
                  <a:srgbClr val="666666"/>
                </a:solidFill>
                <a:latin typeface="Aptos"/>
                <a:ea typeface="Aptos"/>
                <a:cs typeface="Aptos"/>
              </a:rPr>
              <a:t>Separate observable vs unobservable operators; formalize performance setup</a:t>
            </a:r>
          </a:p>
        </p:txBody>
      </p:sp>
      <p:sp>
        <p:nvSpPr>
          <p:cNvPr id="30" name="">
            <a:extLst xmlns:a="http://schemas.openxmlformats.org/drawingml/2006/main">
              <a:ext uri="{FF2B5EF4-FFF2-40B4-BE49-F238E27FC236}">
                <a16:creationId xmlns:a16="http://schemas.microsoft.com/office/drawing/2014/main" id="{95B32B75-A81C-459A-AA9C-83A06047983B}"/>
              </a:ext>
            </a:extLst>
          </p:cNvPr>
          <p:cNvSpPr>
            <a:spLocks xmlns:a="http://schemas.openxmlformats.org/drawingml/2006/main" noGrp="1"/>
          </p:cNvSpPr>
          <p:nvPr/>
        </p:nvSpPr>
        <p:spPr>
          <a:xfrm xmlns:a="http://schemas.openxmlformats.org/drawingml/2006/main">
            <a:off x="1381125" y="5334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4155"/>
          </a:bodyPr>
          <a:lstStyle xmlns:a="http://schemas.openxmlformats.org/drawingml/2006/main"/>
          <a:p xmlns:a="http://schemas.openxmlformats.org/drawingml/2006/main">
            <a:pPr algn="ctr">
              <a:defRPr sz="1575" b="1">
                <a:solidFill>
                  <a:srgbClr val="4F2683"/>
                </a:solidFill>
                <a:latin typeface="Aptos"/>
                <a:ea typeface="Aptos"/>
                <a:cs typeface="Aptos"/>
              </a:defRPr>
            </a:pPr>
            <a:r>
              <a:rPr sz="1575" b="1">
                <a:solidFill>
                  <a:srgbClr val="4F2683"/>
                </a:solidFill>
                <a:latin typeface="Aptos"/>
                <a:ea typeface="Aptos"/>
                <a:cs typeface="Aptos"/>
              </a:rPr>
              <a:t>Expected outcome: one clean, defensible table for validity, operator accuracy, negatives, and runtime.</a:t>
            </a:r>
          </a:p>
        </p:txBody>
      </p:sp>
    </p:spTree>
    <p:extLst>
      <p:ext uri="{BB962C8B-B14F-4D97-AF65-F5344CB8AC3E}">
        <p14:creationId xmlns:p14="http://schemas.microsoft.com/office/powerpoint/2010/main" val="2585514165"/>
      </p:ext>
    </p:extLst>
  </p:cSld>
</p:sld>
</file>

<file path=ppt/theme/theme1.xml><?xml version="1.0" encoding="utf-8"?>
<a:theme xmlns:a="http://schemas.openxmlformats.org/drawingml/2006/main" name="Custom Design">
  <a:themeElements>
    <a:clrScheme name="Western PPT">
      <a:dk1>
        <a:srgbClr val="000000"/>
      </a:dk1>
      <a:lt1>
        <a:srgbClr val="FFFFFF"/>
      </a:lt1>
      <a:dk2>
        <a:srgbClr val="4F2683"/>
      </a:dk2>
      <a:lt2>
        <a:srgbClr val="E7E6E6"/>
      </a:lt2>
      <a:accent1>
        <a:srgbClr val="8F55E0"/>
      </a:accent1>
      <a:accent2>
        <a:srgbClr val="7DEAFB"/>
      </a:accent2>
      <a:accent3>
        <a:srgbClr val="B9F876"/>
      </a:accent3>
      <a:accent4>
        <a:srgbClr val="F0A757"/>
      </a:accent4>
      <a:accent5>
        <a:srgbClr val="8F55E0"/>
      </a:accent5>
      <a:accent6>
        <a:srgbClr val="7DEAFB"/>
      </a:accent6>
      <a:hlink>
        <a:srgbClr val="4F2683"/>
      </a:hlink>
      <a:folHlink>
        <a:srgbClr val="81828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estern PP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2026-07-30T05:07:20.2810000Z</dcterms:created>
  <dcterms:modified xsi:type="dcterms:W3CDTF">2026-07-30T05:07:20.2810000Z</dcterms:modified>
</coreProperties>
</file>