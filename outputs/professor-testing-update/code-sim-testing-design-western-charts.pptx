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22adedb01b4816" /><Relationship Type="http://schemas.openxmlformats.org/officeDocument/2006/relationships/extended-properties" Target="/docProps/app.xml" Id="R875686c8a5094561" /><Relationship Type="http://schemas.openxmlformats.org/officeDocument/2006/relationships/officeDocument" Target="/ppt/presentation.xml" Id="R46c8d4d32c7f4691" /></Relationships>
</file>

<file path=ppt/presentation.xml><?xml version="1.0" encoding="utf-8"?>
<p:presentation xmlns:p="http://schemas.openxmlformats.org/presentationml/2006/main">
  <p:sldMasterIdLst>
    <p:sldMasterId xmlns:r="http://schemas.openxmlformats.org/officeDocument/2006/relationships" id="2147483648" r:id="Ra981fced8238433e"/>
  </p:sldMasterIdLst>
  <p:notesMasterIdLst>
    <p:notesMasterId xmlns:r="http://schemas.openxmlformats.org/officeDocument/2006/relationships" r:id="R71e456b180cb4bb7"/>
  </p:notesMasterIdLst>
  <p:sldIdLst>
    <p:sldId xmlns:r="http://schemas.openxmlformats.org/officeDocument/2006/relationships" id="256" r:id="Rfc52b3e8c82a43d9"/>
    <p:sldId xmlns:r="http://schemas.openxmlformats.org/officeDocument/2006/relationships" id="257" r:id="Rfd1fd96007894b39"/>
    <p:sldId xmlns:r="http://schemas.openxmlformats.org/officeDocument/2006/relationships" id="258" r:id="R6ff7707e72464ac4"/>
    <p:sldId xmlns:r="http://schemas.openxmlformats.org/officeDocument/2006/relationships" id="259" r:id="Rf11d67b800bc419c"/>
    <p:sldId xmlns:r="http://schemas.openxmlformats.org/officeDocument/2006/relationships" id="260" r:id="R37a2bc968f204c9f"/>
    <p:sldId xmlns:r="http://schemas.openxmlformats.org/officeDocument/2006/relationships" id="261" r:id="R31a73e93156d4d69"/>
    <p:sldId xmlns:r="http://schemas.openxmlformats.org/officeDocument/2006/relationships" id="262" r:id="R64a086ef3e0441c2"/>
    <p:sldId xmlns:r="http://schemas.openxmlformats.org/officeDocument/2006/relationships" id="263" r:id="Rb2cd67025e3c4bad"/>
    <p:sldId xmlns:r="http://schemas.openxmlformats.org/officeDocument/2006/relationships" id="264" r:id="Rad939702b0ed4d1a"/>
    <p:sldId xmlns:r="http://schemas.openxmlformats.org/officeDocument/2006/relationships" id="265" r:id="R377c4d376b7544df"/>
    <p:sldId xmlns:r="http://schemas.openxmlformats.org/officeDocument/2006/relationships" id="266" r:id="R24b857e0f9954b97"/>
    <p:sldId xmlns:r="http://schemas.openxmlformats.org/officeDocument/2006/relationships" id="267" r:id="R48230a52479141f0"/>
    <p:sldId xmlns:r="http://schemas.openxmlformats.org/officeDocument/2006/relationships" id="268" r:id="R195b22d1e8324374"/>
    <p:sldId xmlns:r="http://schemas.openxmlformats.org/officeDocument/2006/relationships" id="269" r:id="R241e4c19c11c4067"/>
  </p:sldIdLst>
  <p:sldSz cx="12192000" cy="6858000"/>
  <p:notesSz cx="6858000" cy="9144000"/>
</p:presentation>
</file>

<file path=ppt/authors.xml><?xml version="1.0" encoding="utf-8"?>
<p188:authorLst xmlns:p188="http://schemas.microsoft.com/office/powerpoint/2018/8/main">
  <p188:author id="{06653A29-79AB-ED40-7E81-7E1B90306C79}" name="Lindsay Wiley" initials="LW" userId="S::larnol9@uwo.ca::f5f5da08-2706-4cc8-9ee9-3303944ea907" providerId="AD"/>
  <p188:author id="{27B49274-4AC4-6CF1-4703-241EE979471F}" name="Crystal Carter" initials="CC" userId="S::ccarte82@uwo.ca::a6bbf219-e6ce-4bec-b1d8-c380711a6edd" providerId="AD"/>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498df1dd1a14a0f" /><Relationship Type="http://schemas.openxmlformats.org/officeDocument/2006/relationships/slideMaster" Target="/ppt/slideMasters/slideMaster1.xml" Id="Ra981fced8238433e" /><Relationship Type="http://schemas.openxmlformats.org/officeDocument/2006/relationships/notesMaster" Target="/ppt/notesMasters/notesMaster1.xml" Id="R71e456b180cb4bb7" /><Relationship Type="http://schemas.openxmlformats.org/officeDocument/2006/relationships/presProps" Target="/ppt/presProps.xml" Id="R97e6c509da3043b2" /><Relationship Type="http://schemas.openxmlformats.org/officeDocument/2006/relationships/viewProps" Target="/ppt/viewProps.xml" Id="Rf0bdf43dc2924367" /><Relationship Type="http://schemas.openxmlformats.org/officeDocument/2006/relationships/tableStyles" Target="/ppt/tableStyles.xml" Id="R0c10750bd1124a4e" /><Relationship Type="http://schemas.microsoft.com/office/2018/10/relationships/authors" Target="/ppt/authors.xml" Id="R6e381a42574448e5" /><Relationship Type="http://schemas.openxmlformats.org/officeDocument/2006/relationships/slide" Target="/ppt/slides/slide1.xml" Id="Rfc52b3e8c82a43d9" /><Relationship Type="http://schemas.openxmlformats.org/officeDocument/2006/relationships/slide" Target="/ppt/slides/slide2.xml" Id="Rfd1fd96007894b39" /><Relationship Type="http://schemas.openxmlformats.org/officeDocument/2006/relationships/slide" Target="/ppt/slides/slide3.xml" Id="R6ff7707e72464ac4" /><Relationship Type="http://schemas.openxmlformats.org/officeDocument/2006/relationships/slide" Target="/ppt/slides/slide4.xml" Id="Rf11d67b800bc419c" /><Relationship Type="http://schemas.openxmlformats.org/officeDocument/2006/relationships/slide" Target="/ppt/slides/slide5.xml" Id="R37a2bc968f204c9f" /><Relationship Type="http://schemas.openxmlformats.org/officeDocument/2006/relationships/slide" Target="/ppt/slides/slide6.xml" Id="R31a73e93156d4d69" /><Relationship Type="http://schemas.openxmlformats.org/officeDocument/2006/relationships/slide" Target="/ppt/slides/slide7.xml" Id="R64a086ef3e0441c2" /><Relationship Type="http://schemas.openxmlformats.org/officeDocument/2006/relationships/slide" Target="/ppt/slides/slide8.xml" Id="Rb2cd67025e3c4bad" /><Relationship Type="http://schemas.openxmlformats.org/officeDocument/2006/relationships/slide" Target="/ppt/slides/slide9.xml" Id="Rad939702b0ed4d1a" /><Relationship Type="http://schemas.openxmlformats.org/officeDocument/2006/relationships/slide" Target="/ppt/slides/slide10.xml" Id="R377c4d376b7544df" /><Relationship Type="http://schemas.openxmlformats.org/officeDocument/2006/relationships/slide" Target="/ppt/slides/slide11.xml" Id="R24b857e0f9954b97" /><Relationship Type="http://schemas.openxmlformats.org/officeDocument/2006/relationships/slide" Target="/ppt/slides/slide12.xml" Id="R48230a52479141f0" /><Relationship Type="http://schemas.openxmlformats.org/officeDocument/2006/relationships/slide" Target="/ppt/slides/slide13.xml" Id="R195b22d1e8324374" /><Relationship Type="http://schemas.openxmlformats.org/officeDocument/2006/relationships/slide" Target="/ppt/slides/slide14.xml" Id="R241e4c19c11c40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941f9992ac42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ustom Design">
  <a:themeElements>
    <a:clrScheme name="Western PPT">
      <a:dk1>
        <a:srgbClr val="000000"/>
      </a:dk1>
      <a:lt1>
        <a:srgbClr val="FFFFFF"/>
      </a:lt1>
      <a:dk2>
        <a:srgbClr val="4F2683"/>
      </a:dk2>
      <a:lt2>
        <a:srgbClr val="E7E6E6"/>
      </a:lt2>
      <a:accent1>
        <a:srgbClr val="8F55E0"/>
      </a:accent1>
      <a:accent2>
        <a:srgbClr val="7DEAFB"/>
      </a:accent2>
      <a:accent3>
        <a:srgbClr val="B9F876"/>
      </a:accent3>
      <a:accent4>
        <a:srgbClr val="F0A757"/>
      </a:accent4>
      <a:accent5>
        <a:srgbClr val="8F55E0"/>
      </a:accent5>
      <a:accent6>
        <a:srgbClr val="7DEAFB"/>
      </a:accent6>
      <a:hlink>
        <a:srgbClr val="4F2683"/>
      </a:hlink>
      <a:folHlink>
        <a:srgbClr val="818283"/>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estern PP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e8b69e4d2440b4" /><Relationship Type="http://schemas.openxmlformats.org/officeDocument/2006/relationships/notesMaster" Target="/ppt/notesMasters/notesMaster1.xml" Id="R3d0ecfda7a4c40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7da07b73774996" /><Relationship Type="http://schemas.openxmlformats.org/officeDocument/2006/relationships/notesMaster" Target="/ppt/notesMasters/notesMaster1.xml" Id="R970b4140bb6844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51c8f3536d4c16" /><Relationship Type="http://schemas.openxmlformats.org/officeDocument/2006/relationships/notesMaster" Target="/ppt/notesMasters/notesMaster1.xml" Id="Refb737a878284a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f8f7abda2648aa" /><Relationship Type="http://schemas.openxmlformats.org/officeDocument/2006/relationships/notesMaster" Target="/ppt/notesMasters/notesMaster1.xml" Id="R8ed19bfa1f3a4c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af87ecb6214887" /><Relationship Type="http://schemas.openxmlformats.org/officeDocument/2006/relationships/notesMaster" Target="/ppt/notesMasters/notesMaster1.xml" Id="Rcbc2710f91474b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a379d099d14744" /><Relationship Type="http://schemas.openxmlformats.org/officeDocument/2006/relationships/notesMaster" Target="/ppt/notesMasters/notesMaster1.xml" Id="Rf7518822124542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3d5fddaa8642c4" /><Relationship Type="http://schemas.openxmlformats.org/officeDocument/2006/relationships/notesMaster" Target="/ppt/notesMasters/notesMaster1.xml" Id="Red55d7a868174f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fe1890b2144259" /><Relationship Type="http://schemas.openxmlformats.org/officeDocument/2006/relationships/notesMaster" Target="/ppt/notesMasters/notesMaster1.xml" Id="R7d354595a2fa444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7e4927b4b84b67" /><Relationship Type="http://schemas.openxmlformats.org/officeDocument/2006/relationships/notesMaster" Target="/ppt/notesMasters/notesMaster1.xml" Id="Rc44480e0d3d54f6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2dd6f19b844ef8" /><Relationship Type="http://schemas.openxmlformats.org/officeDocument/2006/relationships/notesMaster" Target="/ppt/notesMasters/notesMaster1.xml" Id="R64f34712f25740b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162b55c8bc4e92" /><Relationship Type="http://schemas.openxmlformats.org/officeDocument/2006/relationships/notesMaster" Target="/ppt/notesMasters/notesMaster1.xml" Id="Rb091e6e711ad44e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4d41b117c8440db" /><Relationship Type="http://schemas.openxmlformats.org/officeDocument/2006/relationships/notesMaster" Target="/ppt/notesMasters/notesMaster1.xml" Id="R1ff00e12e3b5472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5f254819561429d" /><Relationship Type="http://schemas.openxmlformats.org/officeDocument/2006/relationships/notesMaster" Target="/ppt/notesMasters/notesMaster1.xml" Id="R298b6fbee9c44b3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9043050ab8d4255" /><Relationship Type="http://schemas.openxmlformats.org/officeDocument/2006/relationships/notesMaster" Target="/ppt/notesMasters/notesMaster1.xml" Id="R41deda92692044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this update explains how the testing design evolved, what the current evidence supports, and which decisions remain.</a:t>
            </a:r>
          </a:p>
          <a:p xmlns:a="http://schemas.openxmlformats.org/drawingml/2006/main">
            <a:r>
              <a:t/>
            </a:r>
          </a:p>
          <a:p xmlns:a="http://schemas.openxmlformats.org/drawingml/2006/main">
            <a:r>
              <a:t>[Sources]</a:t>
            </a:r>
          </a:p>
          <a:p xmlns:a="http://schemas.openxmlformats.org/drawingml/2006/main">
            <a:r>
              <a:t>- /Users/liuziqi/Documents/西大Graduate/Project_base/进度日志/会议/2026July16th/2026July16thpptx.pptx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evaluation as several separate questions, not one accuracy number.</a:t>
            </a:r>
          </a:p>
          <a:p xmlns:a="http://schemas.openxmlformats.org/drawingml/2006/main">
            <a:r>
              <a:t/>
            </a:r>
          </a:p>
          <a:p xmlns:a="http://schemas.openxmlformats.org/drawingml/2006/main">
            <a:r>
              <a:t>[Sources]</a:t>
            </a:r>
          </a:p>
          <a:p xmlns:a="http://schemas.openxmlformats.org/drawingml/2006/main">
            <a:r>
              <a:t>- /Users/liuziqi/Documents/西大Graduate/Project_base/Code/Meng_ProjectBased_DetectCodeSimilar/code-sim/evaluation/paper_evaluation_protocol.md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only as a short reminder of the evidence labels used by the detector.</a:t>
            </a:r>
          </a:p>
          <a:p xmlns:a="http://schemas.openxmlformats.org/drawingml/2006/main">
            <a:r>
              <a:t/>
            </a:r>
          </a:p>
          <a:p xmlns:a="http://schemas.openxmlformats.org/drawingml/2006/main">
            <a:r>
              <a:t>[Sources]</a:t>
            </a:r>
          </a:p>
          <a:p xmlns:a="http://schemas.openxmlformats.org/drawingml/2006/main">
            <a:r>
              <a:t>- /Users/liuziqi/Documents/西大Graduate/Project_base/进度日志/会议/2026July16th/2026July16thpptx.pptx</a:t>
            </a:r>
          </a:p>
          <a:p xmlns:a="http://schemas.openxmlformats.org/drawingml/2006/main">
            <a:r>
              <a:t>- /Users/liuziqi/Documents/西大Graduate/Project_base/Code/Meng_ProjectBased_DetectCodeSimilar/code-sim/evaluation/paper_evaluation_protocol.md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 design changed because the BCB pilots exposed an input-validity problem, not because the numbers were inconvenient.</a:t>
            </a:r>
          </a:p>
          <a:p xmlns:a="http://schemas.openxmlformats.org/drawingml/2006/main">
            <a:r>
              <a:t/>
            </a:r>
          </a:p>
          <a:p xmlns:a="http://schemas.openxmlformats.org/drawingml/2006/main">
            <a:r>
              <a:t>[Sources]</a:t>
            </a:r>
          </a:p>
          <a:p xmlns:a="http://schemas.openxmlformats.org/drawingml/2006/main">
            <a:r>
              <a:t>- /Users/liuziqi/Documents/西大Graduate/Project_base/Code/Meng_ProjectBased_DetectCodeSimilar/code-sim/results/bcb_smoke/scored/summary.md</a:t>
            </a:r>
          </a:p>
          <a:p xmlns:a="http://schemas.openxmlformats.org/drawingml/2006/main">
            <a:r>
              <a:t>- /Users/liuziqi/Documents/西大Graduate/Project_base/Code/Meng_ProjectBased_DetectCodeSimilar/code-sim/results/bcb_full_scored/summary.md</a:t>
            </a:r>
          </a:p>
          <a:p xmlns:a="http://schemas.openxmlformats.org/drawingml/2006/main">
            <a:r>
              <a:t>- /Users/liuziqi/Documents/西大Graduate/Project_base/Code/Meng_ProjectBased_DetectCodeSimilar/code-sim/evaluation/paper_evaluation_protocol.md</a:t>
            </a:r>
          </a:p>
          <a:p xmlns:a="http://schemas.openxmlformats.org/drawingml/2006/main">
            <a:r>
              <a:t>- /Users/liuziqi/Documents/西大Graduate/Project_base/Code/Meng_ProjectBased_DetectCodeSimilar/code-sim/results/formal-v1/ANALYSIS.md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that input validity and full-path completion are measured outcomes, not assumptions.</a:t>
            </a:r>
          </a:p>
          <a:p xmlns:a="http://schemas.openxmlformats.org/drawingml/2006/main">
            <a:r>
              <a:t/>
            </a:r>
          </a:p>
          <a:p xmlns:a="http://schemas.openxmlformats.org/drawingml/2006/main">
            <a:r>
              <a:t>[Sources]</a:t>
            </a:r>
          </a:p>
          <a:p xmlns:a="http://schemas.openxmlformats.org/drawingml/2006/main">
            <a:r>
              <a:t>- /Users/liuziqi/Documents/西大Graduate/Project_base/Code/Meng_ProjectBased_DetectCodeSimilar/code-sim/evaluation/paper_evaluation_protocol.md</a:t>
            </a:r>
          </a:p>
          <a:p xmlns:a="http://schemas.openxmlformats.org/drawingml/2006/main">
            <a:r>
              <a:t>- /Users/liuziqi/Documents/西大Graduate/Project_base/Code/Meng_ProjectBased_DetectCodeSimilar/code-sim/results/formal-v1/FREEZE.md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paired bars separate detection from correct type recovery. T1, T2 and ST3 are strong in this smoke set; VST3 loses type accuracy and MT3 is the clear weakness. The validity check matters more than the headline rates: only 22 of 140 pairs completed the full semantic path.</a:t>
            </a:r>
          </a:p>
          <a:p xmlns:a="http://schemas.openxmlformats.org/drawingml/2006/main">
            <a:r>
              <a:t/>
            </a:r>
          </a:p>
          <a:p xmlns:a="http://schemas.openxmlformats.org/drawingml/2006/main">
            <a:r>
              <a:t>[Sources]</a:t>
            </a:r>
          </a:p>
          <a:p xmlns:a="http://schemas.openxmlformats.org/drawingml/2006/main">
            <a:r>
              <a:t>- /Users/liuziqi/Documents/西大Graduate/Project_base/Code/Meng_ProjectBased_DetectCodeSimilar/README.md</a:t>
            </a:r>
          </a:p>
          <a:p xmlns:a="http://schemas.openxmlformats.org/drawingml/2006/main">
            <a:r>
              <a:t>- /Users/liuziqi/Documents/西大Graduate/Project_base/Code/Meng_ProjectBased_DetectCodeSimilar/code-sim/results/bcb_smoke/summary.md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diagnostic run reproduces the smoke pattern at scale. T1 and T2 remain strong, VST3 detection is high but type recovery falls, and MT3 remains the dominant gap. Because this is still the wrapper-fragment path, the result is quarantined from paper claims.</a:t>
            </a:r>
          </a:p>
          <a:p xmlns:a="http://schemas.openxmlformats.org/drawingml/2006/main">
            <a:r>
              <a:t/>
            </a:r>
          </a:p>
          <a:p xmlns:a="http://schemas.openxmlformats.org/drawingml/2006/main">
            <a:r>
              <a:t>[Sources]</a:t>
            </a:r>
          </a:p>
          <a:p xmlns:a="http://schemas.openxmlformats.org/drawingml/2006/main">
            <a:r>
              <a:t>- /Users/liuziqi/Documents/西大Graduate/Project_base/Code/Meng_ProjectBased_DetectCodeSimilar/code-sim/results/bcb_full_scored/summary.md</a:t>
            </a:r>
          </a:p>
          <a:p xmlns:a="http://schemas.openxmlformats.org/drawingml/2006/main">
            <a:r>
              <a:t>- /Users/liuziqi/Documents/西大Graduate/Project_base/Code/Meng_ProjectBased_DetectCodeSimilar/code-sim/evaluation/paper_evaluation_protocol.md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July wrapper-fragment runs stay visible as engineering evidence, but they cannot be mixed with the planned clean-room BCB experiment.</a:t>
            </a:r>
          </a:p>
          <a:p xmlns:a="http://schemas.openxmlformats.org/drawingml/2006/main">
            <a:r>
              <a:t/>
            </a:r>
          </a:p>
          <a:p xmlns:a="http://schemas.openxmlformats.org/drawingml/2006/main">
            <a:r>
              <a:t>[Sources]</a:t>
            </a:r>
          </a:p>
          <a:p xmlns:a="http://schemas.openxmlformats.org/drawingml/2006/main">
            <a:r>
              <a:t>- /Users/liuziqi/Documents/西大Graduate/Project_base/Code/Meng_ProjectBased_DetectCodeSimilar/code-sim/evaluation/paper_evaluation_protocol.md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E2-adapted supplementary instrument: controlled and compilable, but not identical to official MIF execution.</a:t>
            </a:r>
          </a:p>
          <a:p xmlns:a="http://schemas.openxmlformats.org/drawingml/2006/main">
            <a:r>
              <a:t/>
            </a:r>
          </a:p>
          <a:p xmlns:a="http://schemas.openxmlformats.org/drawingml/2006/main">
            <a:r>
              <a:t>[Sources]</a:t>
            </a:r>
          </a:p>
          <a:p xmlns:a="http://schemas.openxmlformats.org/drawingml/2006/main">
            <a:r>
              <a:t>- /Users/liuziqi/Documents/西大Graduate/Project_base/Code/Meng_ProjectBased_DetectCodeSimilar/code-sim/results/formal-v1/FREEZE.md</a:t>
            </a:r>
          </a:p>
          <a:p xmlns:a="http://schemas.openxmlformats.org/drawingml/2006/main">
            <a:r>
              <a:t>- /Users/liuziqi/Documents/西大Graduate/Project_base/Code/Meng_ProjectBased_DetectCodeSimilar/mutation-gen/src/main/java/com/ziqi/mutgen/RegionCorpusGenerator.java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lesson is methodological: reference derivation must be auditable, and raw detector output must remain immutable.</a:t>
            </a:r>
          </a:p>
          <a:p xmlns:a="http://schemas.openxmlformats.org/drawingml/2006/main">
            <a:r>
              <a:t/>
            </a:r>
          </a:p>
          <a:p xmlns:a="http://schemas.openxmlformats.org/drawingml/2006/main">
            <a:r>
              <a:t>[Sources]</a:t>
            </a:r>
          </a:p>
          <a:p xmlns:a="http://schemas.openxmlformats.org/drawingml/2006/main">
            <a:r>
              <a:t>- /Users/liuziqi/Documents/西大Graduate/Project_base/Code/Meng_ProjectBased_DetectCodeSimilar/code-sim/results/formal-v1/HANDOFF.md</a:t>
            </a:r>
          </a:p>
          <a:p xmlns:a="http://schemas.openxmlformats.org/drawingml/2006/main">
            <a:r>
              <a:t>- /Users/liuziqi/Documents/西大Graduate/Project_base/Code/Meng_ProjectBased_DetectCodeSimilar/code-sim/results/formal-v1/ANALYSIS.md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four batches contain 1,000 status=ok and 1,000 SOURCE_PLUS_WALA_SMT records.</a:t>
            </a:r>
          </a:p>
          <a:p xmlns:a="http://schemas.openxmlformats.org/drawingml/2006/main">
            <a:r>
              <a:t/>
            </a:r>
          </a:p>
          <a:p xmlns:a="http://schemas.openxmlformats.org/drawingml/2006/main">
            <a:r>
              <a:t>[Sources]</a:t>
            </a:r>
          </a:p>
          <a:p xmlns:a="http://schemas.openxmlformats.org/drawingml/2006/main">
            <a:r>
              <a:t>- /Users/liuziqi/Documents/西大Graduate/Project_base/Code/Meng_ProjectBased_DetectCodeSimilar/code-sim/results/formal-v1/ANALYSIS.md</a:t>
            </a:r>
          </a:p>
          <a:p xmlns:a="http://schemas.openxmlformats.org/drawingml/2006/main">
            <a:r>
              <a:t>- /Users/liuziqi/Documents/西大Graduate/Project_base/Code/Meng_ProjectBased_DetectCodeSimilar/code-sim/results/formal-v1/batch1/raw/merged.jsonl.gz</a:t>
            </a:r>
          </a:p>
          <a:p xmlns:a="http://schemas.openxmlformats.org/drawingml/2006/main">
            <a:r>
              <a:t>- /Users/liuziqi/Documents/西大Graduate/Project_base/Code/Meng_ProjectBased_DetectCodeSimilar/code-sim/results/formal-v1/batch2/raw/merged.jsonl.gz</a:t>
            </a:r>
          </a:p>
          <a:p xmlns:a="http://schemas.openxmlformats.org/drawingml/2006/main">
            <a:r>
              <a:t>- /Users/liuziqi/Documents/西大Graduate/Project_base/Code/Meng_ProjectBased_DetectCodeSimilar/code-sim/results/formal-v1/batch3/raw/merged.jsonl.gz</a:t>
            </a:r>
          </a:p>
          <a:p xmlns:a="http://schemas.openxmlformats.org/drawingml/2006/main">
            <a:r>
              <a:t>- /Users/liuziqi/Documents/西大Graduate/Project_base/Code/Meng_ProjectBased_DetectCodeSimilar/code-sim/results/formal-v1/batch4/raw/merged.jsonl.gz</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measurable operators are above 98 percent type-correct. Insert and delete are lower because of a corpus-generation artifact and are separated into the Batch 5 validation arm. Blank-line and block-comment mutations do not have a statement extent, so their apparent rates should not be quoted.</a:t>
            </a:r>
          </a:p>
          <a:p xmlns:a="http://schemas.openxmlformats.org/drawingml/2006/main">
            <a:r>
              <a:t/>
            </a:r>
          </a:p>
          <a:p xmlns:a="http://schemas.openxmlformats.org/drawingml/2006/main">
            <a:r>
              <a:t>[Sources]</a:t>
            </a:r>
          </a:p>
          <a:p xmlns:a="http://schemas.openxmlformats.org/drawingml/2006/main">
            <a:r>
              <a:t>- /Users/liuziqi/Documents/西大Graduate/Project_base/Code/Meng_ProjectBased_DetectCodeSimilar/code-sim/results/formal-v1/ANALYSIS.md</a:t>
            </a:r>
          </a:p>
          <a:p xmlns:a="http://schemas.openxmlformats.org/drawingml/2006/main">
            <a:r>
              <a:t>- /Users/liuziqi/Documents/西大Graduate/Project_base/Code/Meng_ProjectBased_DetectCodeSimilar/code-sim/results/formal-v1/HANDOFF.md</a:t>
            </a:r>
          </a:p>
          <a:p xmlns:a="http://schemas.openxmlformats.org/drawingml/2006/main">
            <a:r>
              <a:t>- /Users/liuziqi/Documents/西大Graduate/Project_base/Code/Meng_ProjectBased_DetectCodeSimilar/code-sim/docs/decision-log.md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100-pair negative pilot separates no output, exploratory-only output, and explicit syntactic claims. Nineteen pairs emitted something under the strict product definition, but only two claimed a syntactic clone type. The 21 possible T4 regions remain exploratory and are not yet a recall estimate.</a:t>
            </a:r>
          </a:p>
          <a:p xmlns:a="http://schemas.openxmlformats.org/drawingml/2006/main">
            <a:r>
              <a:t/>
            </a:r>
          </a:p>
          <a:p xmlns:a="http://schemas.openxmlformats.org/drawingml/2006/main">
            <a:r>
              <a:t>[Sources]</a:t>
            </a:r>
          </a:p>
          <a:p xmlns:a="http://schemas.openxmlformats.org/drawingml/2006/main">
            <a:r>
              <a:t>- /Users/liuziqi/Documents/西大Graduate/Project_base/Code/Meng_ProjectBased_DetectCodeSimilar/code-sim/results/formal-v1/RESULTS.md</a:t>
            </a:r>
          </a:p>
          <a:p xmlns:a="http://schemas.openxmlformats.org/drawingml/2006/main">
            <a:r>
              <a:t>- /Users/liuziqi/Documents/西大Graduate/Project_base/Code/Meng_ProjectBased_DetectCodeSimilar/code-sim/results/formal-v1/HANDOFF.md</a:t>
            </a:r>
          </a:p>
          <a:p xmlns:a="http://schemas.openxmlformats.org/drawingml/2006/main">
            <a:r>
              <a:t>- /Users/liuziqi/Documents/西大Graduate/Project_base/Code/Meng_ProjectBased_DetectCodeSimilar/code-sim/docs/decision-log.md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Discussion prompts: approve the clean-room BCB run; confirm the final GT rule; validate the separate Batch 5 arm; choose the negative-pair scale; freeze the paper claim boundary.</a:t>
            </a:r>
          </a:p>
          <a:p xmlns:a="http://schemas.openxmlformats.org/drawingml/2006/main">
            <a:r>
              <a:t/>
            </a:r>
          </a:p>
          <a:p xmlns:a="http://schemas.openxmlformats.org/drawingml/2006/main">
            <a:r>
              <a:t>[Sources]</a:t>
            </a:r>
          </a:p>
          <a:p xmlns:a="http://schemas.openxmlformats.org/drawingml/2006/main">
            <a:r>
              <a:t>- /Users/liuziqi/Documents/西大Graduate/Project_base/Code/Meng_ProjectBased_DetectCodeSimilar/code-sim/evaluation/paper_evaluation_protocol.md</a:t>
            </a:r>
          </a:p>
          <a:p xmlns:a="http://schemas.openxmlformats.org/drawingml/2006/main">
            <a:r>
              <a:t>- /Users/liuziqi/Documents/西大Graduate/Project_base/Code/Meng_ProjectBased_DetectCodeSimilar/code-sim/results/formal-v1/HANDOFF.md</a:t>
            </a:r>
          </a:p>
          <a:p xmlns:a="http://schemas.openxmlformats.org/drawingml/2006/main">
            <a:r>
              <a:t>- /Users/liuziqi/Documents/西大Graduate/Project_base/Code/Meng_ProjectBased_DetectCodeSimilar/code-sim/results/formal-v1/RESULTS.md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6c93bb3cba4c6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041d0980f1f47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6439244517432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8c4b4e8a31e4d7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f0404510dc1404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a4bb7860393459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20f9d6fa5ee4bb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c14b79f6d904d3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fb0c6695aad468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3a8316eaf1745f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ac4897ebd4c477d"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9BEE511-B03C-1057-AC41-916778E865E1}"/>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998BC20E-8A67-2533-0BEE-42FA56BA1FEC}"/>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E0E3950C-D78D-4FFD-7918-9AF623BD3D1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5" name="Footer Placeholder 4">
            <a:extLst xmlns:a="http://schemas.openxmlformats.org/drawingml/2006/main">
              <a:ext uri="{FF2B5EF4-FFF2-40B4-BE49-F238E27FC236}">
                <a16:creationId xmlns:a16="http://schemas.microsoft.com/office/drawing/2014/main" id="{567E8B0F-AB04-3D2D-70E0-A209AC0AFA7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813569-AF66-DC5C-197E-0EAF211549D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1EA5EC0-6F2E-1D49-9980-EEDE825FB3A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3CFF80C1-C4ED-D9CD-20D3-EF632343A8D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5" name="Footer Placeholder 4">
            <a:extLst xmlns:a="http://schemas.openxmlformats.org/drawingml/2006/main">
              <a:ext uri="{FF2B5EF4-FFF2-40B4-BE49-F238E27FC236}">
                <a16:creationId xmlns:a16="http://schemas.microsoft.com/office/drawing/2014/main" id="{697C28C4-0874-D93E-7FBD-E964E8BF3C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D7ACA2-8B6C-77F9-5D9F-47324639CD66}"/>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91BD387-471D-4EA7-FF61-64F548DDEC76}"/>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55C49DD-5F74-B022-C969-4E000A887B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5" name="Footer Placeholder 4">
            <a:extLst xmlns:a="http://schemas.openxmlformats.org/drawingml/2006/main">
              <a:ext uri="{FF2B5EF4-FFF2-40B4-BE49-F238E27FC236}">
                <a16:creationId xmlns:a16="http://schemas.microsoft.com/office/drawing/2014/main" id="{02188530-7F00-F90D-4003-EAD54EBD48F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2885BA3-93F9-8A28-143D-D7D1E32C674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D3C4454-4C7A-C5CA-C5B6-4FFBA2E7B461}"/>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36240780-7644-D8E0-BF20-1B3A4140A8F6}"/>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E37865DF-8228-AE80-2DDE-764E95A045F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6" name="Footer Placeholder 5">
            <a:extLst xmlns:a="http://schemas.openxmlformats.org/drawingml/2006/main">
              <a:ext uri="{FF2B5EF4-FFF2-40B4-BE49-F238E27FC236}">
                <a16:creationId xmlns:a16="http://schemas.microsoft.com/office/drawing/2014/main" id="{455AD19D-43B0-BEC0-872E-72DAFCACDAE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DE8CC55-D408-6132-BA6A-999BF5D5CAD4}"/>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F129F1D-29C9-6E5A-4A6B-CC3D1A9E31D0}"/>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88E02292-DDAE-231B-B53E-09E535AC14DF}"/>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3FC4B30A-12AA-B23B-8E92-282088A05160}"/>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79E8380-3F11-1CD5-D6EB-527B9716E200}"/>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E9B26C14-3F56-E521-3BB8-405DE83CA2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8" name="Footer Placeholder 7">
            <a:extLst xmlns:a="http://schemas.openxmlformats.org/drawingml/2006/main">
              <a:ext uri="{FF2B5EF4-FFF2-40B4-BE49-F238E27FC236}">
                <a16:creationId xmlns:a16="http://schemas.microsoft.com/office/drawing/2014/main" id="{406D5304-777D-69A0-50DA-5BFF62FBD6C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FC7157-CBA5-526F-5917-1E123BE5CB5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E364761E-FBFE-40C6-D0B9-C8134BD1991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4" name="Footer Placeholder 3">
            <a:extLst xmlns:a="http://schemas.openxmlformats.org/drawingml/2006/main">
              <a:ext uri="{FF2B5EF4-FFF2-40B4-BE49-F238E27FC236}">
                <a16:creationId xmlns:a16="http://schemas.microsoft.com/office/drawing/2014/main" id="{4EC95254-AFC3-E6D2-EE19-6B1F031D505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E2D7A6BE-CFA2-2FDA-9A86-AF5573A4101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3" name="Footer Placeholder 2">
            <a:extLst xmlns:a="http://schemas.openxmlformats.org/drawingml/2006/main">
              <a:ext uri="{FF2B5EF4-FFF2-40B4-BE49-F238E27FC236}">
                <a16:creationId xmlns:a16="http://schemas.microsoft.com/office/drawing/2014/main" id="{DAA657E0-7335-D103-ABCA-DFACDBFAA22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B8CEA00-56DC-F8AD-4DDD-C228A585C3DB}"/>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4FF75F3-4099-0A9F-F38E-881A13A92BAD}"/>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DE13B34D-22B5-A821-8983-F49DB210528C}"/>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303AD5E-FC21-5E9B-3670-0BB3CD7F6C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6" name="Footer Placeholder 5">
            <a:extLst xmlns:a="http://schemas.openxmlformats.org/drawingml/2006/main">
              <a:ext uri="{FF2B5EF4-FFF2-40B4-BE49-F238E27FC236}">
                <a16:creationId xmlns:a16="http://schemas.microsoft.com/office/drawing/2014/main" id="{FCCD3907-A0CA-19F3-CECC-5B2E6613DE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1A9D52-EC75-D287-905F-3E6D81BE99F5}"/>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63C4E19A-2F95-8AC6-4154-FC72AF8B21F7}"/>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1E14A2CB-2278-F53C-97EE-46C64B684246}"/>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58B3B7F-01E6-CE81-DD4F-39527D97648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6" name="Footer Placeholder 5">
            <a:extLst xmlns:a="http://schemas.openxmlformats.org/drawingml/2006/main">
              <a:ext uri="{FF2B5EF4-FFF2-40B4-BE49-F238E27FC236}">
                <a16:creationId xmlns:a16="http://schemas.microsoft.com/office/drawing/2014/main" id="{99516590-4901-71B2-0E21-774BDEAD7D3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41B3527-9C73-8E44-7416-930F102A158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F22E3B4A-1C4D-6D14-00BE-4F286E8E3B0F}"/>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430EBEA-37C1-CB02-3E0E-A04778C5BA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5" name="Footer Placeholder 4">
            <a:extLst xmlns:a="http://schemas.openxmlformats.org/drawingml/2006/main">
              <a:ext uri="{FF2B5EF4-FFF2-40B4-BE49-F238E27FC236}">
                <a16:creationId xmlns:a16="http://schemas.microsoft.com/office/drawing/2014/main" id="{10F0942E-D0E9-70F4-A8A0-A72264F615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642CB505-12D9-0A3C-7DA7-DD7D57F7702B}"/>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4A51F388-A3F9-6AB6-79A9-FF78AF488D3D}"/>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1A1B9B0-A8E0-8E33-992C-94059DA08FF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9AEEE3-55E4-E540-917E-4045A83131DD}" type="datetimeFigureOut">
              <a:t>7/6/26</a:t>
            </a:fld>
          </a:p>
        </p:txBody>
      </p:sp>
      <p:sp>
        <p:nvSpPr>
          <p:cNvPr id="5" name="Footer Placeholder 4">
            <a:extLst xmlns:a="http://schemas.openxmlformats.org/drawingml/2006/main">
              <a:ext uri="{FF2B5EF4-FFF2-40B4-BE49-F238E27FC236}">
                <a16:creationId xmlns:a16="http://schemas.microsoft.com/office/drawing/2014/main" id="{366C6898-6FB5-5C09-0A7E-0C493C4A87F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edcbf5179b4610" /><Relationship Type="http://schemas.openxmlformats.org/officeDocument/2006/relationships/slideLayout" Target="/ppt/slideLayouts/slideLayout1.xml" Id="Rabfca5cc6dbb41f8" /><Relationship Type="http://schemas.openxmlformats.org/officeDocument/2006/relationships/slideLayout" Target="/ppt/slideLayouts/slideLayout2.xml" Id="R9f8bd5c66c844c70" /><Relationship Type="http://schemas.openxmlformats.org/officeDocument/2006/relationships/slideLayout" Target="/ppt/slideLayouts/slideLayout3.xml" Id="R15d69ac14a414173" /><Relationship Type="http://schemas.openxmlformats.org/officeDocument/2006/relationships/slideLayout" Target="/ppt/slideLayouts/slideLayout4.xml" Id="Rf6fa3ad6c3de4a37" /><Relationship Type="http://schemas.openxmlformats.org/officeDocument/2006/relationships/slideLayout" Target="/ppt/slideLayouts/slideLayout5.xml" Id="Rffa589641f374bc2" /><Relationship Type="http://schemas.openxmlformats.org/officeDocument/2006/relationships/slideLayout" Target="/ppt/slideLayouts/slideLayout6.xml" Id="Rff19c740bd774998" /><Relationship Type="http://schemas.openxmlformats.org/officeDocument/2006/relationships/slideLayout" Target="/ppt/slideLayouts/slideLayout7.xml" Id="Re55ee86ec6f64032" /><Relationship Type="http://schemas.openxmlformats.org/officeDocument/2006/relationships/slideLayout" Target="/ppt/slideLayouts/slideLayout8.xml" Id="R93a091b4929a48bd" /><Relationship Type="http://schemas.openxmlformats.org/officeDocument/2006/relationships/slideLayout" Target="/ppt/slideLayouts/slideLayout9.xml" Id="R102f5ed3bc5f41ec" /><Relationship Type="http://schemas.openxmlformats.org/officeDocument/2006/relationships/slideLayout" Target="/ppt/slideLayouts/slideLayout10.xml" Id="Raf79080c44c24c85" /><Relationship Type="http://schemas.openxmlformats.org/officeDocument/2006/relationships/slideLayout" Target="/ppt/slideLayouts/slideLayout11.xml" Id="Rc74287c34a9e4e2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FCB4F55D-EBE1-D1EA-B810-A447897483CC}"/>
              </a:ext>
            </a:extLst>
          </p:cNvPr>
          <p:cNvSpPr>
            <a:spLocks xmlns:a="http://schemas.openxmlformats.org/drawingml/2006/main" noGrp="1"/>
          </p:cNvSpPr>
          <p:nvPr>
            <p:ph type="title" idx="0"/>
          </p:nvPr>
        </p:nvSpPr>
        <p:spPr>
          <a:xfrm xmlns:a="http://schemas.openxmlformats.org/drawingml/2006/main">
            <a:off x="485976" y="1365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196B3D9-9094-5036-3A11-8F8CBAC82426}"/>
              </a:ext>
            </a:extLst>
          </p:cNvPr>
          <p:cNvSpPr>
            <a:spLocks xmlns:a="http://schemas.openxmlformats.org/drawingml/2006/main" noGrp="1"/>
          </p:cNvSpPr>
          <p:nvPr>
            <p:ph type="body" idx="1"/>
          </p:nvPr>
        </p:nvSpPr>
        <p:spPr>
          <a:xfrm xmlns:a="http://schemas.openxmlformats.org/drawingml/2006/main">
            <a:off x="485976" y="1619625"/>
            <a:ext cx="10867824" cy="4069976"/>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0BC310F-0E2B-DC6C-3F47-15607130F121}"/>
              </a:ext>
            </a:extLst>
          </p:cNvPr>
          <p:cNvSpPr>
            <a:spLocks xmlns:a="http://schemas.openxmlformats.org/drawingml/2006/main" noGrp="1"/>
          </p:cNvSpPr>
          <p:nvPr>
            <p:ph type="dt" idx="2"/>
          </p:nvPr>
        </p:nvSpPr>
        <p:spPr>
          <a:xfrm xmlns:a="http://schemas.openxmlformats.org/drawingml/2006/main">
            <a:off x="485976"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349AEEE3-55E4-E540-917E-4045A83131DD}" type="datetimeFigureOut">
              <a:t>7/6/26</a:t>
            </a:fld>
          </a:p>
        </p:txBody>
      </p:sp>
      <p:sp>
        <p:nvSpPr>
          <p:cNvPr id="5" name="Footer Placeholder 4">
            <a:extLst xmlns:a="http://schemas.openxmlformats.org/drawingml/2006/main">
              <a:ext uri="{FF2B5EF4-FFF2-40B4-BE49-F238E27FC236}">
                <a16:creationId xmlns:a16="http://schemas.microsoft.com/office/drawing/2014/main" id="{6F324943-18B3-1648-247B-4434148D20DD}"/>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fca5cc6dbb41f8"/>
    <p:sldLayoutId xmlns:r="http://schemas.openxmlformats.org/officeDocument/2006/relationships" id="2147483650" r:id="R9f8bd5c66c844c70"/>
    <p:sldLayoutId xmlns:r="http://schemas.openxmlformats.org/officeDocument/2006/relationships" id="2147483651" r:id="R15d69ac14a414173"/>
    <p:sldLayoutId xmlns:r="http://schemas.openxmlformats.org/officeDocument/2006/relationships" id="2147483652" r:id="Rf6fa3ad6c3de4a37"/>
    <p:sldLayoutId xmlns:r="http://schemas.openxmlformats.org/officeDocument/2006/relationships" id="2147483653" r:id="Rffa589641f374bc2"/>
    <p:sldLayoutId xmlns:r="http://schemas.openxmlformats.org/officeDocument/2006/relationships" id="2147483654" r:id="Rff19c740bd774998"/>
    <p:sldLayoutId xmlns:r="http://schemas.openxmlformats.org/officeDocument/2006/relationships" id="2147483655" r:id="Re55ee86ec6f64032"/>
    <p:sldLayoutId xmlns:r="http://schemas.openxmlformats.org/officeDocument/2006/relationships" id="2147483656" r:id="R93a091b4929a48bd"/>
    <p:sldLayoutId xmlns:r="http://schemas.openxmlformats.org/officeDocument/2006/relationships" id="2147483657" r:id="R102f5ed3bc5f41ec"/>
    <p:sldLayoutId xmlns:r="http://schemas.openxmlformats.org/officeDocument/2006/relationships" id="2147483658" r:id="Raf79080c44c24c85"/>
    <p:sldLayoutId xmlns:r="http://schemas.openxmlformats.org/officeDocument/2006/relationships" id="2147483659" r:id="Rc74287c34a9e4e28"/>
  </p:sldLayoutIdLst>
  <p:txStyles>
    <p:titleStyle>
      <a:lvl1pPr xmlns:a="http://schemas.openxmlformats.org/drawingml/2006/main" algn="l" defTabSz="914400">
        <a:lnSpc>
          <a:spcPct val="90000"/>
        </a:lnSpc>
        <a:spcBef>
          <a:spcPct val="0"/>
        </a:spcBef>
        <a:buNone/>
        <a:defRPr sz="3600" kern="1200">
          <a:solidFill>
            <a:schemeClr val="tx2"/>
          </a:solidFill>
          <a:latin typeface="Tahoma"/>
          <a:ea typeface="Tahoma"/>
          <a:cs typeface="Tahoma"/>
        </a:defRPr>
      </a:lvl1pPr>
    </p:titleStyle>
    <p:bodyStyle>
      <a:lvl1pPr xmlns:a="http://schemas.openxmlformats.org/drawingml/2006/main" marL="228600" indent="-228600" algn="l" defTabSz="914400">
        <a:lnSpc>
          <a:spcPct val="90000"/>
        </a:lnSpc>
        <a:spcBef>
          <a:spcPts val="1000"/>
        </a:spcBef>
        <a:buClr>
          <a:schemeClr val="accent1"/>
        </a:buClr>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Clr>
          <a:schemeClr val="accent1"/>
        </a:buClr>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Clr>
          <a:schemeClr val="accent1"/>
        </a:buClr>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Clr>
          <a:schemeClr val="accent1"/>
        </a:buClr>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Clr>
          <a:schemeClr val="accent1"/>
        </a:buClr>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ustom Design">
  <a:themeElements>
    <a:clrScheme name="Western PPT">
      <a:dk1>
        <a:srgbClr val="000000"/>
      </a:dk1>
      <a:lt1>
        <a:srgbClr val="FFFFFF"/>
      </a:lt1>
      <a:dk2>
        <a:srgbClr val="4F2683"/>
      </a:dk2>
      <a:lt2>
        <a:srgbClr val="E7E6E6"/>
      </a:lt2>
      <a:accent1>
        <a:srgbClr val="8F55E0"/>
      </a:accent1>
      <a:accent2>
        <a:srgbClr val="7DEAFB"/>
      </a:accent2>
      <a:accent3>
        <a:srgbClr val="B9F876"/>
      </a:accent3>
      <a:accent4>
        <a:srgbClr val="F0A757"/>
      </a:accent4>
      <a:accent5>
        <a:srgbClr val="8F55E0"/>
      </a:accent5>
      <a:accent6>
        <a:srgbClr val="7DEAFB"/>
      </a:accent6>
      <a:hlink>
        <a:srgbClr val="4F2683"/>
      </a:hlink>
      <a:folHlink>
        <a:srgbClr val="818283"/>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estern PP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cc62923bd645bd" /><Relationship Type="http://schemas.openxmlformats.org/officeDocument/2006/relationships/image" Target="/ppt/media/image.jpeg" Id="R6e8857047b2e4545" /><Relationship Type="http://schemas.openxmlformats.org/officeDocument/2006/relationships/image" Target="/ppt/media/image.png" Id="R565b1968c8174287" /><Relationship Type="http://schemas.openxmlformats.org/officeDocument/2006/relationships/notesSlide" Target="/ppt/notesSlides/notesSlide1.xml" Id="Rfccfe8de172446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6ebc4275db847de" /><Relationship Type="http://schemas.openxmlformats.org/officeDocument/2006/relationships/image" Target="/ppt/media/image2.png" Id="R1416f87bd13f4aa9" /><Relationship Type="http://schemas.openxmlformats.org/officeDocument/2006/relationships/notesSlide" Target="/ppt/notesSlides/notesSlide2.xml" Id="Ra6505304b0fa45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ac82ac5442c4028" /><Relationship Type="http://schemas.openxmlformats.org/officeDocument/2006/relationships/image" Target="/ppt/media/image2.png" Id="R4a76c1fb2d09416d" /><Relationship Type="http://schemas.openxmlformats.org/officeDocument/2006/relationships/notesSlide" Target="/ppt/notesSlides/notesSlide3.xml" Id="R8cfe2aa5d0804b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26edd3340e451c" /><Relationship Type="http://schemas.openxmlformats.org/officeDocument/2006/relationships/notesSlide" Target="/ppt/notesSlides/notesSlide4.xml" Id="Rfbd8e1aba77b43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50230f6e0764262" /><Relationship Type="http://schemas.openxmlformats.org/officeDocument/2006/relationships/notesSlide" Target="/ppt/notesSlides/notesSlide5.xml" Id="Rcce639c5680b4d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92ddb73f9cc4dd0" /><Relationship Type="http://schemas.openxmlformats.org/officeDocument/2006/relationships/image" Target="/ppt/media/image2.png" Id="R4762eb529b374241" /><Relationship Type="http://schemas.openxmlformats.org/officeDocument/2006/relationships/chart" Target="/ppt/slides/charts/chart1.xml" Id="R2815df7f100d4b31" /><Relationship Type="http://schemas.openxmlformats.org/officeDocument/2006/relationships/notesSlide" Target="/ppt/notesSlides/notesSlide6.xml" Id="R080373b0d3f54d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3ba899552f14491" /><Relationship Type="http://schemas.openxmlformats.org/officeDocument/2006/relationships/image" Target="/ppt/media/image2.png" Id="R7efa7939b24b425e" /><Relationship Type="http://schemas.openxmlformats.org/officeDocument/2006/relationships/chart" Target="/ppt/slides/charts/chart2.xml" Id="R301869e5f4f843d9" /><Relationship Type="http://schemas.openxmlformats.org/officeDocument/2006/relationships/notesSlide" Target="/ppt/notesSlides/notesSlide7.xml" Id="Rad5fbf12c76949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e28a2844ed14188" /><Relationship Type="http://schemas.openxmlformats.org/officeDocument/2006/relationships/image" Target="/ppt/media/image2.png" Id="R3580c128ceb6428c" /><Relationship Type="http://schemas.openxmlformats.org/officeDocument/2006/relationships/notesSlide" Target="/ppt/notesSlides/notesSlide8.xml" Id="Rc9c62a4111eb41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7bd16269f1c4786" /><Relationship Type="http://schemas.openxmlformats.org/officeDocument/2006/relationships/notesSlide" Target="/ppt/notesSlides/notesSlide9.xml" Id="Rc77b13c2fb404c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da578c45a2141f0" /><Relationship Type="http://schemas.openxmlformats.org/officeDocument/2006/relationships/notesSlide" Target="/ppt/notesSlides/notesSlide10.xml" Id="R44f4c0cc661a496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c7da6932420423c" /><Relationship Type="http://schemas.openxmlformats.org/officeDocument/2006/relationships/image" Target="/ppt/media/image2.png" Id="R7d796706648e4897" /><Relationship Type="http://schemas.openxmlformats.org/officeDocument/2006/relationships/notesSlide" Target="/ppt/notesSlides/notesSlide11.xml" Id="R5635e0be312141a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a884bb7605e43f0" /><Relationship Type="http://schemas.openxmlformats.org/officeDocument/2006/relationships/image" Target="/ppt/media/image2.png" Id="R625fc6ffeea54900" /><Relationship Type="http://schemas.openxmlformats.org/officeDocument/2006/relationships/chart" Target="/ppt/slides/charts/chart3.xml" Id="R498b649149ef4142" /><Relationship Type="http://schemas.openxmlformats.org/officeDocument/2006/relationships/image" Target="/ppt/media/image3.png" Id="Reb72d3d9760a465b" /><Relationship Type="http://schemas.openxmlformats.org/officeDocument/2006/relationships/notesSlide" Target="/ppt/notesSlides/notesSlide12.xml" Id="R548ee4991cb4499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4726fc2ad904498" /><Relationship Type="http://schemas.openxmlformats.org/officeDocument/2006/relationships/image" Target="/ppt/media/image2.png" Id="R2a89541b73794750" /><Relationship Type="http://schemas.openxmlformats.org/officeDocument/2006/relationships/chart" Target="/ppt/slides/charts/chart4.xml" Id="R61bcc06f21aa4905" /><Relationship Type="http://schemas.openxmlformats.org/officeDocument/2006/relationships/notesSlide" Target="/ppt/notesSlides/notesSlide13.xml" Id="Re8192412f14746f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1bfd0f9a5224186" /><Relationship Type="http://schemas.openxmlformats.org/officeDocument/2006/relationships/notesSlide" Target="/ppt/notesSlides/notesSlide14.xml" Id="Re0c2e6eb4f4c4200" /></Relationships>
</file>

<file path=ppt/slides/charts/chart1.xml><?xml version="1.0" encoding="utf-8"?>
<c:chartSpace xmlns:c="http://schemas.openxmlformats.org/drawingml/2006/chart">
  <c:lang val="en-US"/>
  <c:chart>
    <c:plotArea>
      <c:barChart>
        <c:barDir val="bar"/>
        <c:grouping val="clustered"/>
        <c:varyColors val="0"/>
        <c:ser>
          <c:idx val="0"/>
          <c:order val="0"/>
          <c:tx>
            <c:v>Detected / rejected</c:v>
          </c:tx>
          <c:spPr>
            <a:solidFill xmlns:a="http://schemas.openxmlformats.org/drawingml/2006/main">
              <a:srgbClr val="4F2683"/>
            </a:solidFill>
          </c:spPr>
          <c:cat>
            <c:strLit>
              <c:ptCount val="6"/>
              <c:pt idx="0">
                <c:v>Negative</c:v>
              </c:pt>
              <c:pt idx="1">
                <c:v>MT3</c:v>
              </c:pt>
              <c:pt idx="2">
                <c:v>ST3</c:v>
              </c:pt>
              <c:pt idx="3">
                <c:v>VST3</c:v>
              </c:pt>
              <c:pt idx="4">
                <c:v>T2</c:v>
              </c:pt>
              <c:pt idx="5">
                <c:v>T1</c:v>
              </c:pt>
            </c:strLit>
          </c:cat>
          <c:val>
            <c:numLit>
              <c:formatCode>0"%"</c:formatCode>
              <c:ptCount val="6"/>
              <c:pt idx="0">
                <c:v>100</c:v>
              </c:pt>
              <c:pt idx="1">
                <c:v>15</c:v>
              </c:pt>
              <c:pt idx="2">
                <c:v>100</c:v>
              </c:pt>
              <c:pt idx="3">
                <c:v>100</c:v>
              </c:pt>
              <c:pt idx="4">
                <c:v>100</c:v>
              </c:pt>
              <c:pt idx="5">
                <c:v>95</c:v>
              </c:pt>
            </c:numLit>
          </c:val>
        </c:ser>
        <c:ser>
          <c:idx val="1"/>
          <c:order val="1"/>
          <c:tx>
            <c:v>Correct type / rejection</c:v>
          </c:tx>
          <c:spPr>
            <a:solidFill xmlns:a="http://schemas.openxmlformats.org/drawingml/2006/main">
              <a:srgbClr val="7AC943"/>
            </a:solidFill>
          </c:spPr>
          <c:cat>
            <c:strLit>
              <c:ptCount val="6"/>
              <c:pt idx="0">
                <c:v>Negative</c:v>
              </c:pt>
              <c:pt idx="1">
                <c:v>MT3</c:v>
              </c:pt>
              <c:pt idx="2">
                <c:v>ST3</c:v>
              </c:pt>
              <c:pt idx="3">
                <c:v>VST3</c:v>
              </c:pt>
              <c:pt idx="4">
                <c:v>T2</c:v>
              </c:pt>
              <c:pt idx="5">
                <c:v>T1</c:v>
              </c:pt>
            </c:strLit>
          </c:cat>
          <c:val>
            <c:numLit>
              <c:formatCode>0"%"</c:formatCode>
              <c:ptCount val="6"/>
              <c:pt idx="0">
                <c:v>100</c:v>
              </c:pt>
              <c:pt idx="1">
                <c:v>15</c:v>
              </c:pt>
              <c:pt idx="2">
                <c:v>100</c:v>
              </c:pt>
              <c:pt idx="3">
                <c:v>65</c:v>
              </c:pt>
              <c:pt idx="4">
                <c:v>95</c:v>
              </c:pt>
              <c:pt idx="5">
                <c:v>95</c:v>
              </c:pt>
            </c:numLit>
          </c:val>
        </c:ser>
        <c:dLbls>
          <c:spPr>
            <a:noFill xmlns:a="http://schemas.openxmlformats.org/drawingml/2006/main"/>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750" b="1">
                  <a:solidFill>
                    <a:srgbClr val="111111"/>
                  </a:solidFill>
                </a:defRPr>
              </a:pPr>
            </a:p>
          </c:txPr>
          <c:dLblPos val="outEnd"/>
          <c:showLegendKey val="0"/>
          <c:showVal val="1"/>
          <c:showCatName val="0"/>
          <c:showSerName val="0"/>
          <c:showPercent val="0"/>
          <c:showBubbleSize val="0"/>
          <c:showLeaderLines val="0"/>
        </c:dLbls>
        <c:gapWidth val="72"/>
        <c:axId val="48650112"/>
        <c:axId val="48672768"/>
      </c:barChart>
      <c:catAx>
        <c:axId val="48650112"/>
        <c:scaling>
          <c:orientation val="minMax"/>
        </c:scaling>
        <c:delete val="0"/>
        <c:axPos val="l"/>
        <c:majorGridlines>
          <c:spPr>
            <a:ln xmlns:a="http://schemas.openxmlformats.org/drawingml/2006/main" w="9525">
              <a:solidFill>
                <a:srgbClr val="E8E3EE"/>
              </a:solidFill>
              <a:prstDash val="solid"/>
            </a:ln>
          </c:spPr>
        </c:majorGridlines>
        <c:numFmt formatCode="0&quot;%&quot;"/>
        <c:majorTickMark val="none"/>
        <c:minorTickMark val="none"/>
        <c:tickLblPos val="nextTo"/>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825">
                <a:solidFill>
                  <a:srgbClr val="767676"/>
                </a:solidFill>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spPr>
        <a:noFill xmlns:a="http://schemas.openxmlformats.org/drawingml/2006/main"/>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975">
              <a:solidFill>
                <a:srgbClr val="767676"/>
              </a:solidFil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Detected / rejected</c:v>
          </c:tx>
          <c:spPr>
            <a:solidFill xmlns:a="http://schemas.openxmlformats.org/drawingml/2006/main">
              <a:srgbClr val="4F2683"/>
            </a:solidFill>
          </c:spPr>
          <c:cat>
            <c:strLit>
              <c:ptCount val="6"/>
              <c:pt idx="0">
                <c:v>Negative</c:v>
              </c:pt>
              <c:pt idx="1">
                <c:v>MT3</c:v>
              </c:pt>
              <c:pt idx="2">
                <c:v>ST3</c:v>
              </c:pt>
              <c:pt idx="3">
                <c:v>VST3</c:v>
              </c:pt>
              <c:pt idx="4">
                <c:v>T2</c:v>
              </c:pt>
              <c:pt idx="5">
                <c:v>T1</c:v>
              </c:pt>
            </c:strLit>
          </c:cat>
          <c:val>
            <c:numLit>
              <c:formatCode>0.0"%"</c:formatCode>
              <c:ptCount val="6"/>
              <c:pt idx="0">
                <c:v>99.85</c:v>
              </c:pt>
              <c:pt idx="1">
                <c:v>29.71</c:v>
              </c:pt>
              <c:pt idx="2">
                <c:v>93.14</c:v>
              </c:pt>
              <c:pt idx="3">
                <c:v>97.37</c:v>
              </c:pt>
              <c:pt idx="4">
                <c:v>99.98</c:v>
              </c:pt>
              <c:pt idx="5">
                <c:v>97.62</c:v>
              </c:pt>
            </c:numLit>
          </c:val>
        </c:ser>
        <c:ser>
          <c:idx val="1"/>
          <c:order val="1"/>
          <c:tx>
            <c:v>Correct type / rejection</c:v>
          </c:tx>
          <c:spPr>
            <a:solidFill xmlns:a="http://schemas.openxmlformats.org/drawingml/2006/main">
              <a:srgbClr val="7AC943"/>
            </a:solidFill>
          </c:spPr>
          <c:cat>
            <c:strLit>
              <c:ptCount val="6"/>
              <c:pt idx="0">
                <c:v>Negative</c:v>
              </c:pt>
              <c:pt idx="1">
                <c:v>MT3</c:v>
              </c:pt>
              <c:pt idx="2">
                <c:v>ST3</c:v>
              </c:pt>
              <c:pt idx="3">
                <c:v>VST3</c:v>
              </c:pt>
              <c:pt idx="4">
                <c:v>T2</c:v>
              </c:pt>
              <c:pt idx="5">
                <c:v>T1</c:v>
              </c:pt>
            </c:strLit>
          </c:cat>
          <c:val>
            <c:numLit>
              <c:formatCode>0.0"%"</c:formatCode>
              <c:ptCount val="6"/>
              <c:pt idx="0">
                <c:v>99.85</c:v>
              </c:pt>
              <c:pt idx="1">
                <c:v>29.7</c:v>
              </c:pt>
              <c:pt idx="2">
                <c:v>85.7</c:v>
              </c:pt>
              <c:pt idx="3">
                <c:v>60.92</c:v>
              </c:pt>
              <c:pt idx="4">
                <c:v>95.41</c:v>
              </c:pt>
              <c:pt idx="5">
                <c:v>96.15</c:v>
              </c:pt>
            </c:numLit>
          </c:val>
        </c:ser>
        <c:dLbls>
          <c:spPr>
            <a:noFill xmlns:a="http://schemas.openxmlformats.org/drawingml/2006/main"/>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750" b="1">
                  <a:solidFill>
                    <a:srgbClr val="111111"/>
                  </a:solidFill>
                </a:defRPr>
              </a:pPr>
            </a:p>
          </c:txPr>
          <c:dLblPos val="outEnd"/>
          <c:showLegendKey val="0"/>
          <c:showVal val="1"/>
          <c:showCatName val="0"/>
          <c:showSerName val="0"/>
          <c:showPercent val="0"/>
          <c:showBubbleSize val="0"/>
          <c:showLeaderLines val="0"/>
        </c:dLbls>
        <c:gapWidth val="72"/>
        <c:axId val="48650112"/>
        <c:axId val="48672768"/>
      </c:barChart>
      <c:catAx>
        <c:axId val="48650112"/>
        <c:scaling>
          <c:orientation val="minMax"/>
        </c:scaling>
        <c:delete val="0"/>
        <c:axPos val="l"/>
        <c:majorGridlines>
          <c:spPr>
            <a:ln xmlns:a="http://schemas.openxmlformats.org/drawingml/2006/main" w="9525">
              <a:solidFill>
                <a:srgbClr val="E8E3EE"/>
              </a:solidFill>
              <a:prstDash val="solid"/>
            </a:ln>
          </c:spPr>
        </c:majorGridlines>
        <c:numFmt formatCode="0&quot;%&quot;"/>
        <c:majorTickMark val="none"/>
        <c:minorTickMark val="none"/>
        <c:tickLblPos val="nextTo"/>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825">
                <a:solidFill>
                  <a:srgbClr val="767676"/>
                </a:solidFill>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spPr>
        <a:noFill xmlns:a="http://schemas.openxmlformats.org/drawingml/2006/main"/>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975">
              <a:solidFill>
                <a:srgbClr val="767676"/>
              </a:solidFil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v>Type-correct</c:v>
          </c:tx>
          <c:spPr>
            <a:solidFill xmlns:a="http://schemas.openxmlformats.org/drawingml/2006/main">
              <a:srgbClr val="4F2683"/>
            </a:solidFill>
          </c:spPr>
          <c:cat>
            <c:strLit>
              <c:ptCount val="8"/>
              <c:pt idx="0">
                <c:v>EOL comment</c:v>
              </c:pt>
              <c:pt idx="1">
                <c:v>Insert statement</c:v>
              </c:pt>
              <c:pt idx="2">
                <c:v>Delete statement</c:v>
              </c:pt>
              <c:pt idx="3">
                <c:v>Integer literal</c:v>
              </c:pt>
              <c:pt idx="4">
                <c:v>Reindent</c:v>
              </c:pt>
              <c:pt idx="5">
                <c:v>Rename local</c:v>
              </c:pt>
              <c:pt idx="6">
                <c:v>String literal</c:v>
              </c:pt>
              <c:pt idx="7">
                <c:v>Wrap statement</c:v>
              </c:pt>
            </c:strLit>
          </c:cat>
          <c:val>
            <c:numLit>
              <c:formatCode>0.0"%"</c:formatCode>
              <c:ptCount val="8"/>
              <c:pt idx="0">
                <c:v>78.2</c:v>
              </c:pt>
              <c:pt idx="1">
                <c:v>88.8</c:v>
              </c:pt>
              <c:pt idx="2">
                <c:v>89</c:v>
              </c:pt>
              <c:pt idx="3">
                <c:v>98.3</c:v>
              </c:pt>
              <c:pt idx="4">
                <c:v>98.7</c:v>
              </c:pt>
              <c:pt idx="5">
                <c:v>99.5</c:v>
              </c:pt>
              <c:pt idx="6">
                <c:v>99.7</c:v>
              </c:pt>
              <c:pt idx="7">
                <c:v>99.8</c:v>
              </c:pt>
            </c:numLit>
          </c:val>
        </c:ser>
        <c:dLbls>
          <c:spPr>
            <a:noFill xmlns:a="http://schemas.openxmlformats.org/drawingml/2006/main"/>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825" b="1">
                  <a:solidFill>
                    <a:srgbClr val="111111"/>
                  </a:solidFill>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majorGridlines>
          <c:spPr>
            <a:ln xmlns:a="http://schemas.openxmlformats.org/drawingml/2006/main" w="9525">
              <a:solidFill>
                <a:srgbClr val="E8E3EE"/>
              </a:solidFill>
              <a:prstDash val="solid"/>
            </a:ln>
          </c:spPr>
        </c:majorGridlines>
        <c:numFmt formatCode="0&quot;%&quot;"/>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825">
                <a:solidFill>
                  <a:srgbClr val="767676"/>
                </a:solidFill>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975">
                <a:solidFill>
                  <a:srgbClr val="111111"/>
                </a:solidFil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charts/chart4.xml><?xml version="1.0" encoding="utf-8"?>
<c:chartSpace xmlns:c="http://schemas.openxmlformats.org/drawingml/2006/chart">
  <c:lang val="en-US"/>
  <c:chart>
    <c:plotArea>
      <c:doughnutChart>
        <c:ser>
          <c:idx val="0"/>
          <c:order val="0"/>
          <c:tx>
            <c:v>Pairs</c:v>
          </c:tx>
          <c:dPt>
            <c:idx val="0"/>
            <c:spPr>
              <a:solidFill xmlns:a="http://schemas.openxmlformats.org/drawingml/2006/main">
                <a:srgbClr val="7AC943"/>
              </a:solidFill>
            </c:spPr>
          </c:dPt>
          <c:dPt>
            <c:idx val="1"/>
            <c:spPr>
              <a:solidFill xmlns:a="http://schemas.openxmlformats.org/drawingml/2006/main">
                <a:srgbClr val="4F2683"/>
              </a:solidFill>
            </c:spPr>
          </c:dPt>
          <c:dPt>
            <c:idx val="2"/>
            <c:spPr>
              <a:solidFill xmlns:a="http://schemas.openxmlformats.org/drawingml/2006/main">
                <a:srgbClr val="E4002B"/>
              </a:solidFill>
            </c:spPr>
          </c:dPt>
          <c:cat>
            <c:strLit>
              <c:ptCount val="3"/>
              <c:pt idx="0">
                <c:v>No output</c:v>
              </c:pt>
              <c:pt idx="1">
                <c:v>Exploratory only</c:v>
              </c:pt>
              <c:pt idx="2">
                <c:v>Syntactic output</c:v>
              </c:pt>
            </c:strLit>
          </c:cat>
          <c:val>
            <c:numLit>
              <c:formatCode>General</c:formatCode>
              <c:ptCount val="3"/>
              <c:pt idx="0">
                <c:v>81</c:v>
              </c:pt>
              <c:pt idx="1">
                <c:v>17</c:v>
              </c:pt>
              <c:pt idx="2">
                <c:v>2</c:v>
              </c:pt>
            </c:numLit>
          </c:val>
        </c:ser>
        <c:dLbls>
          <c:spPr>
            <a:noFill xmlns:a="http://schemas.openxmlformats.org/drawingml/2006/main"/>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975" b="1">
                  <a:solidFill>
                    <a:srgbClr val="111111"/>
                  </a:solidFill>
                </a:defRPr>
              </a:pPr>
            </a:p>
          </c:txPr>
          <c:dLblPos val="outEnd"/>
          <c:showLegendKey val="0"/>
          <c:showVal val="0"/>
          <c:showCatName val="1"/>
          <c:showSerName val="0"/>
          <c:showPercent val="1"/>
          <c:showBubbleSize val="0"/>
          <c:showLeaderLines val="1"/>
        </c:dLbls>
        <c:firstSliceAng val="270"/>
        <c:holeSize val="62"/>
      </c:doughnutChart>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5" name="Picture 14"/>
          <p:cNvPicPr>
            <a:picLocks xmlns:a="http://schemas.openxmlformats.org/drawingml/2006/main" noChangeAspect="1"/>
          </p:cNvPicPr>
          <p:nvPr/>
        </p:nvPicPr>
        <p:blipFill>
          <a:blip xmlns:r="http://schemas.openxmlformats.org/officeDocument/2006/relationships" xmlns:a="http://schemas.openxmlformats.org/drawingml/2006/main" r:embed="R6e8857047b2e4545"/>
          <a:srcRect xmlns:a="http://schemas.openxmlformats.org/drawingml/2006/main" l="16857" t="12141" r="0" b="471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Rectangle 3">
            <a:extLst xmlns:a="http://schemas.openxmlformats.org/drawingml/2006/main">
              <a:ext uri="{FF2B5EF4-FFF2-40B4-BE49-F238E27FC236}">
                <a16:creationId xmlns:a16="http://schemas.microsoft.com/office/drawing/2014/main" id="{0106898C-50D6-75E4-07D9-B50D881531D0}"/>
              </a:ext>
            </a:extLst>
          </p:cNvPr>
          <p:cNvSpPr>
            <a:spLocks xmlns:a="http://schemas.openxmlformats.org/drawingml/2006/main" noGrp="1"/>
          </p:cNvSpPr>
          <p:nvPr/>
        </p:nvSpPr>
        <p:spPr>
          <a:xfrm xmlns:a="http://schemas.openxmlformats.org/drawingml/2006/main">
            <a:off x="618891" y="517072"/>
            <a:ext cx="5477109" cy="5823857"/>
          </a:xfrm>
          <a:prstGeom xmlns:a="http://schemas.openxmlformats.org/drawingml/2006/main" prst="rect">
            <a:avLst/>
          </a:prstGeom>
          <a:solidFill xmlns:a="http://schemas.openxmlformats.org/drawingml/2006/main">
            <a:srgbClr val="8F55E0">
              <a:alpha val="79978"/>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5C775AB4-34B4-0C00-7D14-5E794C3251B8}"/>
              </a:ext>
            </a:extLst>
          </p:cNvPr>
          <p:cNvSpPr>
            <a:spLocks xmlns:a="http://schemas.openxmlformats.org/drawingml/2006/main" noGrp="1"/>
          </p:cNvSpPr>
          <p:nvPr/>
        </p:nvSpPr>
        <p:spPr>
          <a:xfrm xmlns:a="http://schemas.openxmlformats.org/drawingml/2006/main">
            <a:off x="874051" y="2883321"/>
            <a:ext cx="4634120" cy="144655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l">
              <a:buNone/>
              <a:defRPr sz="4400" b="1">
                <a:solidFill>
                  <a:srgbClr val="FFFFFF"/>
                </a:solidFill>
                <a:latin typeface="Aptos Display"/>
                <a:ea typeface="Aptos Display"/>
                <a:cs typeface="Aptos Display"/>
              </a:defRPr>
            </a:pPr>
            <a:r>
              <a:rPr sz="4400" b="1">
                <a:solidFill>
                  <a:srgbClr val="FFFFFF"/>
                </a:solidFill>
                <a:latin typeface="Aptos Display"/>
                <a:ea typeface="Aptos Display"/>
                <a:cs typeface="Aptos Display"/>
              </a:rPr>
              <a:t>Code Similarity</a:t>
            </a:r>
          </a:p>
          <a:p xmlns:a="http://schemas.openxmlformats.org/drawingml/2006/main">
            <a:pPr algn="l">
              <a:buNone/>
              <a:defRPr sz="4400" b="1">
                <a:solidFill>
                  <a:srgbClr val="FFFFFF"/>
                </a:solidFill>
                <a:latin typeface="Aptos Display"/>
                <a:ea typeface="Aptos Display"/>
                <a:cs typeface="Aptos Display"/>
              </a:defRPr>
            </a:pPr>
            <a:r>
              <a:rPr sz="4400" b="1">
                <a:solidFill>
                  <a:srgbClr val="FFFFFF"/>
                </a:solidFill>
                <a:latin typeface="Aptos Display"/>
                <a:ea typeface="Aptos Display"/>
                <a:cs typeface="Aptos Display"/>
              </a:rPr>
              <a:t>Detection</a:t>
            </a:r>
          </a:p>
        </p:txBody>
      </p:sp>
      <p:sp>
        <p:nvSpPr>
          <p:cNvPr id="12" name="TextBox 11">
            <a:extLst xmlns:a="http://schemas.openxmlformats.org/drawingml/2006/main">
              <a:ext uri="{FF2B5EF4-FFF2-40B4-BE49-F238E27FC236}">
                <a16:creationId xmlns:a16="http://schemas.microsoft.com/office/drawing/2014/main" id="{9F0755CC-5279-A85A-0B6D-EC3D3D9580B7}"/>
              </a:ext>
            </a:extLst>
          </p:cNvPr>
          <p:cNvSpPr>
            <a:spLocks xmlns:a="http://schemas.openxmlformats.org/drawingml/2006/main" noGrp="1"/>
          </p:cNvSpPr>
          <p:nvPr/>
        </p:nvSpPr>
        <p:spPr>
          <a:xfrm xmlns:a="http://schemas.openxmlformats.org/drawingml/2006/main">
            <a:off x="874051" y="4403740"/>
            <a:ext cx="5013689" cy="92333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normAutofit fontScale="100000"/>
          </a:bodyPr>
          <a:lstStyle xmlns:a="http://schemas.openxmlformats.org/drawingml/2006/main"/>
          <a:p xmlns:a="http://schemas.openxmlformats.org/drawingml/2006/main">
            <a:pPr algn="l">
              <a:buNone/>
              <a:defRPr sz="1800">
                <a:solidFill>
                  <a:srgbClr val="FFFFFF"/>
                </a:solidFill>
                <a:latin typeface="Aptos"/>
                <a:ea typeface="Aptos"/>
                <a:cs typeface="Aptos"/>
              </a:defRPr>
            </a:pPr>
            <a:r>
              <a:rPr sz="1800">
                <a:solidFill>
                  <a:srgbClr val="FFFFFF"/>
                </a:solidFill>
                <a:latin typeface="Aptos"/>
                <a:ea typeface="Aptos"/>
                <a:cs typeface="Aptos"/>
              </a:rPr>
              <a:t>Meng Project Progress</a:t>
            </a:r>
          </a:p>
          <a:p xmlns:a="http://schemas.openxmlformats.org/drawingml/2006/main">
            <a:r>
              <a:t/>
            </a:r>
          </a:p>
          <a:p xmlns:a="http://schemas.openxmlformats.org/drawingml/2006/main">
            <a:pPr algn="l">
              <a:buNone/>
              <a:defRPr sz="1800">
                <a:solidFill>
                  <a:srgbClr val="FFFFFF"/>
                </a:solidFill>
                <a:latin typeface="Aptos"/>
                <a:ea typeface="Aptos"/>
                <a:cs typeface="Aptos"/>
              </a:defRPr>
            </a:pPr>
            <a:r>
              <a:rPr sz="1800">
                <a:solidFill>
                  <a:srgbClr val="FFFFFF"/>
                </a:solidFill>
                <a:latin typeface="Aptos"/>
                <a:ea typeface="Aptos"/>
                <a:cs typeface="Aptos"/>
              </a:rPr>
              <a:t>Ziqi Liu · 29 July 2026</a:t>
            </a:r>
          </a:p>
        </p:txBody>
      </p:sp>
      <p:pic>
        <p:nvPicPr>
          <p:cNvPr id="19" name="Picture 4"/>
          <p:cNvPicPr>
            <a:picLocks xmlns:a="http://schemas.openxmlformats.org/drawingml/2006/main" noChangeAspect="1"/>
          </p:cNvPicPr>
          <p:nvPr/>
        </p:nvPicPr>
        <p:blipFill>
          <a:blip xmlns:r="http://schemas.openxmlformats.org/officeDocument/2006/relationships" xmlns:a="http://schemas.openxmlformats.org/drawingml/2006/main" r:embed="R565b1968c8174287"/>
          <a:stretch xmlns:a="http://schemas.openxmlformats.org/drawingml/2006/main">
            <a:fillRect l="0" t="0" r="0" b="0"/>
          </a:stretch>
        </p:blipFill>
        <p:spPr>
          <a:xfrm xmlns:a="http://schemas.openxmlformats.org/drawingml/2006/main">
            <a:off x="874051" y="890305"/>
            <a:ext cx="2825758" cy="670025"/>
          </a:xfrm>
          <a:prstGeom xmlns:a="http://schemas.openxmlformats.org/drawingml/2006/main" prst="rect">
            <a:avLst/>
          </a:prstGeom>
        </p:spPr>
      </p:pic>
    </p:spTree>
    <p:extLst>
      <p:ext uri="{BB962C8B-B14F-4D97-AF65-F5344CB8AC3E}">
        <p14:creationId xmlns:p14="http://schemas.microsoft.com/office/powerpoint/2010/main" val="200273142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975" y="401303"/>
            <a:ext cx="6929585" cy="646331"/>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l">
              <a:buNone/>
              <a:defRPr sz="3600">
                <a:solidFill>
                  <a:srgbClr val="4F2683"/>
                </a:solidFill>
                <a:latin typeface="Aptos Display"/>
                <a:ea typeface="Aptos Display"/>
                <a:cs typeface="Aptos Display"/>
              </a:defRPr>
            </a:pPr>
            <a:r>
              <a:rPr sz="3600">
                <a:solidFill>
                  <a:srgbClr val="4F2683"/>
                </a:solidFill>
                <a:latin typeface="Aptos Display"/>
                <a:ea typeface="Aptos Display"/>
                <a:cs typeface="Aptos Display"/>
              </a:rPr>
              <a:t>Evaluation Question</a:t>
            </a:r>
          </a:p>
        </p:txBody>
      </p:sp>
      <p:pic>
        <p:nvPicPr>
          <p:cNvPr id="8" name="Picture 3"/>
          <p:cNvPicPr>
            <a:picLocks xmlns:a="http://schemas.openxmlformats.org/drawingml/2006/main" noChangeAspect="1"/>
          </p:cNvPicPr>
          <p:nvPr/>
        </p:nvPicPr>
        <p:blipFill>
          <a:blip xmlns:r="http://schemas.openxmlformats.org/officeDocument/2006/relationships" xmlns:a="http://schemas.openxmlformats.org/drawingml/2006/main" r:embed="R1416f87bd13f4aa9"/>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2" name="TextBox 1">
            <a:extLst xmlns:a="http://schemas.openxmlformats.org/drawingml/2006/main">
              <a:ext uri="{FF2B5EF4-FFF2-40B4-BE49-F238E27FC236}">
                <a16:creationId xmlns:a16="http://schemas.microsoft.com/office/drawing/2014/main" id="{A3F2806E-48DD-C1D1-3F24-E99A484AEDF8}"/>
              </a:ext>
            </a:extLst>
          </p:cNvPr>
          <p:cNvSpPr>
            <a:spLocks xmlns:a="http://schemas.openxmlformats.org/drawingml/2006/main" noGrp="1"/>
          </p:cNvSpPr>
          <p:nvPr/>
        </p:nvSpPr>
        <p:spPr>
          <a:xfrm xmlns:a="http://schemas.openxmlformats.org/drawingml/2006/main">
            <a:off x="886024" y="1545029"/>
            <a:ext cx="6929585" cy="44196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marL="342900" indent="-342900" algn="l">
              <a:lnSpc>
                <a:spcPct val="115000"/>
              </a:lnSpc>
              <a:buFont typeface="Symbol"/>
              <a:buChar char=""/>
              <a:defRPr sz="2000">
                <a:solidFill>
                  <a:srgbClr val="000000"/>
                </a:solidFill>
                <a:latin typeface="Aptos"/>
                <a:ea typeface="Aptos"/>
                <a:cs typeface="Aptos"/>
              </a:defRPr>
            </a:pPr>
            <a:r>
              <a:rPr sz="2000" b="1">
                <a:solidFill>
                  <a:srgbClr val="4F2683"/>
                </a:solidFill>
                <a:latin typeface="Aptos"/>
                <a:ea typeface="Aptos"/>
                <a:cs typeface="Aptos"/>
              </a:rPr>
              <a:t>Detect, type, reject, and explain</a:t>
            </a:r>
            <a:r>
              <a:rPr sz="2000" b="1">
                <a:solidFill>
                  <a:srgbClr val="000000"/>
                </a:solidFill>
                <a:latin typeface="Aptos"/>
                <a:ea typeface="Aptos"/>
                <a:cs typeface="Aptos"/>
              </a:rPr>
              <a:t> valid code pairs.</a:t>
            </a:r>
          </a:p>
        </p:txBody>
      </p:sp>
    </p:spTree>
    <p:extLst>
      <p:ext uri="{BB962C8B-B14F-4D97-AF65-F5344CB8AC3E}">
        <p14:creationId xmlns:p14="http://schemas.microsoft.com/office/powerpoint/2010/main" val="25855141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4" name="TextBox 13">
            <a:extLst xmlns:a="http://schemas.openxmlformats.org/drawingml/2006/main">
              <a:ext uri="{FF2B5EF4-FFF2-40B4-BE49-F238E27FC236}">
                <a16:creationId xmlns:a16="http://schemas.microsoft.com/office/drawing/2014/main" id="{7764FCE4-F5BA-3C40-9535-4B5582941EE6}"/>
              </a:ext>
            </a:extLst>
          </p:cNvPr>
          <p:cNvSpPr>
            <a:spLocks xmlns:a="http://schemas.openxmlformats.org/drawingml/2006/main" noGrp="1"/>
          </p:cNvSpPr>
          <p:nvPr/>
        </p:nvSpPr>
        <p:spPr>
          <a:xfrm xmlns:a="http://schemas.openxmlformats.org/drawingml/2006/main">
            <a:off x="348211" y="2782669"/>
            <a:ext cx="2862420" cy="1323439"/>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normAutofit fontScale="100000"/>
          </a:bodyPr>
          <a:lstStyle xmlns:a="http://schemas.openxmlformats.org/drawingml/2006/main"/>
          <a:p xmlns:a="http://schemas.openxmlformats.org/drawingml/2006/main">
            <a:pPr algn="ctr">
              <a:buNone/>
              <a:defRPr sz="1600">
                <a:solidFill>
                  <a:srgbClr val="000000"/>
                </a:solidFill>
                <a:latin typeface="Aptos"/>
                <a:ea typeface="Aptos"/>
                <a:cs typeface="Aptos"/>
              </a:defRPr>
            </a:pPr>
            <a:r>
              <a:rPr sz="1600">
                <a:solidFill>
                  <a:srgbClr val="92D050"/>
                </a:solidFill>
                <a:latin typeface="Aptos"/>
                <a:ea typeface="Aptos"/>
                <a:cs typeface="Aptos"/>
              </a:rPr>
              <a:t>Exact same code</a:t>
            </a:r>
          </a:p>
          <a:p xmlns:a="http://schemas.openxmlformats.org/drawingml/2006/main">
            <a:pPr algn="ctr">
              <a:buNone/>
            </a:pPr>
            <a:r>
              <a:t/>
            </a:r>
          </a:p>
          <a:p xmlns:a="http://schemas.openxmlformats.org/drawingml/2006/main">
            <a:pPr algn="ctr">
              <a:buNone/>
              <a:defRPr sz="1600">
                <a:solidFill>
                  <a:srgbClr val="000000"/>
                </a:solidFill>
                <a:latin typeface="Aptos"/>
                <a:ea typeface="Aptos"/>
                <a:cs typeface="Aptos"/>
              </a:defRPr>
            </a:pPr>
            <a:r>
              <a:rPr sz="1600">
                <a:solidFill>
                  <a:srgbClr val="000000"/>
                </a:solidFill>
                <a:latin typeface="Aptos"/>
                <a:ea typeface="Aptos"/>
                <a:cs typeface="Aptos"/>
              </a:rPr>
              <a:t>Comments or</a:t>
            </a:r>
          </a:p>
          <a:p xmlns:a="http://schemas.openxmlformats.org/drawingml/2006/main">
            <a:pPr algn="ctr">
              <a:buNone/>
              <a:defRPr sz="1600">
                <a:solidFill>
                  <a:srgbClr val="000000"/>
                </a:solidFill>
                <a:latin typeface="Aptos"/>
                <a:ea typeface="Aptos"/>
                <a:cs typeface="Aptos"/>
              </a:defRPr>
            </a:pPr>
            <a:r>
              <a:rPr sz="1600">
                <a:solidFill>
                  <a:srgbClr val="000000"/>
                </a:solidFill>
                <a:latin typeface="Aptos"/>
                <a:ea typeface="Aptos"/>
                <a:cs typeface="Aptos"/>
              </a:rPr>
              <a:t>whitespace only</a:t>
            </a:r>
          </a:p>
        </p:txBody>
      </p:sp>
      <p:sp>
        <p:nvSpPr>
          <p:cNvPr id="9" name="TextBox 8">
            <a:extLst xmlns:a="http://schemas.openxmlformats.org/drawingml/2006/main">
              <a:ext uri="{FF2B5EF4-FFF2-40B4-BE49-F238E27FC236}">
                <a16:creationId xmlns:a16="http://schemas.microsoft.com/office/drawing/2014/main" id="{83ABD91D-5DA9-0937-773A-14AA7171029B}"/>
              </a:ext>
            </a:extLst>
          </p:cNvPr>
          <p:cNvSpPr>
            <a:spLocks xmlns:a="http://schemas.openxmlformats.org/drawingml/2006/main" noGrp="1"/>
          </p:cNvSpPr>
          <p:nvPr/>
        </p:nvSpPr>
        <p:spPr>
          <a:xfrm xmlns:a="http://schemas.openxmlformats.org/drawingml/2006/main">
            <a:off x="348211" y="2022076"/>
            <a:ext cx="2862420" cy="40011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ctr">
              <a:buNone/>
              <a:defRPr sz="2000" b="1">
                <a:solidFill>
                  <a:srgbClr val="4F2683"/>
                </a:solidFill>
                <a:latin typeface="Aptos"/>
                <a:ea typeface="Aptos"/>
                <a:cs typeface="Aptos"/>
              </a:defRPr>
            </a:pPr>
            <a:r>
              <a:rPr sz="2000" b="1">
                <a:solidFill>
                  <a:srgbClr val="4F2683"/>
                </a:solidFill>
                <a:latin typeface="Aptos"/>
                <a:ea typeface="Aptos"/>
                <a:cs typeface="Aptos"/>
              </a:rPr>
              <a:t>T1</a:t>
            </a:r>
          </a:p>
        </p:txBody>
      </p:sp>
      <p:sp>
        <p:nvSpPr>
          <p:cNvPr id="11" name="TextBox 10">
            <a:extLst xmlns:a="http://schemas.openxmlformats.org/drawingml/2006/main">
              <a:ext uri="{FF2B5EF4-FFF2-40B4-BE49-F238E27FC236}">
                <a16:creationId xmlns:a16="http://schemas.microsoft.com/office/drawing/2014/main" id="{E41FE22C-3EAA-E2CA-CD17-51237E7B07CF}"/>
              </a:ext>
            </a:extLst>
          </p:cNvPr>
          <p:cNvSpPr>
            <a:spLocks xmlns:a="http://schemas.openxmlformats.org/drawingml/2006/main" noGrp="1"/>
          </p:cNvSpPr>
          <p:nvPr/>
        </p:nvSpPr>
        <p:spPr>
          <a:xfrm xmlns:a="http://schemas.openxmlformats.org/drawingml/2006/main">
            <a:off x="6416993" y="2022076"/>
            <a:ext cx="2871987" cy="40011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ctr">
              <a:buNone/>
              <a:defRPr sz="2000" b="1">
                <a:solidFill>
                  <a:srgbClr val="4F2683"/>
                </a:solidFill>
                <a:latin typeface="Aptos"/>
                <a:ea typeface="Aptos"/>
                <a:cs typeface="Aptos"/>
              </a:defRPr>
            </a:pPr>
            <a:r>
              <a:rPr sz="2000" b="1">
                <a:solidFill>
                  <a:srgbClr val="4F2683"/>
                </a:solidFill>
                <a:latin typeface="Aptos"/>
                <a:ea typeface="Aptos"/>
                <a:cs typeface="Aptos"/>
              </a:rPr>
              <a:t>T3</a:t>
            </a:r>
          </a:p>
        </p:txBody>
      </p:sp>
      <p:sp>
        <p:nvSpPr>
          <p:cNvPr id="18" name="TextBox 17">
            <a:extLst xmlns:a="http://schemas.openxmlformats.org/drawingml/2006/main">
              <a:ext uri="{FF2B5EF4-FFF2-40B4-BE49-F238E27FC236}">
                <a16:creationId xmlns:a16="http://schemas.microsoft.com/office/drawing/2014/main" id="{BEDF44A3-B528-7BA9-2058-080981564ACA}"/>
              </a:ext>
            </a:extLst>
          </p:cNvPr>
          <p:cNvSpPr>
            <a:spLocks xmlns:a="http://schemas.openxmlformats.org/drawingml/2006/main" noGrp="1"/>
          </p:cNvSpPr>
          <p:nvPr/>
        </p:nvSpPr>
        <p:spPr>
          <a:xfrm xmlns:a="http://schemas.openxmlformats.org/drawingml/2006/main">
            <a:off x="3376874" y="2020143"/>
            <a:ext cx="2871987" cy="707886"/>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ctr">
              <a:buNone/>
              <a:defRPr sz="2000" b="1">
                <a:solidFill>
                  <a:srgbClr val="4F2683"/>
                </a:solidFill>
                <a:latin typeface="Aptos"/>
                <a:ea typeface="Aptos"/>
                <a:cs typeface="Aptos"/>
              </a:defRPr>
            </a:pPr>
            <a:r>
              <a:rPr sz="2000" b="1">
                <a:solidFill>
                  <a:srgbClr val="4F2683"/>
                </a:solidFill>
                <a:latin typeface="Aptos"/>
                <a:ea typeface="Aptos"/>
                <a:cs typeface="Aptos"/>
              </a:rPr>
              <a:t>T2</a:t>
            </a:r>
          </a:p>
        </p:txBody>
      </p:sp>
      <p:sp>
        <p:nvSpPr>
          <p:cNvPr id="2" name="TextBox 1">
            <a:extLst xmlns:a="http://schemas.openxmlformats.org/drawingml/2006/main">
              <a:ext uri="{FF2B5EF4-FFF2-40B4-BE49-F238E27FC236}">
                <a16:creationId xmlns:a16="http://schemas.microsoft.com/office/drawing/2014/main" id="{2D03D9A2-9FEC-8BF1-2D5D-F82A8AD2989E}"/>
              </a:ext>
            </a:extLst>
          </p:cNvPr>
          <p:cNvSpPr>
            <a:spLocks xmlns:a="http://schemas.openxmlformats.org/drawingml/2006/main" noGrp="1"/>
          </p:cNvSpPr>
          <p:nvPr/>
        </p:nvSpPr>
        <p:spPr>
          <a:xfrm xmlns:a="http://schemas.openxmlformats.org/drawingml/2006/main">
            <a:off x="3386441" y="2782669"/>
            <a:ext cx="2862420" cy="109728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normAutofit fontScale="100000"/>
          </a:bodyPr>
          <a:lstStyle xmlns:a="http://schemas.openxmlformats.org/drawingml/2006/main"/>
          <a:p xmlns:a="http://schemas.openxmlformats.org/drawingml/2006/main">
            <a:pPr algn="ctr">
              <a:buNone/>
              <a:defRPr sz="1600">
                <a:solidFill>
                  <a:srgbClr val="000000"/>
                </a:solidFill>
                <a:latin typeface="Aptos"/>
                <a:ea typeface="Aptos"/>
                <a:cs typeface="Aptos"/>
              </a:defRPr>
            </a:pPr>
            <a:r>
              <a:rPr sz="1600">
                <a:solidFill>
                  <a:srgbClr val="92D050"/>
                </a:solidFill>
                <a:latin typeface="Aptos"/>
                <a:ea typeface="Aptos"/>
                <a:cs typeface="Aptos"/>
              </a:rPr>
              <a:t>Same structure</a:t>
            </a:r>
          </a:p>
          <a:p xmlns:a="http://schemas.openxmlformats.org/drawingml/2006/main">
            <a:pPr algn="ctr">
              <a:buNone/>
            </a:pPr>
            <a:r>
              <a:t/>
            </a:r>
          </a:p>
          <a:p xmlns:a="http://schemas.openxmlformats.org/drawingml/2006/main">
            <a:pPr algn="ctr">
              <a:buNone/>
              <a:defRPr sz="1600">
                <a:solidFill>
                  <a:srgbClr val="000000"/>
                </a:solidFill>
                <a:latin typeface="Aptos"/>
                <a:ea typeface="Aptos"/>
                <a:cs typeface="Aptos"/>
              </a:defRPr>
            </a:pPr>
            <a:r>
              <a:rPr sz="1600">
                <a:solidFill>
                  <a:srgbClr val="000000"/>
                </a:solidFill>
                <a:latin typeface="Aptos"/>
                <a:ea typeface="Aptos"/>
                <a:cs typeface="Aptos"/>
              </a:rPr>
              <a:t>Identifiers or</a:t>
            </a:r>
          </a:p>
          <a:p xmlns:a="http://schemas.openxmlformats.org/drawingml/2006/main">
            <a:pPr algn="ctr">
              <a:buNone/>
              <a:defRPr sz="1600">
                <a:solidFill>
                  <a:srgbClr val="000000"/>
                </a:solidFill>
                <a:latin typeface="Aptos"/>
                <a:ea typeface="Aptos"/>
                <a:cs typeface="Aptos"/>
              </a:defRPr>
            </a:pPr>
            <a:r>
              <a:rPr sz="1600">
                <a:solidFill>
                  <a:srgbClr val="000000"/>
                </a:solidFill>
                <a:latin typeface="Aptos"/>
                <a:ea typeface="Aptos"/>
                <a:cs typeface="Aptos"/>
              </a:rPr>
              <a:t>literals changed</a:t>
            </a:r>
          </a:p>
        </p:txBody>
      </p:sp>
      <p:sp>
        <p:nvSpPr>
          <p:cNvPr id="3" name="TextBox 2">
            <a:extLst xmlns:a="http://schemas.openxmlformats.org/drawingml/2006/main">
              <a:ext uri="{FF2B5EF4-FFF2-40B4-BE49-F238E27FC236}">
                <a16:creationId xmlns:a16="http://schemas.microsoft.com/office/drawing/2014/main" id="{00E258EA-8DBB-794F-5145-473D622B783E}"/>
              </a:ext>
            </a:extLst>
          </p:cNvPr>
          <p:cNvSpPr>
            <a:spLocks xmlns:a="http://schemas.openxmlformats.org/drawingml/2006/main" noGrp="1"/>
          </p:cNvSpPr>
          <p:nvPr/>
        </p:nvSpPr>
        <p:spPr>
          <a:xfrm xmlns:a="http://schemas.openxmlformats.org/drawingml/2006/main">
            <a:off x="6424672" y="2782668"/>
            <a:ext cx="2862420" cy="156966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normAutofit fontScale="100000"/>
          </a:bodyPr>
          <a:lstStyle xmlns:a="http://schemas.openxmlformats.org/drawingml/2006/main"/>
          <a:p xmlns:a="http://schemas.openxmlformats.org/drawingml/2006/main">
            <a:pPr algn="ctr">
              <a:buNone/>
              <a:defRPr sz="1600">
                <a:solidFill>
                  <a:srgbClr val="000000"/>
                </a:solidFill>
                <a:latin typeface="Aptos"/>
                <a:ea typeface="Aptos"/>
                <a:cs typeface="Aptos"/>
              </a:defRPr>
            </a:pPr>
            <a:r>
              <a:rPr sz="1600">
                <a:solidFill>
                  <a:srgbClr val="FF0000"/>
                </a:solidFill>
                <a:latin typeface="Aptos"/>
                <a:ea typeface="Aptos"/>
                <a:cs typeface="Aptos"/>
              </a:rPr>
              <a:t>Structural edit</a:t>
            </a:r>
          </a:p>
          <a:p xmlns:a="http://schemas.openxmlformats.org/drawingml/2006/main">
            <a:pPr algn="ctr">
              <a:buNone/>
            </a:pPr>
            <a:r>
              <a:t/>
            </a:r>
          </a:p>
          <a:p xmlns:a="http://schemas.openxmlformats.org/drawingml/2006/main">
            <a:pPr algn="ctr">
              <a:buNone/>
              <a:defRPr sz="1600">
                <a:solidFill>
                  <a:srgbClr val="000000"/>
                </a:solidFill>
                <a:latin typeface="Aptos"/>
                <a:ea typeface="Aptos"/>
                <a:cs typeface="Aptos"/>
              </a:defRPr>
            </a:pPr>
            <a:r>
              <a:rPr sz="1600">
                <a:solidFill>
                  <a:srgbClr val="000000"/>
                </a:solidFill>
                <a:latin typeface="Aptos"/>
                <a:ea typeface="Aptos"/>
                <a:cs typeface="Aptos"/>
              </a:rPr>
              <a:t>Insert, delete,</a:t>
            </a:r>
          </a:p>
          <a:p xmlns:a="http://schemas.openxmlformats.org/drawingml/2006/main">
            <a:pPr algn="ctr">
              <a:buNone/>
              <a:defRPr sz="1600">
                <a:solidFill>
                  <a:srgbClr val="000000"/>
                </a:solidFill>
                <a:latin typeface="Aptos"/>
                <a:ea typeface="Aptos"/>
                <a:cs typeface="Aptos"/>
              </a:defRPr>
            </a:pPr>
            <a:r>
              <a:rPr sz="1600">
                <a:solidFill>
                  <a:srgbClr val="000000"/>
                </a:solidFill>
                <a:latin typeface="Aptos"/>
                <a:ea typeface="Aptos"/>
                <a:cs typeface="Aptos"/>
              </a:rPr>
              <a:t>or wrap statements</a:t>
            </a:r>
          </a:p>
        </p:txBody>
      </p:sp>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976" y="401303"/>
            <a:ext cx="5144262" cy="646331"/>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l">
              <a:buNone/>
              <a:defRPr sz="3600">
                <a:solidFill>
                  <a:srgbClr val="4F2683"/>
                </a:solidFill>
                <a:latin typeface="Aptos Display"/>
                <a:ea typeface="Aptos Display"/>
                <a:cs typeface="Aptos Display"/>
              </a:defRPr>
            </a:pPr>
            <a:r>
              <a:rPr sz="3600">
                <a:solidFill>
                  <a:srgbClr val="4F2683"/>
                </a:solidFill>
                <a:latin typeface="Aptos Display"/>
                <a:ea typeface="Aptos Display"/>
                <a:cs typeface="Aptos Display"/>
              </a:rPr>
              <a:t>Similarity Types</a:t>
            </a:r>
          </a:p>
        </p:txBody>
      </p:sp>
      <p:pic>
        <p:nvPicPr>
          <p:cNvPr id="27" name="Picture 3"/>
          <p:cNvPicPr>
            <a:picLocks xmlns:a="http://schemas.openxmlformats.org/drawingml/2006/main" noChangeAspect="1"/>
          </p:cNvPicPr>
          <p:nvPr/>
        </p:nvPicPr>
        <p:blipFill>
          <a:blip xmlns:r="http://schemas.openxmlformats.org/officeDocument/2006/relationships" xmlns:a="http://schemas.openxmlformats.org/drawingml/2006/main" r:embed="R4a76c1fb2d09416d"/>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6" name="TextBox 5">
            <a:extLst xmlns:a="http://schemas.openxmlformats.org/drawingml/2006/main">
              <a:ext uri="{FF2B5EF4-FFF2-40B4-BE49-F238E27FC236}">
                <a16:creationId xmlns:a16="http://schemas.microsoft.com/office/drawing/2014/main" id="{EF69A584-276F-367F-CE69-565B9EC64812}"/>
              </a:ext>
            </a:extLst>
          </p:cNvPr>
          <p:cNvSpPr>
            <a:spLocks xmlns:a="http://schemas.openxmlformats.org/drawingml/2006/main" noGrp="1"/>
          </p:cNvSpPr>
          <p:nvPr/>
        </p:nvSpPr>
        <p:spPr>
          <a:xfrm xmlns:a="http://schemas.openxmlformats.org/drawingml/2006/main">
            <a:off x="9287092" y="2022076"/>
            <a:ext cx="2871987" cy="40011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ctr">
              <a:buNone/>
              <a:defRPr sz="2000" b="1">
                <a:solidFill>
                  <a:srgbClr val="4F2683"/>
                </a:solidFill>
                <a:latin typeface="Aptos"/>
                <a:ea typeface="Aptos"/>
                <a:cs typeface="Aptos"/>
              </a:defRPr>
            </a:pPr>
            <a:r>
              <a:rPr sz="2000" b="1">
                <a:solidFill>
                  <a:srgbClr val="4F2683"/>
                </a:solidFill>
                <a:latin typeface="Aptos"/>
                <a:ea typeface="Aptos"/>
                <a:cs typeface="Aptos"/>
              </a:rPr>
              <a:t>T4</a:t>
            </a:r>
          </a:p>
        </p:txBody>
      </p:sp>
      <p:sp>
        <p:nvSpPr>
          <p:cNvPr id="7" name="TextBox 6">
            <a:extLst xmlns:a="http://schemas.openxmlformats.org/drawingml/2006/main">
              <a:ext uri="{FF2B5EF4-FFF2-40B4-BE49-F238E27FC236}">
                <a16:creationId xmlns:a16="http://schemas.microsoft.com/office/drawing/2014/main" id="{C154822D-600D-38E0-99D7-0A6A26307CD1}"/>
              </a:ext>
            </a:extLst>
          </p:cNvPr>
          <p:cNvSpPr>
            <a:spLocks xmlns:a="http://schemas.openxmlformats.org/drawingml/2006/main" noGrp="1"/>
          </p:cNvSpPr>
          <p:nvPr/>
        </p:nvSpPr>
        <p:spPr>
          <a:xfrm xmlns:a="http://schemas.openxmlformats.org/drawingml/2006/main">
            <a:off x="9305045" y="2782668"/>
            <a:ext cx="2862420" cy="1323439"/>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normAutofit fontScale="100000"/>
          </a:bodyPr>
          <a:lstStyle xmlns:a="http://schemas.openxmlformats.org/drawingml/2006/main"/>
          <a:p xmlns:a="http://schemas.openxmlformats.org/drawingml/2006/main">
            <a:pPr algn="ctr">
              <a:buNone/>
              <a:defRPr sz="1600">
                <a:solidFill>
                  <a:srgbClr val="000000"/>
                </a:solidFill>
                <a:latin typeface="Aptos"/>
                <a:ea typeface="Aptos"/>
                <a:cs typeface="Aptos"/>
              </a:defRPr>
            </a:pPr>
            <a:r>
              <a:rPr sz="1600">
                <a:solidFill>
                  <a:srgbClr val="92D050"/>
                </a:solidFill>
                <a:latin typeface="Aptos"/>
                <a:ea typeface="Aptos"/>
                <a:cs typeface="Aptos"/>
              </a:rPr>
              <a:t>Semantic clone</a:t>
            </a:r>
          </a:p>
          <a:p xmlns:a="http://schemas.openxmlformats.org/drawingml/2006/main">
            <a:pPr algn="ctr">
              <a:buNone/>
            </a:pPr>
            <a:r>
              <a:t/>
            </a:r>
          </a:p>
          <a:p xmlns:a="http://schemas.openxmlformats.org/drawingml/2006/main">
            <a:pPr algn="ctr">
              <a:buNone/>
              <a:defRPr sz="1600">
                <a:solidFill>
                  <a:srgbClr val="000000"/>
                </a:solidFill>
                <a:latin typeface="Aptos"/>
                <a:ea typeface="Aptos"/>
                <a:cs typeface="Aptos"/>
              </a:defRPr>
            </a:pPr>
            <a:r>
              <a:rPr sz="1600">
                <a:solidFill>
                  <a:srgbClr val="000000"/>
                </a:solidFill>
                <a:latin typeface="Aptos"/>
                <a:ea typeface="Aptos"/>
                <a:cs typeface="Aptos"/>
              </a:rPr>
              <a:t>Different structure,</a:t>
            </a:r>
          </a:p>
          <a:p xmlns:a="http://schemas.openxmlformats.org/drawingml/2006/main">
            <a:pPr algn="ctr">
              <a:buNone/>
              <a:defRPr sz="1600">
                <a:solidFill>
                  <a:srgbClr val="000000"/>
                </a:solidFill>
                <a:latin typeface="Aptos"/>
                <a:ea typeface="Aptos"/>
                <a:cs typeface="Aptos"/>
              </a:defRPr>
            </a:pPr>
            <a:r>
              <a:rPr sz="1600">
                <a:solidFill>
                  <a:srgbClr val="000000"/>
                </a:solidFill>
                <a:latin typeface="Aptos"/>
                <a:ea typeface="Aptos"/>
                <a:cs typeface="Aptos"/>
              </a:rPr>
              <a:t>same behavior</a:t>
            </a:r>
          </a:p>
        </p:txBody>
      </p:sp>
      <p:sp>
        <p:nvSpPr>
          <p:cNvPr id="8" name="Rectangle 7">
            <a:extLst xmlns:a="http://schemas.openxmlformats.org/drawingml/2006/main">
              <a:ext uri="{FF2B5EF4-FFF2-40B4-BE49-F238E27FC236}">
                <a16:creationId xmlns:a16="http://schemas.microsoft.com/office/drawing/2014/main" id="{76EF4423-0555-CC17-B84B-969FAD651174}"/>
              </a:ext>
            </a:extLst>
          </p:cNvPr>
          <p:cNvSpPr>
            <a:spLocks xmlns:a="http://schemas.openxmlformats.org/drawingml/2006/main" noGrp="1"/>
          </p:cNvSpPr>
          <p:nvPr/>
        </p:nvSpPr>
        <p:spPr>
          <a:xfrm xmlns:a="http://schemas.openxmlformats.org/drawingml/2006/main">
            <a:off x="1447800" y="4608035"/>
            <a:ext cx="114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64748B"/>
                </a:solidFill>
                <a:latin typeface="Aptos"/>
                <a:ea typeface="Aptos"/>
                <a:cs typeface="Aptos"/>
              </a:defRPr>
            </a:pPr>
            <a:r>
              <a:rPr sz="975" b="1">
                <a:solidFill>
                  <a:srgbClr val="64748B"/>
                </a:solidFill>
                <a:latin typeface="Aptos"/>
                <a:ea typeface="Aptos"/>
                <a:cs typeface="Aptos"/>
              </a:rPr>
              <a:t>TEXTUAL</a:t>
            </a:r>
          </a:p>
        </p:txBody>
      </p:sp>
      <p:sp>
        <p:nvSpPr>
          <p:cNvPr id="10" name="Rectangle 9">
            <a:extLst xmlns:a="http://schemas.openxmlformats.org/drawingml/2006/main">
              <a:ext uri="{FF2B5EF4-FFF2-40B4-BE49-F238E27FC236}">
                <a16:creationId xmlns:a16="http://schemas.microsoft.com/office/drawing/2014/main" id="{E4A18234-4B72-9CC5-99E9-EC66FBB85A7F}"/>
              </a:ext>
            </a:extLst>
          </p:cNvPr>
          <p:cNvSpPr>
            <a:spLocks xmlns:a="http://schemas.openxmlformats.org/drawingml/2006/main" noGrp="1"/>
          </p:cNvSpPr>
          <p:nvPr/>
        </p:nvSpPr>
        <p:spPr>
          <a:xfrm xmlns:a="http://schemas.openxmlformats.org/drawingml/2006/main">
            <a:off x="5853172" y="4608035"/>
            <a:ext cx="114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64748B"/>
                </a:solidFill>
                <a:latin typeface="Aptos"/>
                <a:ea typeface="Aptos"/>
                <a:cs typeface="Aptos"/>
              </a:defRPr>
            </a:pPr>
            <a:r>
              <a:rPr sz="975" b="1">
                <a:solidFill>
                  <a:srgbClr val="64748B"/>
                </a:solidFill>
                <a:latin typeface="Aptos"/>
                <a:ea typeface="Aptos"/>
                <a:cs typeface="Aptos"/>
              </a:rPr>
              <a:t>T2 / T3</a:t>
            </a:r>
          </a:p>
        </p:txBody>
      </p:sp>
      <p:sp>
        <p:nvSpPr>
          <p:cNvPr id="13" name="Rectangle 12">
            <a:extLst xmlns:a="http://schemas.openxmlformats.org/drawingml/2006/main">
              <a:ext uri="{FF2B5EF4-FFF2-40B4-BE49-F238E27FC236}">
                <a16:creationId xmlns:a16="http://schemas.microsoft.com/office/drawing/2014/main" id="{00B7461A-A9EA-FD81-149B-7474B4644398}"/>
              </a:ext>
            </a:extLst>
          </p:cNvPr>
          <p:cNvSpPr>
            <a:spLocks xmlns:a="http://schemas.openxmlformats.org/drawingml/2006/main" noGrp="1"/>
          </p:cNvSpPr>
          <p:nvPr/>
        </p:nvSpPr>
        <p:spPr>
          <a:xfrm xmlns:a="http://schemas.openxmlformats.org/drawingml/2006/main">
            <a:off x="10477500" y="4608035"/>
            <a:ext cx="114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64748B"/>
                </a:solidFill>
                <a:latin typeface="Aptos"/>
                <a:ea typeface="Aptos"/>
                <a:cs typeface="Aptos"/>
              </a:defRPr>
            </a:pPr>
            <a:r>
              <a:rPr sz="975" b="1">
                <a:solidFill>
                  <a:srgbClr val="64748B"/>
                </a:solidFill>
                <a:latin typeface="Aptos"/>
                <a:ea typeface="Aptos"/>
                <a:cs typeface="Aptos"/>
              </a:rPr>
              <a:t>SEMANTIC</a:t>
            </a:r>
          </a:p>
        </p:txBody>
      </p:sp>
    </p:spTree>
    <p:extLst>
      <p:ext uri="{BB962C8B-B14F-4D97-AF65-F5344CB8AC3E}">
        <p14:creationId xmlns:p14="http://schemas.microsoft.com/office/powerpoint/2010/main" val="33110564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263B71A1-E541-50E6-064E-52D35929E48A}"/>
              </a:ext>
            </a:extLst>
          </p:cNvPr>
          <p:cNvSpPr>
            <a:spLocks xmlns:a="http://schemas.openxmlformats.org/drawingml/2006/main" noGrp="1"/>
          </p:cNvSpPr>
          <p:nvPr/>
        </p:nvSpPr>
        <p:spPr>
          <a:xfrm xmlns:a="http://schemas.openxmlformats.org/drawingml/2006/main">
            <a:off x="485976" y="401303"/>
            <a:ext cx="10063078" cy="646331"/>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l">
              <a:buNone/>
              <a:defRPr sz="3600">
                <a:solidFill>
                  <a:srgbClr val="4F2683"/>
                </a:solidFill>
                <a:latin typeface="Aptos Display"/>
                <a:ea typeface="Aptos Display"/>
                <a:cs typeface="Aptos Display"/>
              </a:defRPr>
            </a:pPr>
            <a:r>
              <a:rPr sz="3600">
                <a:solidFill>
                  <a:srgbClr val="4F2683"/>
                </a:solidFill>
                <a:latin typeface="Aptos Display"/>
                <a:ea typeface="Aptos Display"/>
                <a:cs typeface="Aptos Display"/>
              </a:rPr>
              <a:t>Testing Design – Evidence Evolution</a:t>
            </a:r>
          </a:p>
        </p:txBody>
      </p:sp>
      <p:sp>
        <p:nvSpPr>
          <p:cNvPr id="2" name="TextBox 1">
            <a:extLst xmlns:a="http://schemas.openxmlformats.org/drawingml/2006/main">
              <a:ext uri="{FF2B5EF4-FFF2-40B4-BE49-F238E27FC236}">
                <a16:creationId xmlns:a16="http://schemas.microsoft.com/office/drawing/2014/main" id="{CFD16A00-33F1-D3EA-351B-14FBD8D137A6}"/>
              </a:ext>
            </a:extLst>
          </p:cNvPr>
          <p:cNvSpPr>
            <a:spLocks xmlns:a="http://schemas.openxmlformats.org/drawingml/2006/main" noGrp="1"/>
          </p:cNvSpPr>
          <p:nvPr/>
        </p:nvSpPr>
        <p:spPr>
          <a:xfrm xmlns:a="http://schemas.openxmlformats.org/drawingml/2006/main">
            <a:off x="485976" y="2285151"/>
            <a:ext cx="781881" cy="400110"/>
          </a:xfrm>
          <a:prstGeom xmlns:a="http://schemas.openxmlformats.org/drawingml/2006/main" prst="rect">
            <a:avLst/>
          </a:prstGeom>
          <a:noFill xmlns:a="http://schemas.openxmlformats.org/drawingml/2006/main"/>
        </p:spPr>
        <p:txBody>
          <a:bodyPr xmlns:a="http://schemas.openxmlformats.org/drawingml/2006/main" wrap="none" anchor="ctr">
            <a:normAutofit fontScale="75231"/>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Smoke</a:t>
            </a:r>
          </a:p>
        </p:txBody>
      </p:sp>
      <p:sp>
        <p:nvSpPr>
          <p:cNvPr id="3" name="TextBox 2">
            <a:extLst xmlns:a="http://schemas.openxmlformats.org/drawingml/2006/main">
              <a:ext uri="{FF2B5EF4-FFF2-40B4-BE49-F238E27FC236}">
                <a16:creationId xmlns:a16="http://schemas.microsoft.com/office/drawing/2014/main" id="{788E991D-CC25-B10C-7187-28B8C7162033}"/>
              </a:ext>
            </a:extLst>
          </p:cNvPr>
          <p:cNvSpPr>
            <a:spLocks xmlns:a="http://schemas.openxmlformats.org/drawingml/2006/main" noGrp="1"/>
          </p:cNvSpPr>
          <p:nvPr/>
        </p:nvSpPr>
        <p:spPr>
          <a:xfrm xmlns:a="http://schemas.openxmlformats.org/drawingml/2006/main">
            <a:off x="470931" y="3289328"/>
            <a:ext cx="786690" cy="400110"/>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Full</a:t>
            </a:r>
          </a:p>
        </p:txBody>
      </p:sp>
      <p:sp>
        <p:nvSpPr>
          <p:cNvPr id="4" name="Cross 3">
            <a:extLst xmlns:a="http://schemas.openxmlformats.org/drawingml/2006/main">
              <a:ext uri="{FF2B5EF4-FFF2-40B4-BE49-F238E27FC236}">
                <a16:creationId xmlns:a16="http://schemas.microsoft.com/office/drawing/2014/main" id="{057637A3-2652-477E-9BAC-37E0F452FCFB}"/>
              </a:ext>
            </a:extLst>
          </p:cNvPr>
          <p:cNvSpPr>
            <a:spLocks xmlns:a="http://schemas.openxmlformats.org/drawingml/2006/main" noGrp="1"/>
          </p:cNvSpPr>
          <p:nvPr/>
        </p:nvSpPr>
        <p:spPr>
          <a:xfrm xmlns:a="http://schemas.openxmlformats.org/drawingml/2006/main">
            <a:off x="703959" y="2817526"/>
            <a:ext cx="320634" cy="308759"/>
          </a:xfrm>
          <a:prstGeom xmlns:a="http://schemas.openxmlformats.org/drawingml/2006/main" prst="plus">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ight Arrow 5">
            <a:extLst xmlns:a="http://schemas.openxmlformats.org/drawingml/2006/main">
              <a:ext uri="{FF2B5EF4-FFF2-40B4-BE49-F238E27FC236}">
                <a16:creationId xmlns:a16="http://schemas.microsoft.com/office/drawing/2014/main" id="{E188BC9D-64A3-C478-FD02-ABBC2FBC1F7A}"/>
              </a:ext>
            </a:extLst>
          </p:cNvPr>
          <p:cNvSpPr>
            <a:spLocks xmlns:a="http://schemas.openxmlformats.org/drawingml/2006/main" noGrp="1"/>
          </p:cNvSpPr>
          <p:nvPr/>
        </p:nvSpPr>
        <p:spPr>
          <a:xfrm xmlns:a="http://schemas.openxmlformats.org/drawingml/2006/main">
            <a:off x="1501321" y="2778086"/>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BD59D488-4C36-DC8C-FB68-80D61B742AB5}"/>
              </a:ext>
            </a:extLst>
          </p:cNvPr>
          <p:cNvSpPr>
            <a:spLocks xmlns:a="http://schemas.openxmlformats.org/drawingml/2006/main" noGrp="1"/>
          </p:cNvSpPr>
          <p:nvPr/>
        </p:nvSpPr>
        <p:spPr>
          <a:xfrm xmlns:a="http://schemas.openxmlformats.org/drawingml/2006/main">
            <a:off x="2382021" y="2771990"/>
            <a:ext cx="1072730" cy="400110"/>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Pilot</a:t>
            </a:r>
          </a:p>
        </p:txBody>
      </p:sp>
      <p:sp>
        <p:nvSpPr>
          <p:cNvPr id="9" name="TextBox 8">
            <a:extLst xmlns:a="http://schemas.openxmlformats.org/drawingml/2006/main">
              <a:ext uri="{FF2B5EF4-FFF2-40B4-BE49-F238E27FC236}">
                <a16:creationId xmlns:a16="http://schemas.microsoft.com/office/drawing/2014/main" id="{848AEA54-F1DA-F26C-38AA-C8EDA33AEDB2}"/>
              </a:ext>
            </a:extLst>
          </p:cNvPr>
          <p:cNvSpPr>
            <a:spLocks xmlns:a="http://schemas.openxmlformats.org/drawingml/2006/main" noGrp="1"/>
          </p:cNvSpPr>
          <p:nvPr/>
        </p:nvSpPr>
        <p:spPr>
          <a:xfrm xmlns:a="http://schemas.openxmlformats.org/drawingml/2006/main">
            <a:off x="1878486" y="3176847"/>
            <a:ext cx="2079800" cy="338554"/>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600">
                <a:solidFill>
                  <a:srgbClr val="818284"/>
                </a:solidFill>
                <a:latin typeface="Aptos"/>
                <a:ea typeface="Aptos"/>
                <a:cs typeface="Aptos"/>
              </a:defRPr>
            </a:pPr>
            <a:r>
              <a:rPr sz="1600">
                <a:solidFill>
                  <a:srgbClr val="818284"/>
                </a:solidFill>
                <a:latin typeface="Aptos"/>
                <a:ea typeface="Aptos"/>
                <a:cs typeface="Aptos"/>
              </a:rPr>
              <a:t>(wrapper inputs)</a:t>
            </a:r>
          </a:p>
        </p:txBody>
      </p:sp>
      <p:sp>
        <p:nvSpPr>
          <p:cNvPr id="10" name="Right Arrow 9">
            <a:extLst xmlns:a="http://schemas.openxmlformats.org/drawingml/2006/main">
              <a:ext uri="{FF2B5EF4-FFF2-40B4-BE49-F238E27FC236}">
                <a16:creationId xmlns:a16="http://schemas.microsoft.com/office/drawing/2014/main" id="{C7B83BA4-84FD-1E9F-3233-A5A4694B2CE9}"/>
              </a:ext>
            </a:extLst>
          </p:cNvPr>
          <p:cNvSpPr>
            <a:spLocks xmlns:a="http://schemas.openxmlformats.org/drawingml/2006/main" noGrp="1"/>
          </p:cNvSpPr>
          <p:nvPr/>
        </p:nvSpPr>
        <p:spPr>
          <a:xfrm xmlns:a="http://schemas.openxmlformats.org/drawingml/2006/main">
            <a:off x="4059527" y="2775038"/>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A7F1561B-EBF1-3557-A60C-F0E401F774C8}"/>
              </a:ext>
            </a:extLst>
          </p:cNvPr>
          <p:cNvSpPr>
            <a:spLocks xmlns:a="http://schemas.openxmlformats.org/drawingml/2006/main" noGrp="1"/>
          </p:cNvSpPr>
          <p:nvPr/>
        </p:nvSpPr>
        <p:spPr>
          <a:xfrm xmlns:a="http://schemas.openxmlformats.org/drawingml/2006/main">
            <a:off x="4951080" y="2775038"/>
            <a:ext cx="572593" cy="400110"/>
          </a:xfrm>
          <a:prstGeom xmlns:a="http://schemas.openxmlformats.org/drawingml/2006/main" prst="rect">
            <a:avLst/>
          </a:prstGeom>
          <a:noFill xmlns:a="http://schemas.openxmlformats.org/drawingml/2006/main"/>
        </p:spPr>
        <p:txBody>
          <a:bodyPr xmlns:a="http://schemas.openxmlformats.org/drawingml/2006/main" wrap="none" anchor="ctr">
            <a:normAutofit fontScale="65567"/>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Issue</a:t>
            </a:r>
          </a:p>
        </p:txBody>
      </p:sp>
      <p:sp>
        <p:nvSpPr>
          <p:cNvPr id="12" name="Right Arrow 11">
            <a:extLst xmlns:a="http://schemas.openxmlformats.org/drawingml/2006/main">
              <a:ext uri="{FF2B5EF4-FFF2-40B4-BE49-F238E27FC236}">
                <a16:creationId xmlns:a16="http://schemas.microsoft.com/office/drawing/2014/main" id="{B484F950-BAA5-BB2F-7040-0B31CA89364D}"/>
              </a:ext>
            </a:extLst>
          </p:cNvPr>
          <p:cNvSpPr>
            <a:spLocks xmlns:a="http://schemas.openxmlformats.org/drawingml/2006/main" noGrp="1"/>
          </p:cNvSpPr>
          <p:nvPr/>
        </p:nvSpPr>
        <p:spPr>
          <a:xfrm xmlns:a="http://schemas.openxmlformats.org/drawingml/2006/main">
            <a:off x="5835971" y="2775038"/>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B309AAC0-4723-24F0-34D1-B5F97ECFC1B4}"/>
              </a:ext>
            </a:extLst>
          </p:cNvPr>
          <p:cNvSpPr>
            <a:spLocks xmlns:a="http://schemas.openxmlformats.org/drawingml/2006/main" noGrp="1"/>
          </p:cNvSpPr>
          <p:nvPr/>
        </p:nvSpPr>
        <p:spPr>
          <a:xfrm xmlns:a="http://schemas.openxmlformats.org/drawingml/2006/main">
            <a:off x="6727524" y="2775038"/>
            <a:ext cx="572593" cy="400110"/>
          </a:xfrm>
          <a:prstGeom xmlns:a="http://schemas.openxmlformats.org/drawingml/2006/main" prst="rect">
            <a:avLst/>
          </a:prstGeom>
          <a:noFill xmlns:a="http://schemas.openxmlformats.org/drawingml/2006/main"/>
        </p:spPr>
        <p:txBody>
          <a:bodyPr xmlns:a="http://schemas.openxmlformats.org/drawingml/2006/main" wrap="none" anchor="ctr">
            <a:normAutofit fontScale="73202"/>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Data</a:t>
            </a:r>
          </a:p>
        </p:txBody>
      </p:sp>
      <p:sp>
        <p:nvSpPr>
          <p:cNvPr id="14" name="Right Arrow 13">
            <a:extLst xmlns:a="http://schemas.openxmlformats.org/drawingml/2006/main">
              <a:ext uri="{FF2B5EF4-FFF2-40B4-BE49-F238E27FC236}">
                <a16:creationId xmlns:a16="http://schemas.microsoft.com/office/drawing/2014/main" id="{CCA3B3D3-3384-A46D-58BD-BE3A71A23D35}"/>
              </a:ext>
            </a:extLst>
          </p:cNvPr>
          <p:cNvSpPr>
            <a:spLocks xmlns:a="http://schemas.openxmlformats.org/drawingml/2006/main" noGrp="1"/>
          </p:cNvSpPr>
          <p:nvPr/>
        </p:nvSpPr>
        <p:spPr>
          <a:xfrm xmlns:a="http://schemas.openxmlformats.org/drawingml/2006/main">
            <a:off x="7765993" y="2775038"/>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BA271DF4-0BC9-8111-E59A-03E7F26F3228}"/>
              </a:ext>
            </a:extLst>
          </p:cNvPr>
          <p:cNvSpPr>
            <a:spLocks xmlns:a="http://schemas.openxmlformats.org/drawingml/2006/main" noGrp="1"/>
          </p:cNvSpPr>
          <p:nvPr/>
        </p:nvSpPr>
        <p:spPr>
          <a:xfrm xmlns:a="http://schemas.openxmlformats.org/drawingml/2006/main">
            <a:off x="8657546" y="2775038"/>
            <a:ext cx="572593" cy="400110"/>
          </a:xfrm>
          <a:prstGeom xmlns:a="http://schemas.openxmlformats.org/drawingml/2006/main" prst="rect">
            <a:avLst/>
          </a:prstGeom>
          <a:noFill xmlns:a="http://schemas.openxmlformats.org/drawingml/2006/main"/>
        </p:spPr>
        <p:txBody>
          <a:bodyPr xmlns:a="http://schemas.openxmlformats.org/drawingml/2006/main" wrap="none" anchor="ctr">
            <a:normAutofit fontScale="70749"/>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3 GT</a:t>
            </a:r>
          </a:p>
        </p:txBody>
      </p:sp>
      <p:sp>
        <p:nvSpPr>
          <p:cNvPr id="16" name="Right Arrow 15">
            <a:extLst xmlns:a="http://schemas.openxmlformats.org/drawingml/2006/main">
              <a:ext uri="{FF2B5EF4-FFF2-40B4-BE49-F238E27FC236}">
                <a16:creationId xmlns:a16="http://schemas.microsoft.com/office/drawing/2014/main" id="{1CDF8EE0-DEF4-7837-BC8F-FFD846BF39B3}"/>
              </a:ext>
            </a:extLst>
          </p:cNvPr>
          <p:cNvSpPr>
            <a:spLocks xmlns:a="http://schemas.openxmlformats.org/drawingml/2006/main" noGrp="1"/>
          </p:cNvSpPr>
          <p:nvPr/>
        </p:nvSpPr>
        <p:spPr>
          <a:xfrm xmlns:a="http://schemas.openxmlformats.org/drawingml/2006/main">
            <a:off x="9450184" y="2775038"/>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FE3DD62C-D665-C67B-0299-59325FFE3F6C}"/>
              </a:ext>
            </a:extLst>
          </p:cNvPr>
          <p:cNvSpPr>
            <a:spLocks xmlns:a="http://schemas.openxmlformats.org/drawingml/2006/main" noGrp="1"/>
          </p:cNvSpPr>
          <p:nvPr/>
        </p:nvSpPr>
        <p:spPr>
          <a:xfrm xmlns:a="http://schemas.openxmlformats.org/drawingml/2006/main">
            <a:off x="10213051" y="2733694"/>
            <a:ext cx="1077539" cy="400110"/>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Formal</a:t>
            </a:r>
          </a:p>
        </p:txBody>
      </p:sp>
      <p:sp>
        <p:nvSpPr>
          <p:cNvPr id="18" name="TextBox 17">
            <a:extLst xmlns:a="http://schemas.openxmlformats.org/drawingml/2006/main">
              <a:ext uri="{FF2B5EF4-FFF2-40B4-BE49-F238E27FC236}">
                <a16:creationId xmlns:a16="http://schemas.microsoft.com/office/drawing/2014/main" id="{8F1F110B-59CE-E5E6-9423-B1271D259CFD}"/>
              </a:ext>
            </a:extLst>
          </p:cNvPr>
          <p:cNvSpPr>
            <a:spLocks xmlns:a="http://schemas.openxmlformats.org/drawingml/2006/main" noGrp="1"/>
          </p:cNvSpPr>
          <p:nvPr/>
        </p:nvSpPr>
        <p:spPr>
          <a:xfrm xmlns:a="http://schemas.openxmlformats.org/drawingml/2006/main">
            <a:off x="10059965" y="3172100"/>
            <a:ext cx="1383712" cy="338554"/>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600">
                <a:solidFill>
                  <a:srgbClr val="818284"/>
                </a:solidFill>
                <a:latin typeface="Aptos"/>
                <a:ea typeface="Aptos"/>
                <a:cs typeface="Aptos"/>
              </a:defRPr>
            </a:pPr>
            <a:r>
              <a:rPr sz="1600">
                <a:solidFill>
                  <a:srgbClr val="818284"/>
                </a:solidFill>
                <a:latin typeface="Aptos"/>
                <a:ea typeface="Aptos"/>
                <a:cs typeface="Aptos"/>
              </a:rPr>
              <a:t>(4,000 pairs)</a:t>
            </a:r>
          </a:p>
        </p:txBody>
      </p:sp>
    </p:spTree>
    <p:extLst>
      <p:ext uri="{BB962C8B-B14F-4D97-AF65-F5344CB8AC3E}">
        <p14:creationId xmlns:p14="http://schemas.microsoft.com/office/powerpoint/2010/main" val="398780952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B5B6FB25-DE15-FDF3-5EAE-F29396F4A100}"/>
              </a:ext>
            </a:extLst>
          </p:cNvPr>
          <p:cNvSpPr>
            <a:spLocks xmlns:a="http://schemas.openxmlformats.org/drawingml/2006/main" noGrp="1"/>
          </p:cNvSpPr>
          <p:nvPr/>
        </p:nvSpPr>
        <p:spPr>
          <a:xfrm xmlns:a="http://schemas.openxmlformats.org/drawingml/2006/main">
            <a:off x="485976" y="401303"/>
            <a:ext cx="10071188" cy="646331"/>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l">
              <a:buNone/>
              <a:defRPr sz="3600">
                <a:solidFill>
                  <a:srgbClr val="4F2683"/>
                </a:solidFill>
                <a:latin typeface="Aptos Display"/>
                <a:ea typeface="Aptos Display"/>
                <a:cs typeface="Aptos Display"/>
              </a:defRPr>
            </a:pPr>
            <a:r>
              <a:rPr sz="3600">
                <a:solidFill>
                  <a:srgbClr val="4F2683"/>
                </a:solidFill>
                <a:latin typeface="Aptos Display"/>
                <a:ea typeface="Aptos Display"/>
                <a:cs typeface="Aptos Display"/>
              </a:rPr>
              <a:t>Testing Design – Full Semantic Path</a:t>
            </a:r>
          </a:p>
        </p:txBody>
      </p:sp>
      <p:sp>
        <p:nvSpPr>
          <p:cNvPr id="7" name="TextBox 6">
            <a:extLst xmlns:a="http://schemas.openxmlformats.org/drawingml/2006/main">
              <a:ext uri="{FF2B5EF4-FFF2-40B4-BE49-F238E27FC236}">
                <a16:creationId xmlns:a16="http://schemas.microsoft.com/office/drawing/2014/main" id="{F70704F0-2F34-F13B-ADDF-F1409A9C0048}"/>
              </a:ext>
            </a:extLst>
          </p:cNvPr>
          <p:cNvSpPr>
            <a:spLocks xmlns:a="http://schemas.openxmlformats.org/drawingml/2006/main" noGrp="1"/>
          </p:cNvSpPr>
          <p:nvPr/>
        </p:nvSpPr>
        <p:spPr>
          <a:xfrm xmlns:a="http://schemas.openxmlformats.org/drawingml/2006/main">
            <a:off x="853750" y="1162369"/>
            <a:ext cx="10437732" cy="3477875"/>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normAutofit fontScale="100000"/>
          </a:bodyPr>
          <a:lstStyle xmlns:a="http://schemas.openxmlformats.org/drawingml/2006/main"/>
          <a:p xmlns:a="http://schemas.openxmlformats.org/drawingml/2006/main">
            <a:pPr marL="28" indent="-14" algn="l">
              <a:spcAft>
                <a:spcPts val="14"/>
              </a:spcAft>
              <a:buChar char="•"/>
              <a:defRPr sz="2000">
                <a:solidFill>
                  <a:srgbClr val="4F2683"/>
                </a:solidFill>
                <a:latin typeface="Aptos"/>
                <a:ea typeface="Aptos"/>
                <a:cs typeface="Aptos"/>
              </a:defRPr>
            </a:pPr>
            <a:r>
              <a:rPr sz="2000">
                <a:solidFill>
                  <a:srgbClr val="4F2683"/>
                </a:solidFill>
                <a:latin typeface="Aptos"/>
                <a:ea typeface="Aptos"/>
                <a:cs typeface="Aptos"/>
              </a:rPr>
              <a:t>Validate complete Java inputs before scoring</a:t>
            </a:r>
          </a:p>
          <a:p xmlns:a="http://schemas.openxmlformats.org/drawingml/2006/main">
            <a:pPr marL="28" indent="-14" algn="l">
              <a:spcAft>
                <a:spcPts val="14"/>
              </a:spcAft>
              <a:buChar char="•"/>
              <a:defRPr sz="2000">
                <a:solidFill>
                  <a:srgbClr val="4F2683"/>
                </a:solidFill>
                <a:latin typeface="Aptos"/>
                <a:ea typeface="Aptos"/>
                <a:cs typeface="Aptos"/>
              </a:defRPr>
            </a:pPr>
            <a:r>
              <a:rPr sz="2000">
                <a:solidFill>
                  <a:srgbClr val="4F2683"/>
                </a:solidFill>
                <a:latin typeface="Aptos"/>
                <a:ea typeface="Aptos"/>
                <a:cs typeface="Aptos"/>
              </a:rPr>
              <a:t>Compile with deterministic stub assistance</a:t>
            </a:r>
          </a:p>
          <a:p xmlns:a="http://schemas.openxmlformats.org/drawingml/2006/main">
            <a:pPr marL="28" indent="-14" algn="l">
              <a:spcAft>
                <a:spcPts val="14"/>
              </a:spcAft>
              <a:buChar char="•"/>
              <a:defRPr sz="2000">
                <a:solidFill>
                  <a:srgbClr val="4F2683"/>
                </a:solidFill>
                <a:latin typeface="Aptos"/>
                <a:ea typeface="Aptos"/>
                <a:cs typeface="Aptos"/>
              </a:defRPr>
            </a:pPr>
            <a:r>
              <a:rPr sz="2000">
                <a:solidFill>
                  <a:srgbClr val="4F2683"/>
                </a:solidFill>
                <a:latin typeface="Aptos"/>
                <a:ea typeface="Aptos"/>
                <a:cs typeface="Aptos"/>
              </a:rPr>
              <a:t>Run WALA + region matching + SMT</a:t>
            </a:r>
          </a:p>
          <a:p xmlns:a="http://schemas.openxmlformats.org/drawingml/2006/main">
            <a:pPr marL="28" indent="-14" algn="l">
              <a:spcAft>
                <a:spcPts val="14"/>
              </a:spcAft>
              <a:buChar char="•"/>
              <a:defRPr sz="2000">
                <a:solidFill>
                  <a:srgbClr val="4F2683"/>
                </a:solidFill>
                <a:latin typeface="Aptos"/>
                <a:ea typeface="Aptos"/>
                <a:cs typeface="Aptos"/>
              </a:defRPr>
            </a:pPr>
            <a:r>
              <a:rPr sz="2000">
                <a:solidFill>
                  <a:srgbClr val="4F2683"/>
                </a:solidFill>
                <a:latin typeface="Aptos"/>
                <a:ea typeface="Aptos"/>
                <a:cs typeface="Aptos"/>
              </a:rPr>
              <a:t>Preserve raw output; score with separate references</a:t>
            </a:r>
          </a:p>
        </p:txBody>
      </p:sp>
      <p:sp>
        <p:nvSpPr>
          <p:cNvPr id="2" name="TextBox 1">
            <a:extLst xmlns:a="http://schemas.openxmlformats.org/drawingml/2006/main">
              <a:ext uri="{FF2B5EF4-FFF2-40B4-BE49-F238E27FC236}">
                <a16:creationId xmlns:a16="http://schemas.microsoft.com/office/drawing/2014/main" id="{D7232665-496C-1585-5617-D41D47F81E55}"/>
              </a:ext>
            </a:extLst>
          </p:cNvPr>
          <p:cNvSpPr>
            <a:spLocks xmlns:a="http://schemas.openxmlformats.org/drawingml/2006/main" noGrp="1"/>
          </p:cNvSpPr>
          <p:nvPr/>
        </p:nvSpPr>
        <p:spPr>
          <a:xfrm xmlns:a="http://schemas.openxmlformats.org/drawingml/2006/main">
            <a:off x="643078" y="3957541"/>
            <a:ext cx="781881" cy="400110"/>
          </a:xfrm>
          <a:prstGeom xmlns:a="http://schemas.openxmlformats.org/drawingml/2006/main" prst="rect">
            <a:avLst/>
          </a:prstGeom>
          <a:noFill xmlns:a="http://schemas.openxmlformats.org/drawingml/2006/main"/>
        </p:spPr>
        <p:txBody>
          <a:bodyPr xmlns:a="http://schemas.openxmlformats.org/drawingml/2006/main" wrap="none" anchor="ctr">
            <a:normAutofit fontScale="94993"/>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File A</a:t>
            </a:r>
          </a:p>
        </p:txBody>
      </p:sp>
      <p:sp>
        <p:nvSpPr>
          <p:cNvPr id="3" name="TextBox 2">
            <a:extLst xmlns:a="http://schemas.openxmlformats.org/drawingml/2006/main">
              <a:ext uri="{FF2B5EF4-FFF2-40B4-BE49-F238E27FC236}">
                <a16:creationId xmlns:a16="http://schemas.microsoft.com/office/drawing/2014/main" id="{842FA780-4455-347F-EA36-A0382728F4D3}"/>
              </a:ext>
            </a:extLst>
          </p:cNvPr>
          <p:cNvSpPr>
            <a:spLocks xmlns:a="http://schemas.openxmlformats.org/drawingml/2006/main" noGrp="1"/>
          </p:cNvSpPr>
          <p:nvPr/>
        </p:nvSpPr>
        <p:spPr>
          <a:xfrm xmlns:a="http://schemas.openxmlformats.org/drawingml/2006/main">
            <a:off x="628033" y="4961718"/>
            <a:ext cx="786690" cy="400110"/>
          </a:xfrm>
          <a:prstGeom xmlns:a="http://schemas.openxmlformats.org/drawingml/2006/main" prst="rect">
            <a:avLst/>
          </a:prstGeom>
          <a:noFill xmlns:a="http://schemas.openxmlformats.org/drawingml/2006/main"/>
        </p:spPr>
        <p:txBody>
          <a:bodyPr xmlns:a="http://schemas.openxmlformats.org/drawingml/2006/main" wrap="none" anchor="ctr">
            <a:normAutofit fontScale="94393"/>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File B</a:t>
            </a:r>
          </a:p>
        </p:txBody>
      </p:sp>
      <p:sp>
        <p:nvSpPr>
          <p:cNvPr id="4" name="Cross 3">
            <a:extLst xmlns:a="http://schemas.openxmlformats.org/drawingml/2006/main">
              <a:ext uri="{FF2B5EF4-FFF2-40B4-BE49-F238E27FC236}">
                <a16:creationId xmlns:a16="http://schemas.microsoft.com/office/drawing/2014/main" id="{96724523-4C33-96CB-894E-93679BBBC391}"/>
              </a:ext>
            </a:extLst>
          </p:cNvPr>
          <p:cNvSpPr>
            <a:spLocks xmlns:a="http://schemas.openxmlformats.org/drawingml/2006/main" noGrp="1"/>
          </p:cNvSpPr>
          <p:nvPr/>
        </p:nvSpPr>
        <p:spPr>
          <a:xfrm xmlns:a="http://schemas.openxmlformats.org/drawingml/2006/main">
            <a:off x="861061" y="4489916"/>
            <a:ext cx="320634" cy="308759"/>
          </a:xfrm>
          <a:prstGeom xmlns:a="http://schemas.openxmlformats.org/drawingml/2006/main" prst="plus">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ight Arrow 5">
            <a:extLst xmlns:a="http://schemas.openxmlformats.org/drawingml/2006/main">
              <a:ext uri="{FF2B5EF4-FFF2-40B4-BE49-F238E27FC236}">
                <a16:creationId xmlns:a16="http://schemas.microsoft.com/office/drawing/2014/main" id="{7A97C235-4F8F-D606-E023-A76A9E359145}"/>
              </a:ext>
            </a:extLst>
          </p:cNvPr>
          <p:cNvSpPr>
            <a:spLocks xmlns:a="http://schemas.openxmlformats.org/drawingml/2006/main" noGrp="1"/>
          </p:cNvSpPr>
          <p:nvPr/>
        </p:nvSpPr>
        <p:spPr>
          <a:xfrm xmlns:a="http://schemas.openxmlformats.org/drawingml/2006/main">
            <a:off x="1781338" y="4487175"/>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7E64FDFF-B01B-11FA-0C60-D4211EA89D13}"/>
              </a:ext>
            </a:extLst>
          </p:cNvPr>
          <p:cNvSpPr>
            <a:spLocks xmlns:a="http://schemas.openxmlformats.org/drawingml/2006/main" noGrp="1"/>
          </p:cNvSpPr>
          <p:nvPr/>
        </p:nvSpPr>
        <p:spPr>
          <a:xfrm xmlns:a="http://schemas.openxmlformats.org/drawingml/2006/main">
            <a:off x="3226689" y="4357651"/>
            <a:ext cx="688009" cy="400110"/>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JDK</a:t>
            </a:r>
          </a:p>
        </p:txBody>
      </p:sp>
      <p:sp>
        <p:nvSpPr>
          <p:cNvPr id="9" name="TextBox 8">
            <a:extLst xmlns:a="http://schemas.openxmlformats.org/drawingml/2006/main">
              <a:ext uri="{FF2B5EF4-FFF2-40B4-BE49-F238E27FC236}">
                <a16:creationId xmlns:a16="http://schemas.microsoft.com/office/drawing/2014/main" id="{52584F8D-C3CA-8584-9234-28BF946565D9}"/>
              </a:ext>
            </a:extLst>
          </p:cNvPr>
          <p:cNvSpPr>
            <a:spLocks xmlns:a="http://schemas.openxmlformats.org/drawingml/2006/main" noGrp="1"/>
          </p:cNvSpPr>
          <p:nvPr/>
        </p:nvSpPr>
        <p:spPr>
          <a:xfrm xmlns:a="http://schemas.openxmlformats.org/drawingml/2006/main">
            <a:off x="2680513" y="4765915"/>
            <a:ext cx="1780359" cy="338554"/>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600">
                <a:solidFill>
                  <a:srgbClr val="818284"/>
                </a:solidFill>
                <a:latin typeface="Aptos"/>
                <a:ea typeface="Aptos"/>
                <a:cs typeface="Aptos"/>
              </a:defRPr>
            </a:pPr>
            <a:r>
              <a:rPr sz="1600">
                <a:solidFill>
                  <a:srgbClr val="818284"/>
                </a:solidFill>
                <a:latin typeface="Aptos"/>
                <a:ea typeface="Aptos"/>
                <a:cs typeface="Aptos"/>
              </a:rPr>
              <a:t>(stubs if needed)</a:t>
            </a:r>
          </a:p>
        </p:txBody>
      </p:sp>
      <p:sp>
        <p:nvSpPr>
          <p:cNvPr id="10" name="Right Arrow 9">
            <a:extLst xmlns:a="http://schemas.openxmlformats.org/drawingml/2006/main">
              <a:ext uri="{FF2B5EF4-FFF2-40B4-BE49-F238E27FC236}">
                <a16:creationId xmlns:a16="http://schemas.microsoft.com/office/drawing/2014/main" id="{FC2D3742-4C9D-FD09-496D-AC4A300345B8}"/>
              </a:ext>
            </a:extLst>
          </p:cNvPr>
          <p:cNvSpPr>
            <a:spLocks xmlns:a="http://schemas.openxmlformats.org/drawingml/2006/main" noGrp="1"/>
          </p:cNvSpPr>
          <p:nvPr/>
        </p:nvSpPr>
        <p:spPr>
          <a:xfrm xmlns:a="http://schemas.openxmlformats.org/drawingml/2006/main">
            <a:off x="4920460" y="4437560"/>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9F80DE22-179C-16F6-21B5-3EC939F6367E}"/>
              </a:ext>
            </a:extLst>
          </p:cNvPr>
          <p:cNvSpPr>
            <a:spLocks xmlns:a="http://schemas.openxmlformats.org/drawingml/2006/main" noGrp="1"/>
          </p:cNvSpPr>
          <p:nvPr/>
        </p:nvSpPr>
        <p:spPr>
          <a:xfrm xmlns:a="http://schemas.openxmlformats.org/drawingml/2006/main">
            <a:off x="7211953" y="4337618"/>
            <a:ext cx="2010807" cy="400110"/>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WALA + SMT</a:t>
            </a:r>
          </a:p>
        </p:txBody>
      </p:sp>
      <p:sp>
        <p:nvSpPr>
          <p:cNvPr id="13" name="TextBox 12">
            <a:extLst xmlns:a="http://schemas.openxmlformats.org/drawingml/2006/main">
              <a:ext uri="{FF2B5EF4-FFF2-40B4-BE49-F238E27FC236}">
                <a16:creationId xmlns:a16="http://schemas.microsoft.com/office/drawing/2014/main" id="{9060EB44-DB26-698F-2FB6-EC5329B4AB82}"/>
              </a:ext>
            </a:extLst>
          </p:cNvPr>
          <p:cNvSpPr>
            <a:spLocks xmlns:a="http://schemas.openxmlformats.org/drawingml/2006/main" noGrp="1"/>
          </p:cNvSpPr>
          <p:nvPr/>
        </p:nvSpPr>
        <p:spPr>
          <a:xfrm xmlns:a="http://schemas.openxmlformats.org/drawingml/2006/main">
            <a:off x="5474106" y="4753286"/>
            <a:ext cx="5486502" cy="338554"/>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600">
                <a:solidFill>
                  <a:srgbClr val="818284"/>
                </a:solidFill>
                <a:latin typeface="Aptos"/>
                <a:ea typeface="Aptos"/>
                <a:cs typeface="Aptos"/>
              </a:defRPr>
            </a:pPr>
            <a:r>
              <a:rPr sz="1600">
                <a:solidFill>
                  <a:srgbClr val="818284"/>
                </a:solidFill>
                <a:latin typeface="Aptos"/>
                <a:ea typeface="Aptos"/>
                <a:cs typeface="Aptos"/>
              </a:rPr>
              <a:t>(graphs · regions · evidence)</a:t>
            </a:r>
          </a:p>
        </p:txBody>
      </p:sp>
      <p:sp>
        <p:nvSpPr>
          <p:cNvPr id="14" name="TextBox 13">
            <a:extLst xmlns:a="http://schemas.openxmlformats.org/drawingml/2006/main">
              <a:ext uri="{FF2B5EF4-FFF2-40B4-BE49-F238E27FC236}">
                <a16:creationId xmlns:a16="http://schemas.microsoft.com/office/drawing/2014/main" id="{A5D729B8-9A53-62DE-5ADF-E46BC0046E05}"/>
              </a:ext>
            </a:extLst>
          </p:cNvPr>
          <p:cNvSpPr>
            <a:spLocks xmlns:a="http://schemas.openxmlformats.org/drawingml/2006/main" noGrp="1"/>
          </p:cNvSpPr>
          <p:nvPr/>
        </p:nvSpPr>
        <p:spPr>
          <a:xfrm xmlns:a="http://schemas.openxmlformats.org/drawingml/2006/main">
            <a:off x="7476576" y="5718033"/>
            <a:ext cx="1712007" cy="400110"/>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Typed Result</a:t>
            </a:r>
          </a:p>
        </p:txBody>
      </p:sp>
      <p:sp>
        <p:nvSpPr>
          <p:cNvPr id="15" name="TextBox 14">
            <a:extLst xmlns:a="http://schemas.openxmlformats.org/drawingml/2006/main">
              <a:ext uri="{FF2B5EF4-FFF2-40B4-BE49-F238E27FC236}">
                <a16:creationId xmlns:a16="http://schemas.microsoft.com/office/drawing/2014/main" id="{0A3CC543-C903-0DED-EDE5-5B16606884AF}"/>
              </a:ext>
            </a:extLst>
          </p:cNvPr>
          <p:cNvSpPr>
            <a:spLocks xmlns:a="http://schemas.openxmlformats.org/drawingml/2006/main" noGrp="1"/>
          </p:cNvSpPr>
          <p:nvPr/>
        </p:nvSpPr>
        <p:spPr>
          <a:xfrm xmlns:a="http://schemas.openxmlformats.org/drawingml/2006/main">
            <a:off x="6341585" y="6136275"/>
            <a:ext cx="3981988" cy="338554"/>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600">
                <a:solidFill>
                  <a:srgbClr val="818284"/>
                </a:solidFill>
                <a:latin typeface="Aptos"/>
                <a:ea typeface="Aptos"/>
                <a:cs typeface="Aptos"/>
              </a:defRPr>
            </a:pPr>
            <a:r>
              <a:rPr sz="1600">
                <a:solidFill>
                  <a:srgbClr val="818284"/>
                </a:solidFill>
                <a:latin typeface="Aptos"/>
                <a:ea typeface="Aptos"/>
                <a:cs typeface="Aptos"/>
              </a:rPr>
              <a:t>(T1 · T2 · T3 · possible T4)</a:t>
            </a:r>
          </a:p>
        </p:txBody>
      </p:sp>
      <p:sp>
        <p:nvSpPr>
          <p:cNvPr id="16" name="Right Arrow 15">
            <a:extLst xmlns:a="http://schemas.openxmlformats.org/drawingml/2006/main">
              <a:ext uri="{FF2B5EF4-FFF2-40B4-BE49-F238E27FC236}">
                <a16:creationId xmlns:a16="http://schemas.microsoft.com/office/drawing/2014/main" id="{CA4E62F0-845D-2AF7-8260-FBCE414C411B}"/>
              </a:ext>
            </a:extLst>
          </p:cNvPr>
          <p:cNvSpPr>
            <a:spLocks xmlns:a="http://schemas.openxmlformats.org/drawingml/2006/main" noGrp="1"/>
          </p:cNvSpPr>
          <p:nvPr/>
        </p:nvSpPr>
        <p:spPr>
          <a:xfrm xmlns:a="http://schemas.openxmlformats.org/drawingml/2006/main" rot="5400000">
            <a:off x="8125168" y="5229668"/>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53309251-1DD9-BED2-CECA-631207A86BC8}"/>
              </a:ext>
            </a:extLst>
          </p:cNvPr>
          <p:cNvSpPr>
            <a:spLocks xmlns:a="http://schemas.openxmlformats.org/drawingml/2006/main" noGrp="1"/>
          </p:cNvSpPr>
          <p:nvPr/>
        </p:nvSpPr>
        <p:spPr>
          <a:xfrm xmlns:a="http://schemas.openxmlformats.org/drawingml/2006/main">
            <a:off x="1988750" y="5727166"/>
            <a:ext cx="1801583" cy="400110"/>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Scoring</a:t>
            </a:r>
          </a:p>
        </p:txBody>
      </p:sp>
      <p:sp>
        <p:nvSpPr>
          <p:cNvPr id="19" name="TextBox 18">
            <a:extLst xmlns:a="http://schemas.openxmlformats.org/drawingml/2006/main">
              <a:ext uri="{FF2B5EF4-FFF2-40B4-BE49-F238E27FC236}">
                <a16:creationId xmlns:a16="http://schemas.microsoft.com/office/drawing/2014/main" id="{F821640E-E606-CFE0-DA27-0902280F3B3E}"/>
              </a:ext>
            </a:extLst>
          </p:cNvPr>
          <p:cNvSpPr>
            <a:spLocks xmlns:a="http://schemas.openxmlformats.org/drawingml/2006/main" noGrp="1"/>
          </p:cNvSpPr>
          <p:nvPr/>
        </p:nvSpPr>
        <p:spPr>
          <a:xfrm xmlns:a="http://schemas.openxmlformats.org/drawingml/2006/main">
            <a:off x="375539" y="6136275"/>
            <a:ext cx="5215017" cy="338554"/>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600">
                <a:solidFill>
                  <a:srgbClr val="818284"/>
                </a:solidFill>
                <a:latin typeface="Aptos"/>
                <a:ea typeface="Aptos"/>
                <a:cs typeface="Aptos"/>
              </a:defRPr>
            </a:pPr>
            <a:r>
              <a:rPr sz="1600">
                <a:solidFill>
                  <a:srgbClr val="818284"/>
                </a:solidFill>
                <a:latin typeface="Aptos"/>
                <a:ea typeface="Aptos"/>
                <a:cs typeface="Aptos"/>
              </a:rPr>
              <a:t>(c-match · type · localization)</a:t>
            </a:r>
          </a:p>
        </p:txBody>
      </p:sp>
      <p:sp>
        <p:nvSpPr>
          <p:cNvPr id="20" name="Right Arrow 19">
            <a:extLst xmlns:a="http://schemas.openxmlformats.org/drawingml/2006/main">
              <a:ext uri="{FF2B5EF4-FFF2-40B4-BE49-F238E27FC236}">
                <a16:creationId xmlns:a16="http://schemas.microsoft.com/office/drawing/2014/main" id="{65ED37C2-AD34-0C25-E4F7-EFCA512BD7EC}"/>
              </a:ext>
            </a:extLst>
          </p:cNvPr>
          <p:cNvSpPr>
            <a:spLocks xmlns:a="http://schemas.openxmlformats.org/drawingml/2006/main" noGrp="1"/>
          </p:cNvSpPr>
          <p:nvPr/>
        </p:nvSpPr>
        <p:spPr>
          <a:xfrm xmlns:a="http://schemas.openxmlformats.org/drawingml/2006/main" rot="10800000">
            <a:off x="5758659" y="5818852"/>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214877378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976" y="401303"/>
            <a:ext cx="5144262" cy="646331"/>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l">
              <a:buNone/>
              <a:defRPr sz="3600">
                <a:solidFill>
                  <a:srgbClr val="4F2683"/>
                </a:solidFill>
                <a:latin typeface="Aptos Display"/>
                <a:ea typeface="Aptos Display"/>
                <a:cs typeface="Aptos Display"/>
              </a:defRPr>
            </a:pPr>
            <a:r>
              <a:rPr sz="3600">
                <a:solidFill>
                  <a:srgbClr val="4F2683"/>
                </a:solidFill>
                <a:latin typeface="Aptos Display"/>
                <a:ea typeface="Aptos Display"/>
                <a:cs typeface="Aptos Display"/>
              </a:rPr>
              <a:t>BCB Smoke – 140 Pairs</a:t>
            </a:r>
          </a:p>
        </p:txBody>
      </p:sp>
      <p:pic>
        <p:nvPicPr>
          <p:cNvPr id="29" name="Picture 3"/>
          <p:cNvPicPr>
            <a:picLocks xmlns:a="http://schemas.openxmlformats.org/drawingml/2006/main" noChangeAspect="1"/>
          </p:cNvPicPr>
          <p:nvPr/>
        </p:nvPicPr>
        <p:blipFill>
          <a:blip xmlns:r="http://schemas.openxmlformats.org/officeDocument/2006/relationships" xmlns:a="http://schemas.openxmlformats.org/drawingml/2006/main" r:embed="R4762eb529b374241"/>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20" name="smoke-chart-note">
            <a:extLst xmlns:a="http://schemas.openxmlformats.org/drawingml/2006/main">
              <a:ext uri="{FF2B5EF4-FFF2-40B4-BE49-F238E27FC236}">
                <a16:creationId xmlns:a16="http://schemas.microsoft.com/office/drawing/2014/main" id="{2D595DD7-7F5E-41B6-B948-E1C52E070498}"/>
              </a:ext>
            </a:extLst>
          </p:cNvPr>
          <p:cNvSpPr>
            <a:spLocks xmlns:a="http://schemas.openxmlformats.org/drawingml/2006/main" noGrp="1"/>
          </p:cNvSpPr>
          <p:nvPr/>
        </p:nvSpPr>
        <p:spPr>
          <a:xfrm xmlns:a="http://schemas.openxmlformats.org/drawingml/2006/main">
            <a:off x="552450" y="11430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a:solidFill>
                  <a:srgbClr val="767676"/>
                </a:solidFill>
                <a:latin typeface="Aptos"/>
                <a:ea typeface="Aptos"/>
                <a:cs typeface="Aptos"/>
              </a:defRPr>
            </a:pPr>
            <a:r>
              <a:rPr sz="975">
                <a:solidFill>
                  <a:srgbClr val="767676"/>
                </a:solidFill>
                <a:latin typeface="Aptos"/>
                <a:ea typeface="Aptos"/>
                <a:cs typeface="Aptos"/>
              </a:rPr>
              <a:t>Higher is better · values are percentages</a:t>
            </a:r>
          </a:p>
        </p:txBody>
      </p:sp>
      <p:graphicFrame>
        <p:nvGraphicFramePr>
          <p:cNvPr id="31" name="Chart"/>
          <p:cNvGraphicFramePr/>
          <p:nvPr/>
        </p:nvGraphicFramePr>
        <p:xfrm>
          <a:off xmlns:a="http://schemas.openxmlformats.org/drawingml/2006/main" x="457200" y="1381125"/>
          <a:ext xmlns:a="http://schemas.openxmlformats.org/drawingml/2006/main" cx="7953375" cy="4048125"/>
        </p:xfrm>
        <a:graphic xmlns:a="http://schemas.openxmlformats.org/drawingml/2006/main">
          <a:graphicData uri="http://schemas.openxmlformats.org/drawingml/2006/chart">
            <c:chart xmlns:r="http://schemas.openxmlformats.org/officeDocument/2006/relationships" xmlns:c="http://schemas.openxmlformats.org/drawingml/2006/chart" r:id="R2815df7f100d4b31"/>
          </a:graphicData>
        </a:graphic>
      </p:graphicFrame>
      <p:sp>
        <p:nvSpPr>
          <p:cNvPr id="22" name="smoke-validity-label">
            <a:extLst xmlns:a="http://schemas.openxmlformats.org/drawingml/2006/main">
              <a:ext uri="{FF2B5EF4-FFF2-40B4-BE49-F238E27FC236}">
                <a16:creationId xmlns:a16="http://schemas.microsoft.com/office/drawing/2014/main" id="{03D023C8-2811-4F0F-B5C8-7E4C516DB120}"/>
              </a:ext>
            </a:extLst>
          </p:cNvPr>
          <p:cNvSpPr>
            <a:spLocks xmlns:a="http://schemas.openxmlformats.org/drawingml/2006/main" noGrp="1"/>
          </p:cNvSpPr>
          <p:nvPr/>
        </p:nvSpPr>
        <p:spPr>
          <a:xfrm xmlns:a="http://schemas.openxmlformats.org/drawingml/2006/main">
            <a:off x="8763000" y="14668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4F2683"/>
                </a:solidFill>
                <a:latin typeface="Aptos"/>
                <a:ea typeface="Aptos"/>
                <a:cs typeface="Aptos"/>
              </a:defRPr>
            </a:pPr>
            <a:r>
              <a:rPr sz="1200" b="1">
                <a:solidFill>
                  <a:srgbClr val="4F2683"/>
                </a:solidFill>
                <a:latin typeface="Aptos"/>
                <a:ea typeface="Aptos"/>
                <a:cs typeface="Aptos"/>
              </a:rPr>
              <a:t>VALIDITY CHECK</a:t>
            </a:r>
          </a:p>
        </p:txBody>
      </p:sp>
      <p:sp>
        <p:nvSpPr>
          <p:cNvPr id="23" name="smoke-fullpath-number">
            <a:extLst xmlns:a="http://schemas.openxmlformats.org/drawingml/2006/main">
              <a:ext uri="{FF2B5EF4-FFF2-40B4-BE49-F238E27FC236}">
                <a16:creationId xmlns:a16="http://schemas.microsoft.com/office/drawing/2014/main" id="{550E7D2E-44C2-4B67-9B86-30592D104F82}"/>
              </a:ext>
            </a:extLst>
          </p:cNvPr>
          <p:cNvSpPr>
            <a:spLocks xmlns:a="http://schemas.openxmlformats.org/drawingml/2006/main" noGrp="1"/>
          </p:cNvSpPr>
          <p:nvPr/>
        </p:nvSpPr>
        <p:spPr>
          <a:xfrm xmlns:a="http://schemas.openxmlformats.org/drawingml/2006/main">
            <a:off x="8763000" y="184785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4F2683"/>
                </a:solidFill>
                <a:latin typeface="Aptos"/>
                <a:ea typeface="Aptos"/>
                <a:cs typeface="Aptos"/>
              </a:defRPr>
            </a:pPr>
            <a:r>
              <a:rPr sz="2550" b="1">
                <a:solidFill>
                  <a:srgbClr val="4F2683"/>
                </a:solidFill>
                <a:latin typeface="Aptos"/>
                <a:ea typeface="Aptos"/>
                <a:cs typeface="Aptos"/>
              </a:rPr>
              <a:t>22 / 140</a:t>
            </a:r>
          </a:p>
        </p:txBody>
      </p:sp>
      <p:sp>
        <p:nvSpPr>
          <p:cNvPr id="24" name="smoke-fullpath-label">
            <a:extLst xmlns:a="http://schemas.openxmlformats.org/drawingml/2006/main">
              <a:ext uri="{FF2B5EF4-FFF2-40B4-BE49-F238E27FC236}">
                <a16:creationId xmlns:a16="http://schemas.microsoft.com/office/drawing/2014/main" id="{32FDBEBB-0347-4D79-B478-B056FD66205E}"/>
              </a:ext>
            </a:extLst>
          </p:cNvPr>
          <p:cNvSpPr>
            <a:spLocks xmlns:a="http://schemas.openxmlformats.org/drawingml/2006/main" noGrp="1"/>
          </p:cNvSpPr>
          <p:nvPr/>
        </p:nvSpPr>
        <p:spPr>
          <a:xfrm xmlns:a="http://schemas.openxmlformats.org/drawingml/2006/main">
            <a:off x="8763000" y="2381250"/>
            <a:ext cx="257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111111"/>
                </a:solidFill>
                <a:latin typeface="Aptos"/>
                <a:ea typeface="Aptos"/>
                <a:cs typeface="Aptos"/>
              </a:defRPr>
            </a:pPr>
            <a:r>
              <a:rPr sz="1275">
                <a:solidFill>
                  <a:srgbClr val="111111"/>
                </a:solidFill>
                <a:latin typeface="Aptos"/>
                <a:ea typeface="Aptos"/>
                <a:cs typeface="Aptos"/>
              </a:rPr>
              <a:t>completed the full semantic path</a:t>
            </a:r>
          </a:p>
        </p:txBody>
      </p:sp>
      <p:sp>
        <p:nvSpPr>
          <p:cNvPr id="25" name="smoke-fallback-number">
            <a:extLst xmlns:a="http://schemas.openxmlformats.org/drawingml/2006/main">
              <a:ext uri="{FF2B5EF4-FFF2-40B4-BE49-F238E27FC236}">
                <a16:creationId xmlns:a16="http://schemas.microsoft.com/office/drawing/2014/main" id="{FDA28A60-0F44-4611-A7AC-B91E965C4B19}"/>
              </a:ext>
            </a:extLst>
          </p:cNvPr>
          <p:cNvSpPr>
            <a:spLocks xmlns:a="http://schemas.openxmlformats.org/drawingml/2006/main" noGrp="1"/>
          </p:cNvSpPr>
          <p:nvPr/>
        </p:nvSpPr>
        <p:spPr>
          <a:xfrm xmlns:a="http://schemas.openxmlformats.org/drawingml/2006/main">
            <a:off x="8763000" y="3143250"/>
            <a:ext cx="257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E4002B"/>
                </a:solidFill>
                <a:latin typeface="Aptos"/>
                <a:ea typeface="Aptos"/>
                <a:cs typeface="Aptos"/>
              </a:defRPr>
            </a:pPr>
            <a:r>
              <a:rPr sz="2250" b="1">
                <a:solidFill>
                  <a:srgbClr val="E4002B"/>
                </a:solidFill>
                <a:latin typeface="Aptos"/>
                <a:ea typeface="Aptos"/>
                <a:cs typeface="Aptos"/>
              </a:rPr>
              <a:t>118</a:t>
            </a:r>
          </a:p>
        </p:txBody>
      </p:sp>
      <p:sp>
        <p:nvSpPr>
          <p:cNvPr id="26" name="smoke-fallback-label">
            <a:extLst xmlns:a="http://schemas.openxmlformats.org/drawingml/2006/main">
              <a:ext uri="{FF2B5EF4-FFF2-40B4-BE49-F238E27FC236}">
                <a16:creationId xmlns:a16="http://schemas.microsoft.com/office/drawing/2014/main" id="{5F773309-07B2-4F21-8E88-10B81177CA8D}"/>
              </a:ext>
            </a:extLst>
          </p:cNvPr>
          <p:cNvSpPr>
            <a:spLocks xmlns:a="http://schemas.openxmlformats.org/drawingml/2006/main" noGrp="1"/>
          </p:cNvSpPr>
          <p:nvPr/>
        </p:nvSpPr>
        <p:spPr>
          <a:xfrm xmlns:a="http://schemas.openxmlformats.org/drawingml/2006/main">
            <a:off x="8763000" y="3629025"/>
            <a:ext cx="2571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767676"/>
                </a:solidFill>
                <a:latin typeface="Aptos"/>
                <a:ea typeface="Aptos"/>
                <a:cs typeface="Aptos"/>
              </a:defRPr>
            </a:pPr>
            <a:r>
              <a:rPr sz="1275">
                <a:solidFill>
                  <a:srgbClr val="767676"/>
                </a:solidFill>
                <a:latin typeface="Aptos"/>
                <a:ea typeface="Aptos"/>
                <a:cs typeface="Aptos"/>
              </a:rPr>
              <a:t>source-only fallback</a:t>
            </a:r>
          </a:p>
          <a:p xmlns:a="http://schemas.openxmlformats.org/drawingml/2006/main">
            <a:pPr>
              <a:defRPr sz="1275">
                <a:solidFill>
                  <a:srgbClr val="767676"/>
                </a:solidFill>
                <a:latin typeface="Aptos"/>
                <a:ea typeface="Aptos"/>
                <a:cs typeface="Aptos"/>
              </a:defRPr>
            </a:pPr>
            <a:r>
              <a:rPr sz="1275">
                <a:solidFill>
                  <a:srgbClr val="767676"/>
                </a:solidFill>
                <a:latin typeface="Aptos"/>
                <a:ea typeface="Aptos"/>
                <a:cs typeface="Aptos"/>
              </a:rPr>
              <a:t>wrapper inputs lost context</a:t>
            </a:r>
          </a:p>
        </p:txBody>
      </p:sp>
      <p:sp>
        <p:nvSpPr>
          <p:cNvPr id="27" name="smoke-caveat">
            <a:extLst xmlns:a="http://schemas.openxmlformats.org/drawingml/2006/main">
              <a:ext uri="{FF2B5EF4-FFF2-40B4-BE49-F238E27FC236}">
                <a16:creationId xmlns:a16="http://schemas.microsoft.com/office/drawing/2014/main" id="{81D21CE6-BD4F-449E-845D-EA43CB5D8E49}"/>
              </a:ext>
            </a:extLst>
          </p:cNvPr>
          <p:cNvSpPr>
            <a:spLocks xmlns:a="http://schemas.openxmlformats.org/drawingml/2006/main" noGrp="1"/>
          </p:cNvSpPr>
          <p:nvPr/>
        </p:nvSpPr>
        <p:spPr>
          <a:xfrm xmlns:a="http://schemas.openxmlformats.org/drawingml/2006/main">
            <a:off x="8763000" y="47625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E4002B"/>
                </a:solidFill>
                <a:latin typeface="Aptos"/>
                <a:ea typeface="Aptos"/>
                <a:cs typeface="Aptos"/>
              </a:defRPr>
            </a:pPr>
            <a:r>
              <a:rPr sz="1050" b="1">
                <a:solidFill>
                  <a:srgbClr val="E4002B"/>
                </a:solidFill>
                <a:latin typeface="Aptos"/>
                <a:ea typeface="Aptos"/>
                <a:cs typeface="Aptos"/>
              </a:rPr>
              <a:t>Diagnostic result — not paper evidence</a:t>
            </a:r>
          </a:p>
        </p:txBody>
      </p:sp>
    </p:spTree>
    <p:extLst>
      <p:ext uri="{BB962C8B-B14F-4D97-AF65-F5344CB8AC3E}">
        <p14:creationId xmlns:p14="http://schemas.microsoft.com/office/powerpoint/2010/main" val="33110564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976" y="401303"/>
            <a:ext cx="5144262" cy="646331"/>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l">
              <a:buNone/>
              <a:defRPr sz="3600">
                <a:solidFill>
                  <a:srgbClr val="4F2683"/>
                </a:solidFill>
                <a:latin typeface="Aptos Display"/>
                <a:ea typeface="Aptos Display"/>
                <a:cs typeface="Aptos Display"/>
              </a:defRPr>
            </a:pPr>
            <a:r>
              <a:rPr sz="3600">
                <a:solidFill>
                  <a:srgbClr val="4F2683"/>
                </a:solidFill>
                <a:latin typeface="Aptos Display"/>
                <a:ea typeface="Aptos Display"/>
                <a:cs typeface="Aptos Display"/>
              </a:rPr>
              <a:t>BCB Full – Diagnostic</a:t>
            </a:r>
          </a:p>
        </p:txBody>
      </p:sp>
      <p:pic>
        <p:nvPicPr>
          <p:cNvPr id="29" name="Picture 3"/>
          <p:cNvPicPr>
            <a:picLocks xmlns:a="http://schemas.openxmlformats.org/drawingml/2006/main" noChangeAspect="1"/>
          </p:cNvPicPr>
          <p:nvPr/>
        </p:nvPicPr>
        <p:blipFill>
          <a:blip xmlns:r="http://schemas.openxmlformats.org/officeDocument/2006/relationships" xmlns:a="http://schemas.openxmlformats.org/drawingml/2006/main" r:embed="R7efa7939b24b425e"/>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20" name="full-chart-note">
            <a:extLst xmlns:a="http://schemas.openxmlformats.org/drawingml/2006/main">
              <a:ext uri="{FF2B5EF4-FFF2-40B4-BE49-F238E27FC236}">
                <a16:creationId xmlns:a16="http://schemas.microsoft.com/office/drawing/2014/main" id="{F2514C69-B128-4AD0-989F-8831DAAC142C}"/>
              </a:ext>
            </a:extLst>
          </p:cNvPr>
          <p:cNvSpPr>
            <a:spLocks xmlns:a="http://schemas.openxmlformats.org/drawingml/2006/main" noGrp="1"/>
          </p:cNvSpPr>
          <p:nvPr/>
        </p:nvSpPr>
        <p:spPr>
          <a:xfrm xmlns:a="http://schemas.openxmlformats.org/drawingml/2006/main">
            <a:off x="552450" y="11430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a:solidFill>
                  <a:srgbClr val="767676"/>
                </a:solidFill>
                <a:latin typeface="Aptos"/>
                <a:ea typeface="Aptos"/>
                <a:cs typeface="Aptos"/>
              </a:defRPr>
            </a:pPr>
            <a:r>
              <a:rPr sz="975">
                <a:solidFill>
                  <a:srgbClr val="767676"/>
                </a:solidFill>
                <a:latin typeface="Aptos"/>
                <a:ea typeface="Aptos"/>
                <a:cs typeface="Aptos"/>
              </a:rPr>
              <a:t>Higher is better · values are percentages</a:t>
            </a:r>
          </a:p>
        </p:txBody>
      </p:sp>
      <p:graphicFrame>
        <p:nvGraphicFramePr>
          <p:cNvPr id="31" name="Chart"/>
          <p:cNvGraphicFramePr/>
          <p:nvPr/>
        </p:nvGraphicFramePr>
        <p:xfrm>
          <a:off xmlns:a="http://schemas.openxmlformats.org/drawingml/2006/main" x="457200" y="1381125"/>
          <a:ext xmlns:a="http://schemas.openxmlformats.org/drawingml/2006/main" cx="7953375" cy="4048125"/>
        </p:xfrm>
        <a:graphic xmlns:a="http://schemas.openxmlformats.org/drawingml/2006/main">
          <a:graphicData uri="http://schemas.openxmlformats.org/drawingml/2006/chart">
            <c:chart xmlns:r="http://schemas.openxmlformats.org/officeDocument/2006/relationships" xmlns:c="http://schemas.openxmlformats.org/drawingml/2006/chart" r:id="R301869e5f4f843d9"/>
          </a:graphicData>
        </a:graphic>
      </p:graphicFrame>
      <p:sp>
        <p:nvSpPr>
          <p:cNvPr id="22" name="full-scale-label">
            <a:extLst xmlns:a="http://schemas.openxmlformats.org/drawingml/2006/main">
              <a:ext uri="{FF2B5EF4-FFF2-40B4-BE49-F238E27FC236}">
                <a16:creationId xmlns:a16="http://schemas.microsoft.com/office/drawing/2014/main" id="{CB99AEDF-6A8F-4A9B-8ABE-AE9D24E7EFC8}"/>
              </a:ext>
            </a:extLst>
          </p:cNvPr>
          <p:cNvSpPr>
            <a:spLocks xmlns:a="http://schemas.openxmlformats.org/drawingml/2006/main" noGrp="1"/>
          </p:cNvSpPr>
          <p:nvPr/>
        </p:nvSpPr>
        <p:spPr>
          <a:xfrm xmlns:a="http://schemas.openxmlformats.org/drawingml/2006/main">
            <a:off x="8763000" y="14668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4F2683"/>
                </a:solidFill>
                <a:latin typeface="Aptos"/>
                <a:ea typeface="Aptos"/>
                <a:cs typeface="Aptos"/>
              </a:defRPr>
            </a:pPr>
            <a:r>
              <a:rPr sz="1200" b="1">
                <a:solidFill>
                  <a:srgbClr val="4F2683"/>
                </a:solidFill>
                <a:latin typeface="Aptos"/>
                <a:ea typeface="Aptos"/>
                <a:cs typeface="Aptos"/>
              </a:rPr>
              <a:t>SCALE</a:t>
            </a:r>
          </a:p>
        </p:txBody>
      </p:sp>
      <p:sp>
        <p:nvSpPr>
          <p:cNvPr id="23" name="full-scale-number">
            <a:extLst xmlns:a="http://schemas.openxmlformats.org/drawingml/2006/main">
              <a:ext uri="{FF2B5EF4-FFF2-40B4-BE49-F238E27FC236}">
                <a16:creationId xmlns:a16="http://schemas.microsoft.com/office/drawing/2014/main" id="{59831E96-5CA8-4E5A-9F99-93B70D6CD63D}"/>
              </a:ext>
            </a:extLst>
          </p:cNvPr>
          <p:cNvSpPr>
            <a:spLocks xmlns:a="http://schemas.openxmlformats.org/drawingml/2006/main" noGrp="1"/>
          </p:cNvSpPr>
          <p:nvPr/>
        </p:nvSpPr>
        <p:spPr>
          <a:xfrm xmlns:a="http://schemas.openxmlformats.org/drawingml/2006/main">
            <a:off x="8763000" y="1847850"/>
            <a:ext cx="276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4F2683"/>
                </a:solidFill>
                <a:latin typeface="Aptos"/>
                <a:ea typeface="Aptos"/>
                <a:cs typeface="Aptos"/>
              </a:defRPr>
            </a:pPr>
            <a:r>
              <a:rPr sz="2550" b="1">
                <a:solidFill>
                  <a:srgbClr val="4F2683"/>
                </a:solidFill>
                <a:latin typeface="Aptos"/>
                <a:ea typeface="Aptos"/>
                <a:cs typeface="Aptos"/>
              </a:rPr>
              <a:t>144,478</a:t>
            </a:r>
          </a:p>
        </p:txBody>
      </p:sp>
      <p:sp>
        <p:nvSpPr>
          <p:cNvPr id="24" name="full-scale-desc">
            <a:extLst xmlns:a="http://schemas.openxmlformats.org/drawingml/2006/main">
              <a:ext uri="{FF2B5EF4-FFF2-40B4-BE49-F238E27FC236}">
                <a16:creationId xmlns:a16="http://schemas.microsoft.com/office/drawing/2014/main" id="{59539F65-CBAB-4109-AC57-C72CBA279B79}"/>
              </a:ext>
            </a:extLst>
          </p:cNvPr>
          <p:cNvSpPr>
            <a:spLocks xmlns:a="http://schemas.openxmlformats.org/drawingml/2006/main" noGrp="1"/>
          </p:cNvSpPr>
          <p:nvPr/>
        </p:nvSpPr>
        <p:spPr>
          <a:xfrm xmlns:a="http://schemas.openxmlformats.org/drawingml/2006/main">
            <a:off x="8763000" y="243840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111111"/>
                </a:solidFill>
                <a:latin typeface="Aptos"/>
                <a:ea typeface="Aptos"/>
                <a:cs typeface="Aptos"/>
              </a:defRPr>
            </a:pPr>
            <a:r>
              <a:rPr sz="1275">
                <a:solidFill>
                  <a:srgbClr val="111111"/>
                </a:solidFill>
                <a:latin typeface="Aptos"/>
                <a:ea typeface="Aptos"/>
                <a:cs typeface="Aptos"/>
              </a:rPr>
              <a:t>pairwise diagnostic pairs</a:t>
            </a:r>
          </a:p>
        </p:txBody>
      </p:sp>
      <p:sp>
        <p:nvSpPr>
          <p:cNvPr id="25" name="full-pattern-label">
            <a:extLst xmlns:a="http://schemas.openxmlformats.org/drawingml/2006/main">
              <a:ext uri="{FF2B5EF4-FFF2-40B4-BE49-F238E27FC236}">
                <a16:creationId xmlns:a16="http://schemas.microsoft.com/office/drawing/2014/main" id="{E08D2AE9-CA99-4439-ACB8-87D82C3F9563}"/>
              </a:ext>
            </a:extLst>
          </p:cNvPr>
          <p:cNvSpPr>
            <a:spLocks xmlns:a="http://schemas.openxmlformats.org/drawingml/2006/main" noGrp="1"/>
          </p:cNvSpPr>
          <p:nvPr/>
        </p:nvSpPr>
        <p:spPr>
          <a:xfrm xmlns:a="http://schemas.openxmlformats.org/drawingml/2006/main">
            <a:off x="8763000" y="32385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4F2683"/>
                </a:solidFill>
                <a:latin typeface="Aptos"/>
                <a:ea typeface="Aptos"/>
                <a:cs typeface="Aptos"/>
              </a:defRPr>
            </a:pPr>
            <a:r>
              <a:rPr sz="1200" b="1">
                <a:solidFill>
                  <a:srgbClr val="4F2683"/>
                </a:solidFill>
                <a:latin typeface="Aptos"/>
                <a:ea typeface="Aptos"/>
                <a:cs typeface="Aptos"/>
              </a:rPr>
              <a:t>PATTERN CONFIRMED</a:t>
            </a:r>
          </a:p>
        </p:txBody>
      </p:sp>
      <p:sp>
        <p:nvSpPr>
          <p:cNvPr id="26" name="full-pattern-desc">
            <a:extLst xmlns:a="http://schemas.openxmlformats.org/drawingml/2006/main">
              <a:ext uri="{FF2B5EF4-FFF2-40B4-BE49-F238E27FC236}">
                <a16:creationId xmlns:a16="http://schemas.microsoft.com/office/drawing/2014/main" id="{7B6EF285-5318-4390-B1CF-E9E604F9E060}"/>
              </a:ext>
            </a:extLst>
          </p:cNvPr>
          <p:cNvSpPr>
            <a:spLocks xmlns:a="http://schemas.openxmlformats.org/drawingml/2006/main" noGrp="1"/>
          </p:cNvSpPr>
          <p:nvPr/>
        </p:nvSpPr>
        <p:spPr>
          <a:xfrm xmlns:a="http://schemas.openxmlformats.org/drawingml/2006/main">
            <a:off x="8763000" y="360045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350">
                <a:solidFill>
                  <a:srgbClr val="111111"/>
                </a:solidFill>
                <a:latin typeface="Aptos"/>
                <a:ea typeface="Aptos"/>
                <a:cs typeface="Aptos"/>
              </a:defRPr>
            </a:pPr>
            <a:r>
              <a:rPr sz="1350">
                <a:solidFill>
                  <a:srgbClr val="111111"/>
                </a:solidFill>
                <a:latin typeface="Aptos"/>
                <a:ea typeface="Aptos"/>
                <a:cs typeface="Aptos"/>
              </a:rPr>
              <a:t>Strong T1 / T2</a:t>
            </a:r>
          </a:p>
          <a:p xmlns:a="http://schemas.openxmlformats.org/drawingml/2006/main">
            <a:pPr>
              <a:defRPr sz="1350">
                <a:solidFill>
                  <a:srgbClr val="111111"/>
                </a:solidFill>
                <a:latin typeface="Aptos"/>
                <a:ea typeface="Aptos"/>
                <a:cs typeface="Aptos"/>
              </a:defRPr>
            </a:pPr>
            <a:r>
              <a:rPr sz="1350">
                <a:solidFill>
                  <a:srgbClr val="111111"/>
                </a:solidFill>
                <a:latin typeface="Aptos"/>
                <a:ea typeface="Aptos"/>
                <a:cs typeface="Aptos"/>
              </a:rPr>
              <a:t>weak MT3 · VST3 type gap</a:t>
            </a:r>
          </a:p>
        </p:txBody>
      </p:sp>
      <p:sp>
        <p:nvSpPr>
          <p:cNvPr id="27" name="full-caveat">
            <a:extLst xmlns:a="http://schemas.openxmlformats.org/drawingml/2006/main">
              <a:ext uri="{FF2B5EF4-FFF2-40B4-BE49-F238E27FC236}">
                <a16:creationId xmlns:a16="http://schemas.microsoft.com/office/drawing/2014/main" id="{02001A83-8ADA-4CFB-8EE9-DDE99C391373}"/>
              </a:ext>
            </a:extLst>
          </p:cNvPr>
          <p:cNvSpPr>
            <a:spLocks xmlns:a="http://schemas.openxmlformats.org/drawingml/2006/main" noGrp="1"/>
          </p:cNvSpPr>
          <p:nvPr/>
        </p:nvSpPr>
        <p:spPr>
          <a:xfrm xmlns:a="http://schemas.openxmlformats.org/drawingml/2006/main">
            <a:off x="8763000" y="4695825"/>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b="1">
                <a:solidFill>
                  <a:srgbClr val="E4002B"/>
                </a:solidFill>
                <a:latin typeface="Aptos"/>
                <a:ea typeface="Aptos"/>
                <a:cs typeface="Aptos"/>
              </a:defRPr>
            </a:pPr>
            <a:r>
              <a:rPr sz="1125" b="1">
                <a:solidFill>
                  <a:srgbClr val="E4002B"/>
                </a:solidFill>
                <a:latin typeface="Aptos"/>
                <a:ea typeface="Aptos"/>
                <a:cs typeface="Aptos"/>
              </a:rPr>
              <a:t>Wrapper-fragment pilot</a:t>
            </a:r>
          </a:p>
          <a:p xmlns:a="http://schemas.openxmlformats.org/drawingml/2006/main">
            <a:pPr>
              <a:defRPr sz="1125" b="1">
                <a:solidFill>
                  <a:srgbClr val="E4002B"/>
                </a:solidFill>
                <a:latin typeface="Aptos"/>
                <a:ea typeface="Aptos"/>
                <a:cs typeface="Aptos"/>
              </a:defRPr>
            </a:pPr>
            <a:r>
              <a:rPr sz="1125" b="1">
                <a:solidFill>
                  <a:srgbClr val="E4002B"/>
                </a:solidFill>
                <a:latin typeface="Aptos"/>
                <a:ea typeface="Aptos"/>
                <a:cs typeface="Aptos"/>
              </a:rPr>
              <a:t>not final BCB evidence</a:t>
            </a:r>
          </a:p>
        </p:txBody>
      </p:sp>
    </p:spTree>
    <p:extLst>
      <p:ext uri="{BB962C8B-B14F-4D97-AF65-F5344CB8AC3E}">
        <p14:creationId xmlns:p14="http://schemas.microsoft.com/office/powerpoint/2010/main" val="33110564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975" y="401303"/>
            <a:ext cx="6929585" cy="646331"/>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l">
              <a:buNone/>
              <a:defRPr sz="3600">
                <a:solidFill>
                  <a:srgbClr val="4F2683"/>
                </a:solidFill>
                <a:latin typeface="Aptos Display"/>
                <a:ea typeface="Aptos Display"/>
                <a:cs typeface="Aptos Display"/>
              </a:defRPr>
            </a:pPr>
            <a:r>
              <a:rPr sz="3600">
                <a:solidFill>
                  <a:srgbClr val="4F2683"/>
                </a:solidFill>
                <a:latin typeface="Aptos Display"/>
                <a:ea typeface="Aptos Display"/>
                <a:cs typeface="Aptos Display"/>
              </a:rPr>
              <a:t>BCB Decision – Quarantine</a:t>
            </a:r>
          </a:p>
        </p:txBody>
      </p:sp>
      <p:pic>
        <p:nvPicPr>
          <p:cNvPr id="8" name="Picture 3"/>
          <p:cNvPicPr>
            <a:picLocks xmlns:a="http://schemas.openxmlformats.org/drawingml/2006/main" noChangeAspect="1"/>
          </p:cNvPicPr>
          <p:nvPr/>
        </p:nvPicPr>
        <p:blipFill>
          <a:blip xmlns:r="http://schemas.openxmlformats.org/officeDocument/2006/relationships" xmlns:a="http://schemas.openxmlformats.org/drawingml/2006/main" r:embed="R3580c128ceb6428c"/>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2" name="TextBox 1">
            <a:extLst xmlns:a="http://schemas.openxmlformats.org/drawingml/2006/main">
              <a:ext uri="{FF2B5EF4-FFF2-40B4-BE49-F238E27FC236}">
                <a16:creationId xmlns:a16="http://schemas.microsoft.com/office/drawing/2014/main" id="{A3F2806E-48DD-C1D1-3F24-E99A484AEDF8}"/>
              </a:ext>
            </a:extLst>
          </p:cNvPr>
          <p:cNvSpPr>
            <a:spLocks xmlns:a="http://schemas.openxmlformats.org/drawingml/2006/main" noGrp="1"/>
          </p:cNvSpPr>
          <p:nvPr/>
        </p:nvSpPr>
        <p:spPr>
          <a:xfrm xmlns:a="http://schemas.openxmlformats.org/drawingml/2006/main">
            <a:off x="886024" y="1545029"/>
            <a:ext cx="6929585" cy="44196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marL="342900" indent="-342900" algn="l">
              <a:lnSpc>
                <a:spcPct val="115000"/>
              </a:lnSpc>
              <a:buFont typeface="Symbol"/>
              <a:buChar char=""/>
              <a:defRPr sz="2000">
                <a:solidFill>
                  <a:srgbClr val="000000"/>
                </a:solidFill>
                <a:latin typeface="Aptos"/>
                <a:ea typeface="Aptos"/>
                <a:cs typeface="Aptos"/>
              </a:defRPr>
            </a:pPr>
            <a:r>
              <a:rPr sz="2000" b="1">
                <a:solidFill>
                  <a:srgbClr val="4F2683"/>
                </a:solidFill>
                <a:latin typeface="Aptos"/>
                <a:ea typeface="Aptos"/>
                <a:cs typeface="Aptos"/>
              </a:rPr>
              <a:t>Rerun</a:t>
            </a:r>
            <a:r>
              <a:rPr sz="2000" b="1">
                <a:solidFill>
                  <a:srgbClr val="000000"/>
                </a:solidFill>
                <a:latin typeface="Aptos"/>
                <a:ea typeface="Aptos"/>
                <a:cs typeface="Aptos"/>
              </a:rPr>
              <a:t> </a:t>
            </a:r>
            <a:r>
              <a:rPr sz="2000" b="1">
                <a:solidFill>
                  <a:srgbClr val="FF0000"/>
                </a:solidFill>
                <a:latin typeface="Aptos"/>
                <a:ea typeface="Aptos"/>
                <a:cs typeface="Aptos"/>
              </a:rPr>
              <a:t>complete files</a:t>
            </a:r>
            <a:r>
              <a:rPr sz="2000" b="1">
                <a:solidFill>
                  <a:srgbClr val="000000"/>
                </a:solidFill>
                <a:latin typeface="Aptos"/>
                <a:ea typeface="Aptos"/>
                <a:cs typeface="Aptos"/>
              </a:rPr>
              <a:t> before making </a:t>
            </a:r>
            <a:r>
              <a:rPr sz="2000" b="1">
                <a:solidFill>
                  <a:srgbClr val="FF0000"/>
                </a:solidFill>
                <a:latin typeface="Aptos"/>
                <a:ea typeface="Aptos"/>
                <a:cs typeface="Aptos"/>
              </a:rPr>
              <a:t>paper claims</a:t>
            </a:r>
            <a:r>
              <a:rPr sz="2000" b="1">
                <a:solidFill>
                  <a:srgbClr val="000000"/>
                </a:solidFill>
                <a:latin typeface="Aptos"/>
                <a:ea typeface="Aptos"/>
                <a:cs typeface="Aptos"/>
              </a:rPr>
              <a:t>.</a:t>
            </a:r>
          </a:p>
        </p:txBody>
      </p:sp>
    </p:spTree>
    <p:extLst>
      <p:ext uri="{BB962C8B-B14F-4D97-AF65-F5344CB8AC3E}">
        <p14:creationId xmlns:p14="http://schemas.microsoft.com/office/powerpoint/2010/main" val="258551416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B5B6FB25-DE15-FDF3-5EAE-F29396F4A100}"/>
              </a:ext>
            </a:extLst>
          </p:cNvPr>
          <p:cNvSpPr>
            <a:spLocks xmlns:a="http://schemas.openxmlformats.org/drawingml/2006/main" noGrp="1"/>
          </p:cNvSpPr>
          <p:nvPr/>
        </p:nvSpPr>
        <p:spPr>
          <a:xfrm xmlns:a="http://schemas.openxmlformats.org/drawingml/2006/main">
            <a:off x="485976" y="401303"/>
            <a:ext cx="10071188" cy="646331"/>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l">
              <a:buNone/>
              <a:defRPr sz="3600">
                <a:solidFill>
                  <a:srgbClr val="4F2683"/>
                </a:solidFill>
                <a:latin typeface="Aptos Display"/>
                <a:ea typeface="Aptos Display"/>
                <a:cs typeface="Aptos Display"/>
              </a:defRPr>
            </a:pPr>
            <a:r>
              <a:rPr sz="3600">
                <a:solidFill>
                  <a:srgbClr val="4F2683"/>
                </a:solidFill>
                <a:latin typeface="Aptos Display"/>
                <a:ea typeface="Aptos Display"/>
                <a:cs typeface="Aptos Display"/>
              </a:rPr>
              <a:t>Mutation Corpus – Controlled &amp; Compilable</a:t>
            </a:r>
          </a:p>
        </p:txBody>
      </p:sp>
      <p:sp>
        <p:nvSpPr>
          <p:cNvPr id="7" name="TextBox 6">
            <a:extLst xmlns:a="http://schemas.openxmlformats.org/drawingml/2006/main">
              <a:ext uri="{FF2B5EF4-FFF2-40B4-BE49-F238E27FC236}">
                <a16:creationId xmlns:a16="http://schemas.microsoft.com/office/drawing/2014/main" id="{F70704F0-2F34-F13B-ADDF-F1409A9C0048}"/>
              </a:ext>
            </a:extLst>
          </p:cNvPr>
          <p:cNvSpPr>
            <a:spLocks xmlns:a="http://schemas.openxmlformats.org/drawingml/2006/main" noGrp="1"/>
          </p:cNvSpPr>
          <p:nvPr/>
        </p:nvSpPr>
        <p:spPr>
          <a:xfrm xmlns:a="http://schemas.openxmlformats.org/drawingml/2006/main">
            <a:off x="853750" y="1162369"/>
            <a:ext cx="10437732" cy="3477875"/>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normAutofit fontScale="100000"/>
          </a:bodyPr>
          <a:lstStyle xmlns:a="http://schemas.openxmlformats.org/drawingml/2006/main"/>
          <a:p xmlns:a="http://schemas.openxmlformats.org/drawingml/2006/main">
            <a:pPr marL="28" indent="-14" algn="l">
              <a:spcAft>
                <a:spcPts val="14"/>
              </a:spcAft>
              <a:buChar char="•"/>
              <a:defRPr sz="2000">
                <a:solidFill>
                  <a:srgbClr val="4F2683"/>
                </a:solidFill>
                <a:latin typeface="Aptos"/>
                <a:ea typeface="Aptos"/>
                <a:cs typeface="Aptos"/>
              </a:defRPr>
            </a:pPr>
            <a:r>
              <a:rPr sz="2000">
                <a:solidFill>
                  <a:srgbClr val="4F2683"/>
                </a:solidFill>
                <a:latin typeface="Aptos"/>
                <a:ea typeface="Aptos"/>
                <a:cs typeface="Aptos"/>
              </a:rPr>
              <a:t>Start from self-contained CodeNet Java250 solutions</a:t>
            </a:r>
          </a:p>
          <a:p xmlns:a="http://schemas.openxmlformats.org/drawingml/2006/main">
            <a:pPr marL="28" indent="-14" algn="l">
              <a:spcAft>
                <a:spcPts val="14"/>
              </a:spcAft>
              <a:buChar char="•"/>
              <a:defRPr sz="2000">
                <a:solidFill>
                  <a:srgbClr val="4F2683"/>
                </a:solidFill>
                <a:latin typeface="Aptos"/>
                <a:ea typeface="Aptos"/>
                <a:cs typeface="Aptos"/>
              </a:defRPr>
            </a:pPr>
            <a:r>
              <a:rPr sz="2000">
                <a:solidFill>
                  <a:srgbClr val="4F2683"/>
                </a:solidFill>
                <a:latin typeface="Aptos"/>
                <a:ea typeface="Aptos"/>
                <a:cs typeface="Aptos"/>
              </a:rPr>
              <a:t>Apply one type-safe Spoon mutation per pair</a:t>
            </a:r>
          </a:p>
          <a:p xmlns:a="http://schemas.openxmlformats.org/drawingml/2006/main">
            <a:pPr marL="28" indent="-14" algn="l">
              <a:spcAft>
                <a:spcPts val="14"/>
              </a:spcAft>
              <a:buChar char="•"/>
              <a:defRPr sz="2000">
                <a:solidFill>
                  <a:srgbClr val="4F2683"/>
                </a:solidFill>
                <a:latin typeface="Aptos"/>
                <a:ea typeface="Aptos"/>
                <a:cs typeface="Aptos"/>
              </a:defRPr>
            </a:pPr>
            <a:r>
              <a:rPr sz="2000">
                <a:solidFill>
                  <a:srgbClr val="4F2683"/>
                </a:solidFill>
                <a:latin typeface="Aptos"/>
                <a:ea typeface="Aptos"/>
                <a:cs typeface="Aptos"/>
              </a:rPr>
              <a:t>Require compilation before detector execution</a:t>
            </a:r>
          </a:p>
          <a:p xmlns:a="http://schemas.openxmlformats.org/drawingml/2006/main">
            <a:pPr marL="28" indent="-14" algn="l">
              <a:spcAft>
                <a:spcPts val="14"/>
              </a:spcAft>
              <a:buChar char="•"/>
              <a:defRPr sz="2000">
                <a:solidFill>
                  <a:srgbClr val="4F2683"/>
                </a:solidFill>
                <a:latin typeface="Aptos"/>
                <a:ea typeface="Aptos"/>
                <a:cs typeface="Aptos"/>
              </a:defRPr>
            </a:pPr>
            <a:r>
              <a:rPr sz="2000">
                <a:solidFill>
                  <a:srgbClr val="4F2683"/>
                </a:solidFill>
                <a:latin typeface="Aptos"/>
                <a:ea typeface="Aptos"/>
                <a:cs typeface="Aptos"/>
              </a:rPr>
              <a:t>Keep the MIF adaptation explicit</a:t>
            </a:r>
          </a:p>
        </p:txBody>
      </p:sp>
      <p:sp>
        <p:nvSpPr>
          <p:cNvPr id="2" name="TextBox 1">
            <a:extLst xmlns:a="http://schemas.openxmlformats.org/drawingml/2006/main">
              <a:ext uri="{FF2B5EF4-FFF2-40B4-BE49-F238E27FC236}">
                <a16:creationId xmlns:a16="http://schemas.microsoft.com/office/drawing/2014/main" id="{D7232665-496C-1585-5617-D41D47F81E55}"/>
              </a:ext>
            </a:extLst>
          </p:cNvPr>
          <p:cNvSpPr>
            <a:spLocks xmlns:a="http://schemas.openxmlformats.org/drawingml/2006/main" noGrp="1"/>
          </p:cNvSpPr>
          <p:nvPr/>
        </p:nvSpPr>
        <p:spPr>
          <a:xfrm xmlns:a="http://schemas.openxmlformats.org/drawingml/2006/main">
            <a:off x="643078" y="3957541"/>
            <a:ext cx="781881" cy="400110"/>
          </a:xfrm>
          <a:prstGeom xmlns:a="http://schemas.openxmlformats.org/drawingml/2006/main" prst="rect">
            <a:avLst/>
          </a:prstGeom>
          <a:noFill xmlns:a="http://schemas.openxmlformats.org/drawingml/2006/main"/>
        </p:spPr>
        <p:txBody>
          <a:bodyPr xmlns:a="http://schemas.openxmlformats.org/drawingml/2006/main" wrap="none" anchor="ctr">
            <a:normAutofit fontScale="72831"/>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Seed A</a:t>
            </a:r>
          </a:p>
        </p:txBody>
      </p:sp>
      <p:sp>
        <p:nvSpPr>
          <p:cNvPr id="3" name="TextBox 2">
            <a:extLst xmlns:a="http://schemas.openxmlformats.org/drawingml/2006/main">
              <a:ext uri="{FF2B5EF4-FFF2-40B4-BE49-F238E27FC236}">
                <a16:creationId xmlns:a16="http://schemas.microsoft.com/office/drawing/2014/main" id="{842FA780-4455-347F-EA36-A0382728F4D3}"/>
              </a:ext>
            </a:extLst>
          </p:cNvPr>
          <p:cNvSpPr>
            <a:spLocks xmlns:a="http://schemas.openxmlformats.org/drawingml/2006/main" noGrp="1"/>
          </p:cNvSpPr>
          <p:nvPr/>
        </p:nvSpPr>
        <p:spPr>
          <a:xfrm xmlns:a="http://schemas.openxmlformats.org/drawingml/2006/main">
            <a:off x="628033" y="4961718"/>
            <a:ext cx="786690" cy="400110"/>
          </a:xfrm>
          <a:prstGeom xmlns:a="http://schemas.openxmlformats.org/drawingml/2006/main" prst="rect">
            <a:avLst/>
          </a:prstGeom>
          <a:noFill xmlns:a="http://schemas.openxmlformats.org/drawingml/2006/main"/>
        </p:spPr>
        <p:txBody>
          <a:bodyPr xmlns:a="http://schemas.openxmlformats.org/drawingml/2006/main" wrap="none" anchor="ctr">
            <a:normAutofit fontScale="57928"/>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Mutant B</a:t>
            </a:r>
          </a:p>
        </p:txBody>
      </p:sp>
      <p:sp>
        <p:nvSpPr>
          <p:cNvPr id="4" name="Cross 3">
            <a:extLst xmlns:a="http://schemas.openxmlformats.org/drawingml/2006/main">
              <a:ext uri="{FF2B5EF4-FFF2-40B4-BE49-F238E27FC236}">
                <a16:creationId xmlns:a16="http://schemas.microsoft.com/office/drawing/2014/main" id="{96724523-4C33-96CB-894E-93679BBBC391}"/>
              </a:ext>
            </a:extLst>
          </p:cNvPr>
          <p:cNvSpPr>
            <a:spLocks xmlns:a="http://schemas.openxmlformats.org/drawingml/2006/main" noGrp="1"/>
          </p:cNvSpPr>
          <p:nvPr/>
        </p:nvSpPr>
        <p:spPr>
          <a:xfrm xmlns:a="http://schemas.openxmlformats.org/drawingml/2006/main">
            <a:off x="861061" y="4489916"/>
            <a:ext cx="320634" cy="308759"/>
          </a:xfrm>
          <a:prstGeom xmlns:a="http://schemas.openxmlformats.org/drawingml/2006/main" prst="plus">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ight Arrow 5">
            <a:extLst xmlns:a="http://schemas.openxmlformats.org/drawingml/2006/main">
              <a:ext uri="{FF2B5EF4-FFF2-40B4-BE49-F238E27FC236}">
                <a16:creationId xmlns:a16="http://schemas.microsoft.com/office/drawing/2014/main" id="{7A97C235-4F8F-D606-E023-A76A9E359145}"/>
              </a:ext>
            </a:extLst>
          </p:cNvPr>
          <p:cNvSpPr>
            <a:spLocks xmlns:a="http://schemas.openxmlformats.org/drawingml/2006/main" noGrp="1"/>
          </p:cNvSpPr>
          <p:nvPr/>
        </p:nvSpPr>
        <p:spPr>
          <a:xfrm xmlns:a="http://schemas.openxmlformats.org/drawingml/2006/main">
            <a:off x="1781338" y="4487175"/>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7E64FDFF-B01B-11FA-0C60-D4211EA89D13}"/>
              </a:ext>
            </a:extLst>
          </p:cNvPr>
          <p:cNvSpPr>
            <a:spLocks xmlns:a="http://schemas.openxmlformats.org/drawingml/2006/main" noGrp="1"/>
          </p:cNvSpPr>
          <p:nvPr/>
        </p:nvSpPr>
        <p:spPr>
          <a:xfrm xmlns:a="http://schemas.openxmlformats.org/drawingml/2006/main">
            <a:off x="3226689" y="4357651"/>
            <a:ext cx="688009" cy="400110"/>
          </a:xfrm>
          <a:prstGeom xmlns:a="http://schemas.openxmlformats.org/drawingml/2006/main" prst="rect">
            <a:avLst/>
          </a:prstGeom>
          <a:noFill xmlns:a="http://schemas.openxmlformats.org/drawingml/2006/main"/>
        </p:spPr>
        <p:txBody>
          <a:bodyPr xmlns:a="http://schemas.openxmlformats.org/drawingml/2006/main" wrap="none" anchor="ctr">
            <a:normAutofit fontScale="67944"/>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Spoon</a:t>
            </a:r>
          </a:p>
        </p:txBody>
      </p:sp>
      <p:sp>
        <p:nvSpPr>
          <p:cNvPr id="9" name="TextBox 8">
            <a:extLst xmlns:a="http://schemas.openxmlformats.org/drawingml/2006/main">
              <a:ext uri="{FF2B5EF4-FFF2-40B4-BE49-F238E27FC236}">
                <a16:creationId xmlns:a16="http://schemas.microsoft.com/office/drawing/2014/main" id="{52584F8D-C3CA-8584-9234-28BF946565D9}"/>
              </a:ext>
            </a:extLst>
          </p:cNvPr>
          <p:cNvSpPr>
            <a:spLocks xmlns:a="http://schemas.openxmlformats.org/drawingml/2006/main" noGrp="1"/>
          </p:cNvSpPr>
          <p:nvPr/>
        </p:nvSpPr>
        <p:spPr>
          <a:xfrm xmlns:a="http://schemas.openxmlformats.org/drawingml/2006/main">
            <a:off x="2680513" y="4765915"/>
            <a:ext cx="1780359" cy="338554"/>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600">
                <a:solidFill>
                  <a:srgbClr val="818284"/>
                </a:solidFill>
                <a:latin typeface="Aptos"/>
                <a:ea typeface="Aptos"/>
                <a:cs typeface="Aptos"/>
              </a:defRPr>
            </a:pPr>
            <a:r>
              <a:rPr sz="1600">
                <a:solidFill>
                  <a:srgbClr val="818284"/>
                </a:solidFill>
                <a:latin typeface="Aptos"/>
                <a:ea typeface="Aptos"/>
                <a:cs typeface="Aptos"/>
              </a:rPr>
              <a:t>(one known edit)</a:t>
            </a:r>
          </a:p>
        </p:txBody>
      </p:sp>
      <p:sp>
        <p:nvSpPr>
          <p:cNvPr id="10" name="Right Arrow 9">
            <a:extLst xmlns:a="http://schemas.openxmlformats.org/drawingml/2006/main">
              <a:ext uri="{FF2B5EF4-FFF2-40B4-BE49-F238E27FC236}">
                <a16:creationId xmlns:a16="http://schemas.microsoft.com/office/drawing/2014/main" id="{FC2D3742-4C9D-FD09-496D-AC4A300345B8}"/>
              </a:ext>
            </a:extLst>
          </p:cNvPr>
          <p:cNvSpPr>
            <a:spLocks xmlns:a="http://schemas.openxmlformats.org/drawingml/2006/main" noGrp="1"/>
          </p:cNvSpPr>
          <p:nvPr/>
        </p:nvSpPr>
        <p:spPr>
          <a:xfrm xmlns:a="http://schemas.openxmlformats.org/drawingml/2006/main">
            <a:off x="4920460" y="4437560"/>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9F80DE22-179C-16F6-21B5-3EC939F6367E}"/>
              </a:ext>
            </a:extLst>
          </p:cNvPr>
          <p:cNvSpPr>
            <a:spLocks xmlns:a="http://schemas.openxmlformats.org/drawingml/2006/main" noGrp="1"/>
          </p:cNvSpPr>
          <p:nvPr/>
        </p:nvSpPr>
        <p:spPr>
          <a:xfrm xmlns:a="http://schemas.openxmlformats.org/drawingml/2006/main">
            <a:off x="7211953" y="4337618"/>
            <a:ext cx="2010807" cy="400110"/>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Compile Check</a:t>
            </a:r>
          </a:p>
        </p:txBody>
      </p:sp>
      <p:sp>
        <p:nvSpPr>
          <p:cNvPr id="13" name="TextBox 12">
            <a:extLst xmlns:a="http://schemas.openxmlformats.org/drawingml/2006/main">
              <a:ext uri="{FF2B5EF4-FFF2-40B4-BE49-F238E27FC236}">
                <a16:creationId xmlns:a16="http://schemas.microsoft.com/office/drawing/2014/main" id="{9060EB44-DB26-698F-2FB6-EC5329B4AB82}"/>
              </a:ext>
            </a:extLst>
          </p:cNvPr>
          <p:cNvSpPr>
            <a:spLocks xmlns:a="http://schemas.openxmlformats.org/drawingml/2006/main" noGrp="1"/>
          </p:cNvSpPr>
          <p:nvPr/>
        </p:nvSpPr>
        <p:spPr>
          <a:xfrm xmlns:a="http://schemas.openxmlformats.org/drawingml/2006/main">
            <a:off x="5474106" y="4753286"/>
            <a:ext cx="5486502" cy="338554"/>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600">
                <a:solidFill>
                  <a:srgbClr val="818284"/>
                </a:solidFill>
                <a:latin typeface="Aptos"/>
                <a:ea typeface="Aptos"/>
                <a:cs typeface="Aptos"/>
              </a:defRPr>
            </a:pPr>
            <a:r>
              <a:rPr sz="1600">
                <a:solidFill>
                  <a:srgbClr val="818284"/>
                </a:solidFill>
                <a:latin typeface="Aptos"/>
                <a:ea typeface="Aptos"/>
                <a:cs typeface="Aptos"/>
              </a:rPr>
              <a:t>(type-safe · one operator · one pair)</a:t>
            </a:r>
          </a:p>
        </p:txBody>
      </p:sp>
      <p:sp>
        <p:nvSpPr>
          <p:cNvPr id="14" name="TextBox 13">
            <a:extLst xmlns:a="http://schemas.openxmlformats.org/drawingml/2006/main">
              <a:ext uri="{FF2B5EF4-FFF2-40B4-BE49-F238E27FC236}">
                <a16:creationId xmlns:a16="http://schemas.microsoft.com/office/drawing/2014/main" id="{A5D729B8-9A53-62DE-5ADF-E46BC0046E05}"/>
              </a:ext>
            </a:extLst>
          </p:cNvPr>
          <p:cNvSpPr>
            <a:spLocks xmlns:a="http://schemas.openxmlformats.org/drawingml/2006/main" noGrp="1"/>
          </p:cNvSpPr>
          <p:nvPr/>
        </p:nvSpPr>
        <p:spPr>
          <a:xfrm xmlns:a="http://schemas.openxmlformats.org/drawingml/2006/main">
            <a:off x="7476576" y="5718033"/>
            <a:ext cx="1712007" cy="400110"/>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3 Truths</a:t>
            </a:r>
          </a:p>
        </p:txBody>
      </p:sp>
      <p:sp>
        <p:nvSpPr>
          <p:cNvPr id="15" name="TextBox 14">
            <a:extLst xmlns:a="http://schemas.openxmlformats.org/drawingml/2006/main">
              <a:ext uri="{FF2B5EF4-FFF2-40B4-BE49-F238E27FC236}">
                <a16:creationId xmlns:a16="http://schemas.microsoft.com/office/drawing/2014/main" id="{0A3CC543-C903-0DED-EDE5-5B16606884AF}"/>
              </a:ext>
            </a:extLst>
          </p:cNvPr>
          <p:cNvSpPr>
            <a:spLocks xmlns:a="http://schemas.openxmlformats.org/drawingml/2006/main" noGrp="1"/>
          </p:cNvSpPr>
          <p:nvPr/>
        </p:nvSpPr>
        <p:spPr>
          <a:xfrm xmlns:a="http://schemas.openxmlformats.org/drawingml/2006/main">
            <a:off x="6341585" y="6136275"/>
            <a:ext cx="3981988" cy="338554"/>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600">
                <a:solidFill>
                  <a:srgbClr val="818284"/>
                </a:solidFill>
                <a:latin typeface="Aptos"/>
                <a:ea typeface="Aptos"/>
                <a:cs typeface="Aptos"/>
              </a:defRPr>
            </a:pPr>
            <a:r>
              <a:rPr sz="1600">
                <a:solidFill>
                  <a:srgbClr val="818284"/>
                </a:solidFill>
                <a:latin typeface="Aptos"/>
                <a:ea typeface="Aptos"/>
                <a:cs typeface="Aptos"/>
              </a:rPr>
              <a:t>(clone interval · mutation · untouched)</a:t>
            </a:r>
          </a:p>
        </p:txBody>
      </p:sp>
      <p:sp>
        <p:nvSpPr>
          <p:cNvPr id="16" name="Right Arrow 15">
            <a:extLst xmlns:a="http://schemas.openxmlformats.org/drawingml/2006/main">
              <a:ext uri="{FF2B5EF4-FFF2-40B4-BE49-F238E27FC236}">
                <a16:creationId xmlns:a16="http://schemas.microsoft.com/office/drawing/2014/main" id="{CA4E62F0-845D-2AF7-8260-FBCE414C411B}"/>
              </a:ext>
            </a:extLst>
          </p:cNvPr>
          <p:cNvSpPr>
            <a:spLocks xmlns:a="http://schemas.openxmlformats.org/drawingml/2006/main" noGrp="1"/>
          </p:cNvSpPr>
          <p:nvPr/>
        </p:nvSpPr>
        <p:spPr>
          <a:xfrm xmlns:a="http://schemas.openxmlformats.org/drawingml/2006/main" rot="5400000">
            <a:off x="8125168" y="5229668"/>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53309251-1DD9-BED2-CECA-631207A86BC8}"/>
              </a:ext>
            </a:extLst>
          </p:cNvPr>
          <p:cNvSpPr>
            <a:spLocks xmlns:a="http://schemas.openxmlformats.org/drawingml/2006/main" noGrp="1"/>
          </p:cNvSpPr>
          <p:nvPr/>
        </p:nvSpPr>
        <p:spPr>
          <a:xfrm xmlns:a="http://schemas.openxmlformats.org/drawingml/2006/main">
            <a:off x="1988750" y="5727166"/>
            <a:ext cx="1801583" cy="400110"/>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Score</a:t>
            </a:r>
          </a:p>
        </p:txBody>
      </p:sp>
      <p:sp>
        <p:nvSpPr>
          <p:cNvPr id="19" name="TextBox 18">
            <a:extLst xmlns:a="http://schemas.openxmlformats.org/drawingml/2006/main">
              <a:ext uri="{FF2B5EF4-FFF2-40B4-BE49-F238E27FC236}">
                <a16:creationId xmlns:a16="http://schemas.microsoft.com/office/drawing/2014/main" id="{F821640E-E606-CFE0-DA27-0902280F3B3E}"/>
              </a:ext>
            </a:extLst>
          </p:cNvPr>
          <p:cNvSpPr>
            <a:spLocks xmlns:a="http://schemas.openxmlformats.org/drawingml/2006/main" noGrp="1"/>
          </p:cNvSpPr>
          <p:nvPr/>
        </p:nvSpPr>
        <p:spPr>
          <a:xfrm xmlns:a="http://schemas.openxmlformats.org/drawingml/2006/main">
            <a:off x="375539" y="6136275"/>
            <a:ext cx="5215017" cy="338554"/>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600">
                <a:solidFill>
                  <a:srgbClr val="818284"/>
                </a:solidFill>
                <a:latin typeface="Aptos"/>
                <a:ea typeface="Aptos"/>
                <a:cs typeface="Aptos"/>
              </a:defRPr>
            </a:pPr>
            <a:r>
              <a:rPr sz="1600">
                <a:solidFill>
                  <a:srgbClr val="818284"/>
                </a:solidFill>
                <a:latin typeface="Aptos"/>
                <a:ea typeface="Aptos"/>
                <a:cs typeface="Aptos"/>
              </a:rPr>
              <a:t>(capture · type · IoU)</a:t>
            </a:r>
          </a:p>
        </p:txBody>
      </p:sp>
      <p:sp>
        <p:nvSpPr>
          <p:cNvPr id="20" name="Right Arrow 19">
            <a:extLst xmlns:a="http://schemas.openxmlformats.org/drawingml/2006/main">
              <a:ext uri="{FF2B5EF4-FFF2-40B4-BE49-F238E27FC236}">
                <a16:creationId xmlns:a16="http://schemas.microsoft.com/office/drawing/2014/main" id="{65ED37C2-AD34-0C25-E4F7-EFCA512BD7EC}"/>
              </a:ext>
            </a:extLst>
          </p:cNvPr>
          <p:cNvSpPr>
            <a:spLocks xmlns:a="http://schemas.openxmlformats.org/drawingml/2006/main" noGrp="1"/>
          </p:cNvSpPr>
          <p:nvPr/>
        </p:nvSpPr>
        <p:spPr>
          <a:xfrm xmlns:a="http://schemas.openxmlformats.org/drawingml/2006/main" rot="10800000">
            <a:off x="5758659" y="5818852"/>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214877378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E142F338-0830-9EC0-4873-5AA53C7DC557}"/>
              </a:ext>
            </a:extLst>
          </p:cNvPr>
          <p:cNvSpPr>
            <a:spLocks xmlns:a="http://schemas.openxmlformats.org/drawingml/2006/main" noGrp="1"/>
          </p:cNvSpPr>
          <p:nvPr/>
        </p:nvSpPr>
        <p:spPr>
          <a:xfrm xmlns:a="http://schemas.openxmlformats.org/drawingml/2006/main">
            <a:off x="485976" y="401303"/>
            <a:ext cx="10071188" cy="646331"/>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l">
              <a:buNone/>
              <a:defRPr sz="3600">
                <a:solidFill>
                  <a:srgbClr val="4F2683"/>
                </a:solidFill>
                <a:latin typeface="Aptos Display"/>
                <a:ea typeface="Aptos Display"/>
                <a:cs typeface="Aptos Display"/>
              </a:defRPr>
            </a:pPr>
            <a:r>
              <a:rPr sz="3600">
                <a:solidFill>
                  <a:srgbClr val="4F2683"/>
                </a:solidFill>
                <a:latin typeface="Aptos Display"/>
                <a:ea typeface="Aptos Display"/>
                <a:cs typeface="Aptos Display"/>
              </a:rPr>
              <a:t>Ground Truth – Corrections Stay Auditable</a:t>
            </a:r>
          </a:p>
        </p:txBody>
      </p:sp>
      <p:sp>
        <p:nvSpPr>
          <p:cNvPr id="7" name="TextBox 6">
            <a:extLst xmlns:a="http://schemas.openxmlformats.org/drawingml/2006/main">
              <a:ext uri="{FF2B5EF4-FFF2-40B4-BE49-F238E27FC236}">
                <a16:creationId xmlns:a16="http://schemas.microsoft.com/office/drawing/2014/main" id="{7E36B76E-B4A6-8F93-5300-492E3B0BBF5C}"/>
              </a:ext>
            </a:extLst>
          </p:cNvPr>
          <p:cNvSpPr>
            <a:spLocks xmlns:a="http://schemas.openxmlformats.org/drawingml/2006/main" noGrp="1"/>
          </p:cNvSpPr>
          <p:nvPr/>
        </p:nvSpPr>
        <p:spPr>
          <a:xfrm xmlns:a="http://schemas.openxmlformats.org/drawingml/2006/main">
            <a:off x="853750" y="1162369"/>
            <a:ext cx="10437732" cy="1631216"/>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normAutofit fontScale="100000"/>
          </a:bodyPr>
          <a:lstStyle xmlns:a="http://schemas.openxmlformats.org/drawingml/2006/main"/>
          <a:p xmlns:a="http://schemas.openxmlformats.org/drawingml/2006/main">
            <a:pPr marL="285750" indent="-285750" algn="l">
              <a:buFont typeface="Arial"/>
              <a:buChar char="•"/>
              <a:defRPr sz="2000">
                <a:solidFill>
                  <a:srgbClr val="4F2683"/>
                </a:solidFill>
                <a:latin typeface="Aptos"/>
                <a:ea typeface="Aptos"/>
                <a:cs typeface="Aptos"/>
              </a:defRPr>
            </a:pPr>
            <a:r>
              <a:rPr sz="2000">
                <a:solidFill>
                  <a:srgbClr val="4F2683"/>
                </a:solidFill>
                <a:latin typeface="Aptos"/>
                <a:ea typeface="Aptos"/>
                <a:cs typeface="Aptos"/>
              </a:rPr>
              <a:t>Detector output never changed. Only justified reference rules were recomputed and the preserved output was rescored.</a:t>
            </a:r>
          </a:p>
        </p:txBody>
      </p:sp>
      <p:sp>
        <p:nvSpPr>
          <p:cNvPr id="2" name="TextBox 1">
            <a:extLst xmlns:a="http://schemas.openxmlformats.org/drawingml/2006/main">
              <a:ext uri="{FF2B5EF4-FFF2-40B4-BE49-F238E27FC236}">
                <a16:creationId xmlns:a16="http://schemas.microsoft.com/office/drawing/2014/main" id="{40693522-AB0E-8B94-9AE8-7DB8FC367D02}"/>
              </a:ext>
            </a:extLst>
          </p:cNvPr>
          <p:cNvSpPr>
            <a:spLocks xmlns:a="http://schemas.openxmlformats.org/drawingml/2006/main" noGrp="1"/>
          </p:cNvSpPr>
          <p:nvPr/>
        </p:nvSpPr>
        <p:spPr>
          <a:xfrm xmlns:a="http://schemas.openxmlformats.org/drawingml/2006/main">
            <a:off x="517484" y="2326747"/>
            <a:ext cx="1234633" cy="400110"/>
          </a:xfrm>
          <a:prstGeom xmlns:a="http://schemas.openxmlformats.org/drawingml/2006/main" prst="rect">
            <a:avLst/>
          </a:prstGeom>
          <a:noFill xmlns:a="http://schemas.openxmlformats.org/drawingml/2006/main"/>
        </p:spPr>
        <p:txBody>
          <a:bodyPr xmlns:a="http://schemas.openxmlformats.org/drawingml/2006/main" wrap="none" anchor="ctr">
            <a:normAutofit fontScale="80263"/>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Raw output</a:t>
            </a:r>
          </a:p>
        </p:txBody>
      </p:sp>
      <p:sp>
        <p:nvSpPr>
          <p:cNvPr id="3" name="TextBox 2">
            <a:extLst xmlns:a="http://schemas.openxmlformats.org/drawingml/2006/main">
              <a:ext uri="{FF2B5EF4-FFF2-40B4-BE49-F238E27FC236}">
                <a16:creationId xmlns:a16="http://schemas.microsoft.com/office/drawing/2014/main" id="{FA7DAA9D-4D7B-3692-D826-44BA8F5D6B04}"/>
              </a:ext>
            </a:extLst>
          </p:cNvPr>
          <p:cNvSpPr>
            <a:spLocks xmlns:a="http://schemas.openxmlformats.org/drawingml/2006/main" noGrp="1"/>
          </p:cNvSpPr>
          <p:nvPr/>
        </p:nvSpPr>
        <p:spPr>
          <a:xfrm xmlns:a="http://schemas.openxmlformats.org/drawingml/2006/main">
            <a:off x="502439" y="3330924"/>
            <a:ext cx="1239442" cy="400110"/>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GT rules</a:t>
            </a:r>
          </a:p>
        </p:txBody>
      </p:sp>
      <p:sp>
        <p:nvSpPr>
          <p:cNvPr id="4" name="Cross 3">
            <a:extLst xmlns:a="http://schemas.openxmlformats.org/drawingml/2006/main">
              <a:ext uri="{FF2B5EF4-FFF2-40B4-BE49-F238E27FC236}">
                <a16:creationId xmlns:a16="http://schemas.microsoft.com/office/drawing/2014/main" id="{FE4BA519-BA93-6F2B-C2F6-33A26FBFEAF3}"/>
              </a:ext>
            </a:extLst>
          </p:cNvPr>
          <p:cNvSpPr>
            <a:spLocks xmlns:a="http://schemas.openxmlformats.org/drawingml/2006/main" noGrp="1"/>
          </p:cNvSpPr>
          <p:nvPr/>
        </p:nvSpPr>
        <p:spPr>
          <a:xfrm xmlns:a="http://schemas.openxmlformats.org/drawingml/2006/main">
            <a:off x="956421" y="2850745"/>
            <a:ext cx="320634" cy="308759"/>
          </a:xfrm>
          <a:prstGeom xmlns:a="http://schemas.openxmlformats.org/drawingml/2006/main" prst="plus">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ight Arrow 5">
            <a:extLst xmlns:a="http://schemas.openxmlformats.org/drawingml/2006/main">
              <a:ext uri="{FF2B5EF4-FFF2-40B4-BE49-F238E27FC236}">
                <a16:creationId xmlns:a16="http://schemas.microsoft.com/office/drawing/2014/main" id="{204C129A-2F39-00A4-2B82-6A4962EE4DB1}"/>
              </a:ext>
            </a:extLst>
          </p:cNvPr>
          <p:cNvSpPr>
            <a:spLocks xmlns:a="http://schemas.openxmlformats.org/drawingml/2006/main" noGrp="1"/>
          </p:cNvSpPr>
          <p:nvPr/>
        </p:nvSpPr>
        <p:spPr>
          <a:xfrm xmlns:a="http://schemas.openxmlformats.org/drawingml/2006/main">
            <a:off x="1891775" y="2824425"/>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E1EF6F44-7783-EC84-8872-738877351764}"/>
              </a:ext>
            </a:extLst>
          </p:cNvPr>
          <p:cNvSpPr>
            <a:spLocks xmlns:a="http://schemas.openxmlformats.org/drawingml/2006/main" noGrp="1"/>
          </p:cNvSpPr>
          <p:nvPr/>
        </p:nvSpPr>
        <p:spPr>
          <a:xfrm xmlns:a="http://schemas.openxmlformats.org/drawingml/2006/main">
            <a:off x="2708794" y="2749435"/>
            <a:ext cx="2603533" cy="400110"/>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Wrap</a:t>
            </a:r>
          </a:p>
        </p:txBody>
      </p:sp>
      <p:sp>
        <p:nvSpPr>
          <p:cNvPr id="9" name="TextBox 8">
            <a:extLst xmlns:a="http://schemas.openxmlformats.org/drawingml/2006/main">
              <a:ext uri="{FF2B5EF4-FFF2-40B4-BE49-F238E27FC236}">
                <a16:creationId xmlns:a16="http://schemas.microsoft.com/office/drawing/2014/main" id="{0D66CC4B-2A5B-6672-1D10-399ECF34476F}"/>
              </a:ext>
            </a:extLst>
          </p:cNvPr>
          <p:cNvSpPr>
            <a:spLocks xmlns:a="http://schemas.openxmlformats.org/drawingml/2006/main" noGrp="1"/>
          </p:cNvSpPr>
          <p:nvPr/>
        </p:nvSpPr>
        <p:spPr>
          <a:xfrm xmlns:a="http://schemas.openxmlformats.org/drawingml/2006/main">
            <a:off x="2750407" y="3182082"/>
            <a:ext cx="2561920" cy="338554"/>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600">
                <a:solidFill>
                  <a:srgbClr val="818284"/>
                </a:solidFill>
                <a:latin typeface="Aptos"/>
                <a:ea typeface="Aptos"/>
                <a:cs typeface="Aptos"/>
              </a:defRPr>
            </a:pPr>
            <a:r>
              <a:rPr sz="1600">
                <a:solidFill>
                  <a:srgbClr val="818284"/>
                </a:solidFill>
                <a:latin typeface="Aptos"/>
                <a:ea typeface="Aptos"/>
                <a:cs typeface="Aptos"/>
              </a:rPr>
              <a:t>(7.3% → 99.8%)</a:t>
            </a:r>
          </a:p>
        </p:txBody>
      </p:sp>
      <p:sp>
        <p:nvSpPr>
          <p:cNvPr id="10" name="Right Arrow 9">
            <a:extLst xmlns:a="http://schemas.openxmlformats.org/drawingml/2006/main">
              <a:ext uri="{FF2B5EF4-FFF2-40B4-BE49-F238E27FC236}">
                <a16:creationId xmlns:a16="http://schemas.microsoft.com/office/drawing/2014/main" id="{65A3B6F4-F388-CF50-8977-E86868C9EB95}"/>
              </a:ext>
            </a:extLst>
          </p:cNvPr>
          <p:cNvSpPr>
            <a:spLocks xmlns:a="http://schemas.openxmlformats.org/drawingml/2006/main" noGrp="1"/>
          </p:cNvSpPr>
          <p:nvPr/>
        </p:nvSpPr>
        <p:spPr>
          <a:xfrm xmlns:a="http://schemas.openxmlformats.org/drawingml/2006/main">
            <a:off x="5656913" y="2781582"/>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2608BE02-567A-F5DE-92DF-138C9506255C}"/>
              </a:ext>
            </a:extLst>
          </p:cNvPr>
          <p:cNvSpPr>
            <a:spLocks xmlns:a="http://schemas.openxmlformats.org/drawingml/2006/main" noGrp="1"/>
          </p:cNvSpPr>
          <p:nvPr/>
        </p:nvSpPr>
        <p:spPr>
          <a:xfrm xmlns:a="http://schemas.openxmlformats.org/drawingml/2006/main">
            <a:off x="8026093" y="2657312"/>
            <a:ext cx="1776448" cy="400110"/>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Rename</a:t>
            </a:r>
          </a:p>
        </p:txBody>
      </p:sp>
      <p:sp>
        <p:nvSpPr>
          <p:cNvPr id="13" name="TextBox 12">
            <a:extLst xmlns:a="http://schemas.openxmlformats.org/drawingml/2006/main">
              <a:ext uri="{FF2B5EF4-FFF2-40B4-BE49-F238E27FC236}">
                <a16:creationId xmlns:a16="http://schemas.microsoft.com/office/drawing/2014/main" id="{9CD04EB9-F91D-8266-C0DD-29E7702035F6}"/>
              </a:ext>
            </a:extLst>
          </p:cNvPr>
          <p:cNvSpPr>
            <a:spLocks xmlns:a="http://schemas.openxmlformats.org/drawingml/2006/main" noGrp="1"/>
          </p:cNvSpPr>
          <p:nvPr/>
        </p:nvSpPr>
        <p:spPr>
          <a:xfrm xmlns:a="http://schemas.openxmlformats.org/drawingml/2006/main">
            <a:off x="6283920" y="3057422"/>
            <a:ext cx="5698035" cy="338554"/>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600">
                <a:solidFill>
                  <a:srgbClr val="818284"/>
                </a:solidFill>
                <a:latin typeface="Aptos"/>
                <a:ea typeface="Aptos"/>
                <a:cs typeface="Aptos"/>
              </a:defRPr>
            </a:pPr>
            <a:r>
              <a:rPr sz="1600">
                <a:solidFill>
                  <a:srgbClr val="818284"/>
                </a:solidFill>
                <a:latin typeface="Aptos"/>
                <a:ea typeface="Aptos"/>
                <a:cs typeface="Aptos"/>
              </a:rPr>
              <a:t>(88.3% → 99.5%; split scattered runs)</a:t>
            </a:r>
          </a:p>
        </p:txBody>
      </p:sp>
      <p:sp>
        <p:nvSpPr>
          <p:cNvPr id="14" name="TextBox 13">
            <a:extLst xmlns:a="http://schemas.openxmlformats.org/drawingml/2006/main">
              <a:ext uri="{FF2B5EF4-FFF2-40B4-BE49-F238E27FC236}">
                <a16:creationId xmlns:a16="http://schemas.microsoft.com/office/drawing/2014/main" id="{D43E3792-0825-88D8-352A-7A0D14EC0DEA}"/>
              </a:ext>
            </a:extLst>
          </p:cNvPr>
          <p:cNvSpPr>
            <a:spLocks xmlns:a="http://schemas.openxmlformats.org/drawingml/2006/main" noGrp="1"/>
          </p:cNvSpPr>
          <p:nvPr/>
        </p:nvSpPr>
        <p:spPr>
          <a:xfrm xmlns:a="http://schemas.openxmlformats.org/drawingml/2006/main">
            <a:off x="8262331" y="4068873"/>
            <a:ext cx="1423788" cy="396240"/>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Reindent</a:t>
            </a:r>
          </a:p>
        </p:txBody>
      </p:sp>
      <p:sp>
        <p:nvSpPr>
          <p:cNvPr id="15" name="TextBox 14">
            <a:extLst xmlns:a="http://schemas.openxmlformats.org/drawingml/2006/main">
              <a:ext uri="{FF2B5EF4-FFF2-40B4-BE49-F238E27FC236}">
                <a16:creationId xmlns:a16="http://schemas.microsoft.com/office/drawing/2014/main" id="{CEDEA15F-BA8D-7486-8575-F49BD736DD6A}"/>
              </a:ext>
            </a:extLst>
          </p:cNvPr>
          <p:cNvSpPr>
            <a:spLocks xmlns:a="http://schemas.openxmlformats.org/drawingml/2006/main" noGrp="1"/>
          </p:cNvSpPr>
          <p:nvPr/>
        </p:nvSpPr>
        <p:spPr>
          <a:xfrm xmlns:a="http://schemas.openxmlformats.org/drawingml/2006/main">
            <a:off x="7847442" y="4449424"/>
            <a:ext cx="2253566" cy="338554"/>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600">
                <a:solidFill>
                  <a:srgbClr val="818284"/>
                </a:solidFill>
                <a:latin typeface="Aptos"/>
                <a:ea typeface="Aptos"/>
                <a:cs typeface="Aptos"/>
              </a:defRPr>
            </a:pPr>
            <a:r>
              <a:rPr sz="1600">
                <a:solidFill>
                  <a:srgbClr val="818284"/>
                </a:solidFill>
                <a:latin typeface="Aptos"/>
                <a:ea typeface="Aptos"/>
                <a:cs typeface="Aptos"/>
              </a:rPr>
              <a:t>(94.8% → 98.7%)</a:t>
            </a:r>
          </a:p>
        </p:txBody>
      </p:sp>
      <p:sp>
        <p:nvSpPr>
          <p:cNvPr id="16" name="Right Arrow 15">
            <a:extLst xmlns:a="http://schemas.openxmlformats.org/drawingml/2006/main">
              <a:ext uri="{FF2B5EF4-FFF2-40B4-BE49-F238E27FC236}">
                <a16:creationId xmlns:a16="http://schemas.microsoft.com/office/drawing/2014/main" id="{7706F3D2-6EDF-86BF-FC01-A39078EA493C}"/>
              </a:ext>
            </a:extLst>
          </p:cNvPr>
          <p:cNvSpPr>
            <a:spLocks xmlns:a="http://schemas.openxmlformats.org/drawingml/2006/main" noGrp="1"/>
          </p:cNvSpPr>
          <p:nvPr/>
        </p:nvSpPr>
        <p:spPr>
          <a:xfrm xmlns:a="http://schemas.openxmlformats.org/drawingml/2006/main" rot="5400000">
            <a:off x="8766813" y="3579680"/>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6CC9EF97-5439-2A55-2D5B-D08442CC2FD4}"/>
              </a:ext>
            </a:extLst>
          </p:cNvPr>
          <p:cNvSpPr>
            <a:spLocks xmlns:a="http://schemas.openxmlformats.org/drawingml/2006/main" noGrp="1"/>
          </p:cNvSpPr>
          <p:nvPr/>
        </p:nvSpPr>
        <p:spPr>
          <a:xfrm xmlns:a="http://schemas.openxmlformats.org/drawingml/2006/main">
            <a:off x="2090992" y="4073416"/>
            <a:ext cx="2930610" cy="400110"/>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Insert / Delete</a:t>
            </a:r>
          </a:p>
        </p:txBody>
      </p:sp>
      <p:sp>
        <p:nvSpPr>
          <p:cNvPr id="19" name="TextBox 18">
            <a:extLst xmlns:a="http://schemas.openxmlformats.org/drawingml/2006/main">
              <a:ext uri="{FF2B5EF4-FFF2-40B4-BE49-F238E27FC236}">
                <a16:creationId xmlns:a16="http://schemas.microsoft.com/office/drawing/2014/main" id="{FCE3FD23-5403-3F75-B445-A9CE665E061D}"/>
              </a:ext>
            </a:extLst>
          </p:cNvPr>
          <p:cNvSpPr>
            <a:spLocks xmlns:a="http://schemas.openxmlformats.org/drawingml/2006/main" noGrp="1"/>
          </p:cNvSpPr>
          <p:nvPr/>
        </p:nvSpPr>
        <p:spPr>
          <a:xfrm xmlns:a="http://schemas.openxmlformats.org/drawingml/2006/main">
            <a:off x="1883580" y="4482526"/>
            <a:ext cx="3401187" cy="338554"/>
          </a:xfrm>
          <a:prstGeom xmlns:a="http://schemas.openxmlformats.org/drawingml/2006/main" prst="rect">
            <a:avLst/>
          </a:prstGeom>
          <a:noFill xmlns:a="http://schemas.openxmlformats.org/drawingml/2006/main"/>
        </p:spPr>
        <p:txBody>
          <a:bodyPr xmlns:a="http://schemas.openxmlformats.org/drawingml/2006/main" wrap="none" anchor="ctr">
            <a:normAutofit fontScale="80740"/>
          </a:bodyPr>
          <a:lstStyle xmlns:a="http://schemas.openxmlformats.org/drawingml/2006/main"/>
          <a:p xmlns:a="http://schemas.openxmlformats.org/drawingml/2006/main">
            <a:pPr algn="ctr">
              <a:buNone/>
              <a:defRPr sz="1600">
                <a:solidFill>
                  <a:srgbClr val="818284"/>
                </a:solidFill>
                <a:latin typeface="Aptos"/>
                <a:ea typeface="Aptos"/>
                <a:cs typeface="Aptos"/>
              </a:defRPr>
            </a:pPr>
            <a:r>
              <a:rPr sz="1600">
                <a:solidFill>
                  <a:srgbClr val="818284"/>
                </a:solidFill>
                <a:latin typeface="Aptos"/>
                <a:ea typeface="Aptos"/>
                <a:cs typeface="Aptos"/>
              </a:rPr>
              <a:t>(corrected operators: separate Batch 5 arm)</a:t>
            </a:r>
          </a:p>
        </p:txBody>
      </p:sp>
      <p:sp>
        <p:nvSpPr>
          <p:cNvPr id="20" name="Right Arrow 19">
            <a:extLst xmlns:a="http://schemas.openxmlformats.org/drawingml/2006/main">
              <a:ext uri="{FF2B5EF4-FFF2-40B4-BE49-F238E27FC236}">
                <a16:creationId xmlns:a16="http://schemas.microsoft.com/office/drawing/2014/main" id="{B43B8509-F766-A8C2-1A94-412B277F435B}"/>
              </a:ext>
            </a:extLst>
          </p:cNvPr>
          <p:cNvSpPr>
            <a:spLocks xmlns:a="http://schemas.openxmlformats.org/drawingml/2006/main" noGrp="1"/>
          </p:cNvSpPr>
          <p:nvPr/>
        </p:nvSpPr>
        <p:spPr>
          <a:xfrm xmlns:a="http://schemas.openxmlformats.org/drawingml/2006/main" rot="10800000">
            <a:off x="5869096" y="4156102"/>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298252378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4" name="TextBox 13">
            <a:extLst xmlns:a="http://schemas.openxmlformats.org/drawingml/2006/main">
              <a:ext uri="{FF2B5EF4-FFF2-40B4-BE49-F238E27FC236}">
                <a16:creationId xmlns:a16="http://schemas.microsoft.com/office/drawing/2014/main" id="{7764FCE4-F5BA-3C40-9535-4B5582941EE6}"/>
              </a:ext>
            </a:extLst>
          </p:cNvPr>
          <p:cNvSpPr>
            <a:spLocks xmlns:a="http://schemas.openxmlformats.org/drawingml/2006/main" noGrp="1"/>
          </p:cNvSpPr>
          <p:nvPr/>
        </p:nvSpPr>
        <p:spPr>
          <a:xfrm xmlns:a="http://schemas.openxmlformats.org/drawingml/2006/main">
            <a:off x="348211" y="2782669"/>
            <a:ext cx="2862420" cy="1323439"/>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normAutofit fontScale="100000"/>
          </a:bodyPr>
          <a:lstStyle xmlns:a="http://schemas.openxmlformats.org/drawingml/2006/main"/>
          <a:p xmlns:a="http://schemas.openxmlformats.org/drawingml/2006/main">
            <a:pPr algn="ctr">
              <a:buNone/>
              <a:defRPr sz="1600">
                <a:solidFill>
                  <a:srgbClr val="000000"/>
                </a:solidFill>
                <a:latin typeface="Aptos"/>
                <a:ea typeface="Aptos"/>
                <a:cs typeface="Aptos"/>
              </a:defRPr>
            </a:pPr>
            <a:r>
              <a:rPr sz="1600">
                <a:solidFill>
                  <a:srgbClr val="92D050"/>
                </a:solidFill>
                <a:latin typeface="Aptos"/>
                <a:ea typeface="Aptos"/>
                <a:cs typeface="Aptos"/>
              </a:rPr>
              <a:t>pairs scored</a:t>
            </a:r>
          </a:p>
          <a:p xmlns:a="http://schemas.openxmlformats.org/drawingml/2006/main">
            <a:pPr algn="ctr">
              <a:buNone/>
            </a:pPr>
            <a:r>
              <a:t/>
            </a:r>
          </a:p>
          <a:p xmlns:a="http://schemas.openxmlformats.org/drawingml/2006/main">
            <a:pPr algn="ctr">
              <a:buNone/>
              <a:defRPr sz="1600">
                <a:solidFill>
                  <a:srgbClr val="000000"/>
                </a:solidFill>
                <a:latin typeface="Aptos"/>
                <a:ea typeface="Aptos"/>
                <a:cs typeface="Aptos"/>
              </a:defRPr>
            </a:pPr>
            <a:r>
              <a:rPr sz="1600">
                <a:solidFill>
                  <a:srgbClr val="000000"/>
                </a:solidFill>
                <a:latin typeface="Aptos"/>
                <a:ea typeface="Aptos"/>
                <a:cs typeface="Aptos"/>
              </a:rPr>
              <a:t>batches 1–4</a:t>
            </a:r>
          </a:p>
          <a:p xmlns:a="http://schemas.openxmlformats.org/drawingml/2006/main">
            <a:pPr algn="ctr">
              <a:buNone/>
              <a:defRPr sz="1600">
                <a:solidFill>
                  <a:srgbClr val="000000"/>
                </a:solidFill>
                <a:latin typeface="Aptos"/>
                <a:ea typeface="Aptos"/>
                <a:cs typeface="Aptos"/>
              </a:defRPr>
            </a:pPr>
            <a:r>
              <a:rPr sz="1600">
                <a:solidFill>
                  <a:srgbClr val="000000"/>
                </a:solidFill>
                <a:latin typeface="Aptos"/>
                <a:ea typeface="Aptos"/>
                <a:cs typeface="Aptos"/>
              </a:rPr>
              <a:t>scored_v4</a:t>
            </a:r>
          </a:p>
        </p:txBody>
      </p:sp>
      <p:sp>
        <p:nvSpPr>
          <p:cNvPr id="9" name="TextBox 8">
            <a:extLst xmlns:a="http://schemas.openxmlformats.org/drawingml/2006/main">
              <a:ext uri="{FF2B5EF4-FFF2-40B4-BE49-F238E27FC236}">
                <a16:creationId xmlns:a16="http://schemas.microsoft.com/office/drawing/2014/main" id="{83ABD91D-5DA9-0937-773A-14AA7171029B}"/>
              </a:ext>
            </a:extLst>
          </p:cNvPr>
          <p:cNvSpPr>
            <a:spLocks xmlns:a="http://schemas.openxmlformats.org/drawingml/2006/main" noGrp="1"/>
          </p:cNvSpPr>
          <p:nvPr/>
        </p:nvSpPr>
        <p:spPr>
          <a:xfrm xmlns:a="http://schemas.openxmlformats.org/drawingml/2006/main">
            <a:off x="348211" y="2022076"/>
            <a:ext cx="2862420" cy="40011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ctr">
              <a:buNone/>
              <a:defRPr sz="2000" b="1">
                <a:solidFill>
                  <a:srgbClr val="4F2683"/>
                </a:solidFill>
                <a:latin typeface="Aptos"/>
                <a:ea typeface="Aptos"/>
                <a:cs typeface="Aptos"/>
              </a:defRPr>
            </a:pPr>
            <a:r>
              <a:rPr sz="2000" b="1">
                <a:solidFill>
                  <a:srgbClr val="4F2683"/>
                </a:solidFill>
                <a:latin typeface="Aptos"/>
                <a:ea typeface="Aptos"/>
                <a:cs typeface="Aptos"/>
              </a:rPr>
              <a:t>4,000</a:t>
            </a:r>
          </a:p>
        </p:txBody>
      </p:sp>
      <p:sp>
        <p:nvSpPr>
          <p:cNvPr id="11" name="TextBox 10">
            <a:extLst xmlns:a="http://schemas.openxmlformats.org/drawingml/2006/main">
              <a:ext uri="{FF2B5EF4-FFF2-40B4-BE49-F238E27FC236}">
                <a16:creationId xmlns:a16="http://schemas.microsoft.com/office/drawing/2014/main" id="{E41FE22C-3EAA-E2CA-CD17-51237E7B07CF}"/>
              </a:ext>
            </a:extLst>
          </p:cNvPr>
          <p:cNvSpPr>
            <a:spLocks xmlns:a="http://schemas.openxmlformats.org/drawingml/2006/main" noGrp="1"/>
          </p:cNvSpPr>
          <p:nvPr/>
        </p:nvSpPr>
        <p:spPr>
          <a:xfrm xmlns:a="http://schemas.openxmlformats.org/drawingml/2006/main">
            <a:off x="6416993" y="2022076"/>
            <a:ext cx="2871987" cy="40011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ctr">
              <a:buNone/>
              <a:defRPr sz="2000" b="1">
                <a:solidFill>
                  <a:srgbClr val="4F2683"/>
                </a:solidFill>
                <a:latin typeface="Aptos"/>
                <a:ea typeface="Aptos"/>
                <a:cs typeface="Aptos"/>
              </a:defRPr>
            </a:pPr>
            <a:r>
              <a:rPr sz="2000" b="1">
                <a:solidFill>
                  <a:srgbClr val="4F2683"/>
                </a:solidFill>
                <a:latin typeface="Aptos"/>
                <a:ea typeface="Aptos"/>
                <a:cs typeface="Aptos"/>
              </a:rPr>
              <a:t>249</a:t>
            </a:r>
          </a:p>
        </p:txBody>
      </p:sp>
      <p:sp>
        <p:nvSpPr>
          <p:cNvPr id="18" name="TextBox 17">
            <a:extLst xmlns:a="http://schemas.openxmlformats.org/drawingml/2006/main">
              <a:ext uri="{FF2B5EF4-FFF2-40B4-BE49-F238E27FC236}">
                <a16:creationId xmlns:a16="http://schemas.microsoft.com/office/drawing/2014/main" id="{BEDF44A3-B528-7BA9-2058-080981564ACA}"/>
              </a:ext>
            </a:extLst>
          </p:cNvPr>
          <p:cNvSpPr>
            <a:spLocks xmlns:a="http://schemas.openxmlformats.org/drawingml/2006/main" noGrp="1"/>
          </p:cNvSpPr>
          <p:nvPr/>
        </p:nvSpPr>
        <p:spPr>
          <a:xfrm xmlns:a="http://schemas.openxmlformats.org/drawingml/2006/main">
            <a:off x="3376874" y="2020143"/>
            <a:ext cx="2871987" cy="707886"/>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ctr">
              <a:buNone/>
              <a:defRPr sz="2000" b="1">
                <a:solidFill>
                  <a:srgbClr val="4F2683"/>
                </a:solidFill>
                <a:latin typeface="Aptos"/>
                <a:ea typeface="Aptos"/>
                <a:cs typeface="Aptos"/>
              </a:defRPr>
            </a:pPr>
            <a:r>
              <a:rPr sz="2000" b="1">
                <a:solidFill>
                  <a:srgbClr val="4F2683"/>
                </a:solidFill>
                <a:latin typeface="Aptos"/>
                <a:ea typeface="Aptos"/>
                <a:cs typeface="Aptos"/>
              </a:rPr>
              <a:t>16,353</a:t>
            </a:r>
          </a:p>
        </p:txBody>
      </p:sp>
      <p:sp>
        <p:nvSpPr>
          <p:cNvPr id="2" name="TextBox 1">
            <a:extLst xmlns:a="http://schemas.openxmlformats.org/drawingml/2006/main">
              <a:ext uri="{FF2B5EF4-FFF2-40B4-BE49-F238E27FC236}">
                <a16:creationId xmlns:a16="http://schemas.microsoft.com/office/drawing/2014/main" id="{2D03D9A2-9FEC-8BF1-2D5D-F82A8AD2989E}"/>
              </a:ext>
            </a:extLst>
          </p:cNvPr>
          <p:cNvSpPr>
            <a:spLocks xmlns:a="http://schemas.openxmlformats.org/drawingml/2006/main" noGrp="1"/>
          </p:cNvSpPr>
          <p:nvPr/>
        </p:nvSpPr>
        <p:spPr>
          <a:xfrm xmlns:a="http://schemas.openxmlformats.org/drawingml/2006/main">
            <a:off x="3386441" y="2782669"/>
            <a:ext cx="2862420" cy="109728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normAutofit fontScale="100000"/>
          </a:bodyPr>
          <a:lstStyle xmlns:a="http://schemas.openxmlformats.org/drawingml/2006/main"/>
          <a:p xmlns:a="http://schemas.openxmlformats.org/drawingml/2006/main">
            <a:pPr algn="ctr">
              <a:buNone/>
              <a:defRPr sz="1600">
                <a:solidFill>
                  <a:srgbClr val="000000"/>
                </a:solidFill>
                <a:latin typeface="Aptos"/>
                <a:ea typeface="Aptos"/>
                <a:cs typeface="Aptos"/>
              </a:defRPr>
            </a:pPr>
            <a:r>
              <a:rPr sz="1600">
                <a:solidFill>
                  <a:srgbClr val="92D050"/>
                </a:solidFill>
                <a:latin typeface="Aptos"/>
                <a:ea typeface="Aptos"/>
                <a:cs typeface="Aptos"/>
              </a:rPr>
              <a:t>references</a:t>
            </a:r>
          </a:p>
          <a:p xmlns:a="http://schemas.openxmlformats.org/drawingml/2006/main">
            <a:pPr algn="ctr">
              <a:buNone/>
            </a:pPr>
            <a:r>
              <a:t/>
            </a:r>
          </a:p>
          <a:p xmlns:a="http://schemas.openxmlformats.org/drawingml/2006/main">
            <a:pPr algn="ctr">
              <a:buNone/>
              <a:defRPr sz="1600">
                <a:solidFill>
                  <a:srgbClr val="000000"/>
                </a:solidFill>
                <a:latin typeface="Aptos"/>
                <a:ea typeface="Aptos"/>
                <a:cs typeface="Aptos"/>
              </a:defRPr>
            </a:pPr>
            <a:r>
              <a:rPr sz="1600">
                <a:solidFill>
                  <a:srgbClr val="000000"/>
                </a:solidFill>
                <a:latin typeface="Aptos"/>
                <a:ea typeface="Aptos"/>
                <a:cs typeface="Aptos"/>
              </a:rPr>
              <a:t>clone, mutation,</a:t>
            </a:r>
          </a:p>
          <a:p xmlns:a="http://schemas.openxmlformats.org/drawingml/2006/main">
            <a:pPr algn="ctr">
              <a:buNone/>
              <a:defRPr sz="1600">
                <a:solidFill>
                  <a:srgbClr val="000000"/>
                </a:solidFill>
                <a:latin typeface="Aptos"/>
                <a:ea typeface="Aptos"/>
                <a:cs typeface="Aptos"/>
              </a:defRPr>
            </a:pPr>
            <a:r>
              <a:rPr sz="1600">
                <a:solidFill>
                  <a:srgbClr val="000000"/>
                </a:solidFill>
                <a:latin typeface="Aptos"/>
                <a:ea typeface="Aptos"/>
                <a:cs typeface="Aptos"/>
              </a:rPr>
              <a:t>and untouched</a:t>
            </a:r>
          </a:p>
        </p:txBody>
      </p:sp>
      <p:sp>
        <p:nvSpPr>
          <p:cNvPr id="3" name="TextBox 2">
            <a:extLst xmlns:a="http://schemas.openxmlformats.org/drawingml/2006/main">
              <a:ext uri="{FF2B5EF4-FFF2-40B4-BE49-F238E27FC236}">
                <a16:creationId xmlns:a16="http://schemas.microsoft.com/office/drawing/2014/main" id="{00E258EA-8DBB-794F-5145-473D622B783E}"/>
              </a:ext>
            </a:extLst>
          </p:cNvPr>
          <p:cNvSpPr>
            <a:spLocks xmlns:a="http://schemas.openxmlformats.org/drawingml/2006/main" noGrp="1"/>
          </p:cNvSpPr>
          <p:nvPr/>
        </p:nvSpPr>
        <p:spPr>
          <a:xfrm xmlns:a="http://schemas.openxmlformats.org/drawingml/2006/main">
            <a:off x="6424672" y="2782668"/>
            <a:ext cx="2862420" cy="156966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normAutofit fontScale="100000"/>
          </a:bodyPr>
          <a:lstStyle xmlns:a="http://schemas.openxmlformats.org/drawingml/2006/main"/>
          <a:p xmlns:a="http://schemas.openxmlformats.org/drawingml/2006/main">
            <a:pPr algn="ctr">
              <a:buNone/>
              <a:defRPr sz="1600">
                <a:solidFill>
                  <a:srgbClr val="000000"/>
                </a:solidFill>
                <a:latin typeface="Aptos"/>
                <a:ea typeface="Aptos"/>
                <a:cs typeface="Aptos"/>
              </a:defRPr>
            </a:pPr>
            <a:r>
              <a:rPr sz="1600">
                <a:solidFill>
                  <a:srgbClr val="92D050"/>
                </a:solidFill>
                <a:latin typeface="Aptos"/>
                <a:ea typeface="Aptos"/>
                <a:cs typeface="Aptos"/>
              </a:rPr>
              <a:t>CodeNet problems</a:t>
            </a:r>
          </a:p>
          <a:p xmlns:a="http://schemas.openxmlformats.org/drawingml/2006/main">
            <a:pPr algn="ctr">
              <a:buNone/>
            </a:pPr>
            <a:r>
              <a:t/>
            </a:r>
          </a:p>
          <a:p xmlns:a="http://schemas.openxmlformats.org/drawingml/2006/main">
            <a:pPr algn="ctr">
              <a:buNone/>
              <a:defRPr sz="1600">
                <a:solidFill>
                  <a:srgbClr val="000000"/>
                </a:solidFill>
                <a:latin typeface="Aptos"/>
                <a:ea typeface="Aptos"/>
                <a:cs typeface="Aptos"/>
              </a:defRPr>
            </a:pPr>
            <a:r>
              <a:rPr sz="1600">
                <a:solidFill>
                  <a:srgbClr val="000000"/>
                </a:solidFill>
                <a:latin typeface="Aptos"/>
                <a:ea typeface="Aptos"/>
                <a:cs typeface="Aptos"/>
              </a:rPr>
              <a:t>clustered confidence</a:t>
            </a:r>
          </a:p>
          <a:p xmlns:a="http://schemas.openxmlformats.org/drawingml/2006/main">
            <a:pPr algn="ctr">
              <a:buNone/>
              <a:defRPr sz="1600">
                <a:solidFill>
                  <a:srgbClr val="000000"/>
                </a:solidFill>
                <a:latin typeface="Aptos"/>
                <a:ea typeface="Aptos"/>
                <a:cs typeface="Aptos"/>
              </a:defRPr>
            </a:pPr>
            <a:r>
              <a:rPr sz="1600">
                <a:solidFill>
                  <a:srgbClr val="000000"/>
                </a:solidFill>
                <a:latin typeface="Aptos"/>
                <a:ea typeface="Aptos"/>
                <a:cs typeface="Aptos"/>
              </a:rPr>
              <a:t>intervals</a:t>
            </a:r>
          </a:p>
        </p:txBody>
      </p:sp>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976" y="401303"/>
            <a:ext cx="5144262" cy="646331"/>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l">
              <a:buNone/>
              <a:defRPr sz="3600">
                <a:solidFill>
                  <a:srgbClr val="4F2683"/>
                </a:solidFill>
                <a:latin typeface="Aptos Display"/>
                <a:ea typeface="Aptos Display"/>
                <a:cs typeface="Aptos Display"/>
              </a:defRPr>
            </a:pPr>
            <a:r>
              <a:rPr sz="3600">
                <a:solidFill>
                  <a:srgbClr val="4F2683"/>
                </a:solidFill>
                <a:latin typeface="Aptos Display"/>
                <a:ea typeface="Aptos Display"/>
                <a:cs typeface="Aptos Display"/>
              </a:rPr>
              <a:t>Formal Run – 4,000</a:t>
            </a:r>
          </a:p>
        </p:txBody>
      </p:sp>
      <p:pic>
        <p:nvPicPr>
          <p:cNvPr id="27" name="Picture 3"/>
          <p:cNvPicPr>
            <a:picLocks xmlns:a="http://schemas.openxmlformats.org/drawingml/2006/main" noChangeAspect="1"/>
          </p:cNvPicPr>
          <p:nvPr/>
        </p:nvPicPr>
        <p:blipFill>
          <a:blip xmlns:r="http://schemas.openxmlformats.org/officeDocument/2006/relationships" xmlns:a="http://schemas.openxmlformats.org/drawingml/2006/main" r:embed="R7d796706648e4897"/>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6" name="TextBox 5">
            <a:extLst xmlns:a="http://schemas.openxmlformats.org/drawingml/2006/main">
              <a:ext uri="{FF2B5EF4-FFF2-40B4-BE49-F238E27FC236}">
                <a16:creationId xmlns:a16="http://schemas.microsoft.com/office/drawing/2014/main" id="{EF69A584-276F-367F-CE69-565B9EC64812}"/>
              </a:ext>
            </a:extLst>
          </p:cNvPr>
          <p:cNvSpPr>
            <a:spLocks xmlns:a="http://schemas.openxmlformats.org/drawingml/2006/main" noGrp="1"/>
          </p:cNvSpPr>
          <p:nvPr/>
        </p:nvSpPr>
        <p:spPr>
          <a:xfrm xmlns:a="http://schemas.openxmlformats.org/drawingml/2006/main">
            <a:off x="9287092" y="2022076"/>
            <a:ext cx="2871987" cy="40011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ctr">
              <a:buNone/>
              <a:defRPr sz="2000" b="1">
                <a:solidFill>
                  <a:srgbClr val="4F2683"/>
                </a:solidFill>
                <a:latin typeface="Aptos"/>
                <a:ea typeface="Aptos"/>
                <a:cs typeface="Aptos"/>
              </a:defRPr>
            </a:pPr>
            <a:r>
              <a:rPr sz="2000" b="1">
                <a:solidFill>
                  <a:srgbClr val="4F2683"/>
                </a:solidFill>
                <a:latin typeface="Aptos"/>
                <a:ea typeface="Aptos"/>
                <a:cs typeface="Aptos"/>
              </a:rPr>
              <a:t>100%</a:t>
            </a:r>
          </a:p>
        </p:txBody>
      </p:sp>
      <p:sp>
        <p:nvSpPr>
          <p:cNvPr id="7" name="TextBox 6">
            <a:extLst xmlns:a="http://schemas.openxmlformats.org/drawingml/2006/main">
              <a:ext uri="{FF2B5EF4-FFF2-40B4-BE49-F238E27FC236}">
                <a16:creationId xmlns:a16="http://schemas.microsoft.com/office/drawing/2014/main" id="{C154822D-600D-38E0-99D7-0A6A26307CD1}"/>
              </a:ext>
            </a:extLst>
          </p:cNvPr>
          <p:cNvSpPr>
            <a:spLocks xmlns:a="http://schemas.openxmlformats.org/drawingml/2006/main" noGrp="1"/>
          </p:cNvSpPr>
          <p:nvPr/>
        </p:nvSpPr>
        <p:spPr>
          <a:xfrm xmlns:a="http://schemas.openxmlformats.org/drawingml/2006/main">
            <a:off x="9305045" y="2782668"/>
            <a:ext cx="2862420" cy="1323439"/>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normAutofit fontScale="100000"/>
          </a:bodyPr>
          <a:lstStyle xmlns:a="http://schemas.openxmlformats.org/drawingml/2006/main"/>
          <a:p xmlns:a="http://schemas.openxmlformats.org/drawingml/2006/main">
            <a:pPr algn="ctr">
              <a:buNone/>
              <a:defRPr sz="1600">
                <a:solidFill>
                  <a:srgbClr val="000000"/>
                </a:solidFill>
                <a:latin typeface="Aptos"/>
                <a:ea typeface="Aptos"/>
                <a:cs typeface="Aptos"/>
              </a:defRPr>
            </a:pPr>
            <a:r>
              <a:rPr sz="1600">
                <a:solidFill>
                  <a:srgbClr val="000000"/>
                </a:solidFill>
                <a:latin typeface="Aptos"/>
                <a:ea typeface="Aptos"/>
                <a:cs typeface="Aptos"/>
              </a:rPr>
              <a:t>status = ok</a:t>
            </a:r>
          </a:p>
          <a:p xmlns:a="http://schemas.openxmlformats.org/drawingml/2006/main">
            <a:pPr algn="ctr">
              <a:buNone/>
            </a:pPr>
            <a:r>
              <a:t/>
            </a:r>
          </a:p>
          <a:p xmlns:a="http://schemas.openxmlformats.org/drawingml/2006/main">
            <a:pPr algn="ctr">
              <a:buNone/>
              <a:defRPr sz="1600">
                <a:solidFill>
                  <a:srgbClr val="000000"/>
                </a:solidFill>
                <a:latin typeface="Aptos"/>
                <a:ea typeface="Aptos"/>
                <a:cs typeface="Aptos"/>
              </a:defRPr>
            </a:pPr>
            <a:r>
              <a:rPr sz="1600">
                <a:solidFill>
                  <a:srgbClr val="000000"/>
                </a:solidFill>
                <a:latin typeface="Aptos"/>
                <a:ea typeface="Aptos"/>
                <a:cs typeface="Aptos"/>
              </a:rPr>
              <a:t>full WALA + SMT</a:t>
            </a:r>
          </a:p>
          <a:p xmlns:a="http://schemas.openxmlformats.org/drawingml/2006/main">
            <a:pPr algn="ctr">
              <a:buNone/>
              <a:defRPr sz="1600">
                <a:solidFill>
                  <a:srgbClr val="000000"/>
                </a:solidFill>
                <a:latin typeface="Aptos"/>
                <a:ea typeface="Aptos"/>
                <a:cs typeface="Aptos"/>
              </a:defRPr>
            </a:pPr>
            <a:r>
              <a:rPr sz="1600" b="1">
                <a:solidFill>
                  <a:srgbClr val="92D050"/>
                </a:solidFill>
                <a:latin typeface="Aptos"/>
                <a:ea typeface="Aptos"/>
                <a:cs typeface="Aptos"/>
              </a:rPr>
              <a:t>zero fallback</a:t>
            </a:r>
          </a:p>
        </p:txBody>
      </p:sp>
      <p:sp>
        <p:nvSpPr>
          <p:cNvPr id="8" name="Rectangle 7">
            <a:extLst xmlns:a="http://schemas.openxmlformats.org/drawingml/2006/main">
              <a:ext uri="{FF2B5EF4-FFF2-40B4-BE49-F238E27FC236}">
                <a16:creationId xmlns:a16="http://schemas.microsoft.com/office/drawing/2014/main" id="{76EF4423-0555-CC17-B84B-969FAD651174}"/>
              </a:ext>
            </a:extLst>
          </p:cNvPr>
          <p:cNvSpPr>
            <a:spLocks xmlns:a="http://schemas.openxmlformats.org/drawingml/2006/main" noGrp="1"/>
          </p:cNvSpPr>
          <p:nvPr/>
        </p:nvSpPr>
        <p:spPr>
          <a:xfrm xmlns:a="http://schemas.openxmlformats.org/drawingml/2006/main">
            <a:off x="1447800" y="4608035"/>
            <a:ext cx="114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64748B"/>
                </a:solidFill>
                <a:latin typeface="Aptos"/>
                <a:ea typeface="Aptos"/>
                <a:cs typeface="Aptos"/>
              </a:defRPr>
            </a:pPr>
            <a:r>
              <a:rPr sz="975" b="1">
                <a:solidFill>
                  <a:srgbClr val="64748B"/>
                </a:solidFill>
                <a:latin typeface="Aptos"/>
                <a:ea typeface="Aptos"/>
                <a:cs typeface="Aptos"/>
              </a:rPr>
              <a:t>PAIRS</a:t>
            </a:r>
          </a:p>
        </p:txBody>
      </p:sp>
      <p:sp>
        <p:nvSpPr>
          <p:cNvPr id="10" name="Rectangle 9">
            <a:extLst xmlns:a="http://schemas.openxmlformats.org/drawingml/2006/main">
              <a:ext uri="{FF2B5EF4-FFF2-40B4-BE49-F238E27FC236}">
                <a16:creationId xmlns:a16="http://schemas.microsoft.com/office/drawing/2014/main" id="{E4A18234-4B72-9CC5-99E9-EC66FBB85A7F}"/>
              </a:ext>
            </a:extLst>
          </p:cNvPr>
          <p:cNvSpPr>
            <a:spLocks xmlns:a="http://schemas.openxmlformats.org/drawingml/2006/main" noGrp="1"/>
          </p:cNvSpPr>
          <p:nvPr/>
        </p:nvSpPr>
        <p:spPr>
          <a:xfrm xmlns:a="http://schemas.openxmlformats.org/drawingml/2006/main">
            <a:off x="5853172" y="4608035"/>
            <a:ext cx="114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64748B"/>
                </a:solidFill>
                <a:latin typeface="Aptos"/>
                <a:ea typeface="Aptos"/>
                <a:cs typeface="Aptos"/>
              </a:defRPr>
            </a:pPr>
            <a:r>
              <a:rPr sz="975" b="1">
                <a:solidFill>
                  <a:srgbClr val="64748B"/>
                </a:solidFill>
                <a:latin typeface="Aptos"/>
                <a:ea typeface="Aptos"/>
                <a:cs typeface="Aptos"/>
              </a:rPr>
              <a:t>REFERENCES</a:t>
            </a:r>
          </a:p>
        </p:txBody>
      </p:sp>
      <p:sp>
        <p:nvSpPr>
          <p:cNvPr id="13" name="Rectangle 12">
            <a:extLst xmlns:a="http://schemas.openxmlformats.org/drawingml/2006/main">
              <a:ext uri="{FF2B5EF4-FFF2-40B4-BE49-F238E27FC236}">
                <a16:creationId xmlns:a16="http://schemas.microsoft.com/office/drawing/2014/main" id="{00B7461A-A9EA-FD81-149B-7474B4644398}"/>
              </a:ext>
            </a:extLst>
          </p:cNvPr>
          <p:cNvSpPr>
            <a:spLocks xmlns:a="http://schemas.openxmlformats.org/drawingml/2006/main" noGrp="1"/>
          </p:cNvSpPr>
          <p:nvPr/>
        </p:nvSpPr>
        <p:spPr>
          <a:xfrm xmlns:a="http://schemas.openxmlformats.org/drawingml/2006/main">
            <a:off x="10477500" y="4608035"/>
            <a:ext cx="114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64748B"/>
                </a:solidFill>
                <a:latin typeface="Aptos"/>
                <a:ea typeface="Aptos"/>
                <a:cs typeface="Aptos"/>
              </a:defRPr>
            </a:pPr>
            <a:r>
              <a:rPr sz="975" b="1">
                <a:solidFill>
                  <a:srgbClr val="64748B"/>
                </a:solidFill>
                <a:latin typeface="Aptos"/>
                <a:ea typeface="Aptos"/>
                <a:cs typeface="Aptos"/>
              </a:rPr>
              <a:t>FULL PATH</a:t>
            </a:r>
          </a:p>
        </p:txBody>
      </p:sp>
    </p:spTree>
    <p:extLst>
      <p:ext uri="{BB962C8B-B14F-4D97-AF65-F5344CB8AC3E}">
        <p14:creationId xmlns:p14="http://schemas.microsoft.com/office/powerpoint/2010/main" val="33110564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976" y="401303"/>
            <a:ext cx="5144262" cy="646331"/>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l">
              <a:buNone/>
              <a:defRPr sz="3600">
                <a:solidFill>
                  <a:srgbClr val="4F2683"/>
                </a:solidFill>
                <a:latin typeface="Aptos Display"/>
                <a:ea typeface="Aptos Display"/>
                <a:cs typeface="Aptos Display"/>
              </a:defRPr>
            </a:pPr>
            <a:r>
              <a:rPr sz="3600">
                <a:solidFill>
                  <a:srgbClr val="4F2683"/>
                </a:solidFill>
                <a:latin typeface="Aptos Display"/>
                <a:ea typeface="Aptos Display"/>
                <a:cs typeface="Aptos Display"/>
              </a:rPr>
              <a:t>Operator Results</a:t>
            </a:r>
          </a:p>
        </p:txBody>
      </p:sp>
      <p:pic>
        <p:nvPicPr>
          <p:cNvPr id="29" name="Picture 3"/>
          <p:cNvPicPr>
            <a:picLocks xmlns:a="http://schemas.openxmlformats.org/drawingml/2006/main" noChangeAspect="1"/>
          </p:cNvPicPr>
          <p:nvPr/>
        </p:nvPicPr>
        <p:blipFill>
          <a:blip xmlns:r="http://schemas.openxmlformats.org/officeDocument/2006/relationships" xmlns:a="http://schemas.openxmlformats.org/drawingml/2006/main" r:embed="R625fc6ffeea54900"/>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20" name="operator-chart-note">
            <a:extLst xmlns:a="http://schemas.openxmlformats.org/drawingml/2006/main">
              <a:ext uri="{FF2B5EF4-FFF2-40B4-BE49-F238E27FC236}">
                <a16:creationId xmlns:a16="http://schemas.microsoft.com/office/drawing/2014/main" id="{1D8B9909-C5EA-4BBB-9158-7DB04537881F}"/>
              </a:ext>
            </a:extLst>
          </p:cNvPr>
          <p:cNvSpPr>
            <a:spLocks xmlns:a="http://schemas.openxmlformats.org/drawingml/2006/main" noGrp="1"/>
          </p:cNvSpPr>
          <p:nvPr/>
        </p:nvSpPr>
        <p:spPr>
          <a:xfrm xmlns:a="http://schemas.openxmlformats.org/drawingml/2006/main">
            <a:off x="552450" y="1123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a:solidFill>
                  <a:srgbClr val="767676"/>
                </a:solidFill>
                <a:latin typeface="Aptos"/>
                <a:ea typeface="Aptos"/>
                <a:cs typeface="Aptos"/>
              </a:defRPr>
            </a:pPr>
            <a:r>
              <a:rPr sz="975">
                <a:solidFill>
                  <a:srgbClr val="767676"/>
                </a:solidFill>
                <a:latin typeface="Aptos"/>
                <a:ea typeface="Aptos"/>
                <a:cs typeface="Aptos"/>
              </a:rPr>
              <a:t>Type-correct rate · higher is better</a:t>
            </a:r>
          </a:p>
        </p:txBody>
      </p:sp>
      <p:graphicFrame>
        <p:nvGraphicFramePr>
          <p:cNvPr id="31" name="Chart"/>
          <p:cNvGraphicFramePr/>
          <p:nvPr/>
        </p:nvGraphicFramePr>
        <p:xfrm>
          <a:off xmlns:a="http://schemas.openxmlformats.org/drawingml/2006/main" x="457200" y="1352550"/>
          <a:ext xmlns:a="http://schemas.openxmlformats.org/drawingml/2006/main" cx="7953375" cy="4171950"/>
        </p:xfrm>
        <a:graphic xmlns:a="http://schemas.openxmlformats.org/drawingml/2006/main">
          <a:graphicData uri="http://schemas.openxmlformats.org/drawingml/2006/chart">
            <c:chart xmlns:r="http://schemas.openxmlformats.org/officeDocument/2006/relationships" xmlns:c="http://schemas.openxmlformats.org/drawingml/2006/chart" r:id="R498b649149ef4142"/>
          </a:graphicData>
        </a:graphic>
      </p:graphicFrame>
      <p:sp>
        <p:nvSpPr>
          <p:cNvPr id="22" name="operator-untestable-label">
            <a:extLst xmlns:a="http://schemas.openxmlformats.org/drawingml/2006/main">
              <a:ext uri="{FF2B5EF4-FFF2-40B4-BE49-F238E27FC236}">
                <a16:creationId xmlns:a16="http://schemas.microsoft.com/office/drawing/2014/main" id="{5F8CC65D-E745-4DB2-A224-AB466AFB32EC}"/>
              </a:ext>
            </a:extLst>
          </p:cNvPr>
          <p:cNvSpPr>
            <a:spLocks xmlns:a="http://schemas.openxmlformats.org/drawingml/2006/main" noGrp="1"/>
          </p:cNvSpPr>
          <p:nvPr/>
        </p:nvSpPr>
        <p:spPr>
          <a:xfrm xmlns:a="http://schemas.openxmlformats.org/drawingml/2006/main">
            <a:off x="8763000" y="1524000"/>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4F2683"/>
                </a:solidFill>
                <a:latin typeface="Aptos"/>
                <a:ea typeface="Aptos"/>
                <a:cs typeface="Aptos"/>
              </a:defRPr>
            </a:pPr>
            <a:r>
              <a:rPr sz="1200" b="1">
                <a:solidFill>
                  <a:srgbClr val="4F2683"/>
                </a:solidFill>
                <a:latin typeface="Aptos"/>
                <a:ea typeface="Aptos"/>
                <a:cs typeface="Aptos"/>
              </a:rPr>
              <a:t>UNTESTABLE AT STATEMENT SCALE</a:t>
            </a:r>
          </a:p>
        </p:txBody>
      </p:sp>
      <p:sp>
        <p:nvSpPr>
          <p:cNvPr id="23" name="operator-untestable-list">
            <a:extLst xmlns:a="http://schemas.openxmlformats.org/drawingml/2006/main">
              <a:ext uri="{FF2B5EF4-FFF2-40B4-BE49-F238E27FC236}">
                <a16:creationId xmlns:a16="http://schemas.microsoft.com/office/drawing/2014/main" id="{87A49AD1-8925-4A74-A519-77E3CFDC2269}"/>
              </a:ext>
            </a:extLst>
          </p:cNvPr>
          <p:cNvSpPr>
            <a:spLocks xmlns:a="http://schemas.openxmlformats.org/drawingml/2006/main" noGrp="1"/>
          </p:cNvSpPr>
          <p:nvPr/>
        </p:nvSpPr>
        <p:spPr>
          <a:xfrm xmlns:a="http://schemas.openxmlformats.org/drawingml/2006/main">
            <a:off x="8763000" y="201930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1">
                <a:solidFill>
                  <a:srgbClr val="E4002B"/>
                </a:solidFill>
                <a:latin typeface="Aptos"/>
                <a:ea typeface="Aptos"/>
                <a:cs typeface="Aptos"/>
              </a:defRPr>
            </a:pPr>
            <a:r>
              <a:rPr sz="1500" b="1">
                <a:solidFill>
                  <a:srgbClr val="E4002B"/>
                </a:solidFill>
                <a:latin typeface="Aptos"/>
                <a:ea typeface="Aptos"/>
                <a:cs typeface="Aptos"/>
              </a:rPr>
              <a:t>Blank line</a:t>
            </a:r>
          </a:p>
          <a:p xmlns:a="http://schemas.openxmlformats.org/drawingml/2006/main">
            <a:pPr>
              <a:defRPr sz="1500" b="1">
                <a:solidFill>
                  <a:srgbClr val="E4002B"/>
                </a:solidFill>
                <a:latin typeface="Aptos"/>
                <a:ea typeface="Aptos"/>
                <a:cs typeface="Aptos"/>
              </a:defRPr>
            </a:pPr>
            <a:r>
              <a:rPr sz="1500" b="1">
                <a:solidFill>
                  <a:srgbClr val="E4002B"/>
                </a:solidFill>
                <a:latin typeface="Aptos"/>
                <a:ea typeface="Aptos"/>
                <a:cs typeface="Aptos"/>
              </a:rPr>
              <a:t>Block comment</a:t>
            </a:r>
          </a:p>
        </p:txBody>
      </p:sp>
      <p:sp>
        <p:nvSpPr>
          <p:cNvPr id="24" name="operator-untestable-desc">
            <a:extLst xmlns:a="http://schemas.openxmlformats.org/drawingml/2006/main">
              <a:ext uri="{FF2B5EF4-FFF2-40B4-BE49-F238E27FC236}">
                <a16:creationId xmlns:a16="http://schemas.microsoft.com/office/drawing/2014/main" id="{311552EA-28FD-4886-8C18-70CFBAD66C08}"/>
              </a:ext>
            </a:extLst>
          </p:cNvPr>
          <p:cNvSpPr>
            <a:spLocks xmlns:a="http://schemas.openxmlformats.org/drawingml/2006/main" noGrp="1"/>
          </p:cNvSpPr>
          <p:nvPr/>
        </p:nvSpPr>
        <p:spPr>
          <a:xfrm xmlns:a="http://schemas.openxmlformats.org/drawingml/2006/main">
            <a:off x="8763000" y="26860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767676"/>
                </a:solidFill>
                <a:latin typeface="Aptos"/>
                <a:ea typeface="Aptos"/>
                <a:cs typeface="Aptos"/>
              </a:defRPr>
            </a:pPr>
            <a:r>
              <a:rPr sz="1200">
                <a:solidFill>
                  <a:srgbClr val="767676"/>
                </a:solidFill>
                <a:latin typeface="Aptos"/>
                <a:ea typeface="Aptos"/>
                <a:cs typeface="Aptos"/>
              </a:rPr>
              <a:t>No statement extent to score</a:t>
            </a:r>
          </a:p>
        </p:txBody>
      </p:sp>
      <p:sp>
        <p:nvSpPr>
          <p:cNvPr id="25" name="operator-b5-label">
            <a:extLst xmlns:a="http://schemas.openxmlformats.org/drawingml/2006/main">
              <a:ext uri="{FF2B5EF4-FFF2-40B4-BE49-F238E27FC236}">
                <a16:creationId xmlns:a16="http://schemas.microsoft.com/office/drawing/2014/main" id="{14B7F90B-8355-40E3-BC11-4D68F5AAFD15}"/>
              </a:ext>
            </a:extLst>
          </p:cNvPr>
          <p:cNvSpPr>
            <a:spLocks xmlns:a="http://schemas.openxmlformats.org/drawingml/2006/main" noGrp="1"/>
          </p:cNvSpPr>
          <p:nvPr/>
        </p:nvSpPr>
        <p:spPr>
          <a:xfrm xmlns:a="http://schemas.openxmlformats.org/drawingml/2006/main">
            <a:off x="8763000" y="35242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4F2683"/>
                </a:solidFill>
                <a:latin typeface="Aptos"/>
                <a:ea typeface="Aptos"/>
                <a:cs typeface="Aptos"/>
              </a:defRPr>
            </a:pPr>
            <a:r>
              <a:rPr sz="1200" b="1">
                <a:solidFill>
                  <a:srgbClr val="4F2683"/>
                </a:solidFill>
                <a:latin typeface="Aptos"/>
                <a:ea typeface="Aptos"/>
                <a:cs typeface="Aptos"/>
              </a:rPr>
              <a:t>SEPARATE BATCH 5 ARM</a:t>
            </a:r>
          </a:p>
        </p:txBody>
      </p:sp>
      <p:sp>
        <p:nvSpPr>
          <p:cNvPr id="26" name="operator-b5-desc">
            <a:extLst xmlns:a="http://schemas.openxmlformats.org/drawingml/2006/main">
              <a:ext uri="{FF2B5EF4-FFF2-40B4-BE49-F238E27FC236}">
                <a16:creationId xmlns:a16="http://schemas.microsoft.com/office/drawing/2014/main" id="{12C0D915-A93D-4756-84A3-05A2CDAB651A}"/>
              </a:ext>
            </a:extLst>
          </p:cNvPr>
          <p:cNvSpPr>
            <a:spLocks xmlns:a="http://schemas.openxmlformats.org/drawingml/2006/main" noGrp="1"/>
          </p:cNvSpPr>
          <p:nvPr/>
        </p:nvSpPr>
        <p:spPr>
          <a:xfrm xmlns:a="http://schemas.openxmlformats.org/drawingml/2006/main">
            <a:off x="8763000" y="3905250"/>
            <a:ext cx="2571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111111"/>
                </a:solidFill>
                <a:latin typeface="Aptos"/>
                <a:ea typeface="Aptos"/>
                <a:cs typeface="Aptos"/>
              </a:defRPr>
            </a:pPr>
            <a:r>
              <a:rPr sz="1275">
                <a:solidFill>
                  <a:srgbClr val="111111"/>
                </a:solidFill>
                <a:latin typeface="Aptos"/>
                <a:ea typeface="Aptos"/>
                <a:cs typeface="Aptos"/>
              </a:rPr>
              <a:t>Insert / delete fixes</a:t>
            </a:r>
          </a:p>
          <a:p xmlns:a="http://schemas.openxmlformats.org/drawingml/2006/main">
            <a:pPr>
              <a:defRPr sz="1275">
                <a:solidFill>
                  <a:srgbClr val="111111"/>
                </a:solidFill>
                <a:latin typeface="Aptos"/>
                <a:ea typeface="Aptos"/>
                <a:cs typeface="Aptos"/>
              </a:defRPr>
            </a:pPr>
            <a:r>
              <a:rPr sz="1275">
                <a:solidFill>
                  <a:srgbClr val="111111"/>
                </a:solidFill>
                <a:latin typeface="Aptos"/>
                <a:ea typeface="Aptos"/>
                <a:cs typeface="Aptos"/>
              </a:rPr>
              <a:t>corpus generator corrected;</a:t>
            </a:r>
          </a:p>
          <a:p xmlns:a="http://schemas.openxmlformats.org/drawingml/2006/main">
            <a:pPr>
              <a:defRPr sz="1275">
                <a:solidFill>
                  <a:srgbClr val="111111"/>
                </a:solidFill>
                <a:latin typeface="Aptos"/>
                <a:ea typeface="Aptos"/>
                <a:cs typeface="Aptos"/>
              </a:defRPr>
            </a:pPr>
            <a:r>
              <a:rPr sz="1275">
                <a:solidFill>
                  <a:srgbClr val="111111"/>
                </a:solidFill>
                <a:latin typeface="Aptos"/>
                <a:ea typeface="Aptos"/>
                <a:cs typeface="Aptos"/>
              </a:rPr>
              <a:t>awaiting validation</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eb72d3d9760a465b"/>
          <a:stretch xmlns:a="http://schemas.openxmlformats.org/drawingml/2006/main"/>
        </p:blipFill>
        <p:spPr>
          <a:xfrm xmlns:a="http://schemas.openxmlformats.org/drawingml/2006/main">
            <a:off x="8947223" y="5848350"/>
            <a:ext cx="2729466" cy="654749"/>
          </a:xfrm>
          <a:prstGeom xmlns:a="http://schemas.openxmlformats.org/drawingml/2006/main" prst="rect">
            <a:avLst/>
          </a:prstGeom>
        </p:spPr>
      </p:pic>
    </p:spTree>
    <p:extLst>
      <p:ext uri="{BB962C8B-B14F-4D97-AF65-F5344CB8AC3E}">
        <p14:creationId xmlns:p14="http://schemas.microsoft.com/office/powerpoint/2010/main" val="33110564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879E6AB4-9ED5-3E69-8F2C-71EF66309952}"/>
              </a:ext>
            </a:extLst>
          </p:cNvPr>
          <p:cNvSpPr>
            <a:spLocks xmlns:a="http://schemas.openxmlformats.org/drawingml/2006/main" noGrp="1"/>
          </p:cNvSpPr>
          <p:nvPr/>
        </p:nvSpPr>
        <p:spPr>
          <a:xfrm xmlns:a="http://schemas.openxmlformats.org/drawingml/2006/main">
            <a:off x="485976" y="401303"/>
            <a:ext cx="5144262" cy="646331"/>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l">
              <a:buNone/>
              <a:defRPr sz="3600">
                <a:solidFill>
                  <a:srgbClr val="4F2683"/>
                </a:solidFill>
                <a:latin typeface="Aptos Display"/>
                <a:ea typeface="Aptos Display"/>
                <a:cs typeface="Aptos Display"/>
              </a:defRPr>
            </a:pPr>
            <a:r>
              <a:rPr sz="3600">
                <a:solidFill>
                  <a:srgbClr val="4F2683"/>
                </a:solidFill>
                <a:latin typeface="Aptos Display"/>
                <a:ea typeface="Aptos Display"/>
                <a:cs typeface="Aptos Display"/>
              </a:rPr>
              <a:t>Negative Pilot</a:t>
            </a:r>
          </a:p>
        </p:txBody>
      </p:sp>
      <p:pic>
        <p:nvPicPr>
          <p:cNvPr id="29" name="Picture 3"/>
          <p:cNvPicPr>
            <a:picLocks xmlns:a="http://schemas.openxmlformats.org/drawingml/2006/main" noChangeAspect="1"/>
          </p:cNvPicPr>
          <p:nvPr/>
        </p:nvPicPr>
        <p:blipFill>
          <a:blip xmlns:r="http://schemas.openxmlformats.org/officeDocument/2006/relationships" xmlns:a="http://schemas.openxmlformats.org/drawingml/2006/main" r:embed="R2a89541b73794750"/>
          <a:stretch xmlns:a="http://schemas.openxmlformats.org/drawingml/2006/main">
            <a:fillRect l="0" t="0" r="0" b="0"/>
          </a:stretch>
        </p:blipFill>
        <p:spPr>
          <a:xfrm xmlns:a="http://schemas.openxmlformats.org/drawingml/2006/main">
            <a:off x="8940378" y="5848350"/>
            <a:ext cx="2743197" cy="654755"/>
          </a:xfrm>
          <a:prstGeom xmlns:a="http://schemas.openxmlformats.org/drawingml/2006/main" prst="rect">
            <a:avLst/>
          </a:prstGeom>
        </p:spPr>
      </p:pic>
      <p:sp>
        <p:nvSpPr>
          <p:cNvPr id="20" name="negative-chart-note">
            <a:extLst xmlns:a="http://schemas.openxmlformats.org/drawingml/2006/main">
              <a:ext uri="{FF2B5EF4-FFF2-40B4-BE49-F238E27FC236}">
                <a16:creationId xmlns:a16="http://schemas.microsoft.com/office/drawing/2014/main" id="{8AEFF9B3-3C97-41BF-9968-E88CADBE6E8A}"/>
              </a:ext>
            </a:extLst>
          </p:cNvPr>
          <p:cNvSpPr>
            <a:spLocks xmlns:a="http://schemas.openxmlformats.org/drawingml/2006/main" noGrp="1"/>
          </p:cNvSpPr>
          <p:nvPr/>
        </p:nvSpPr>
        <p:spPr>
          <a:xfrm xmlns:a="http://schemas.openxmlformats.org/drawingml/2006/main">
            <a:off x="552450" y="11430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a:solidFill>
                  <a:srgbClr val="767676"/>
                </a:solidFill>
                <a:latin typeface="Aptos"/>
                <a:ea typeface="Aptos"/>
                <a:cs typeface="Aptos"/>
              </a:defRPr>
            </a:pPr>
            <a:r>
              <a:rPr sz="975">
                <a:solidFill>
                  <a:srgbClr val="767676"/>
                </a:solidFill>
                <a:latin typeface="Aptos"/>
                <a:ea typeface="Aptos"/>
                <a:cs typeface="Aptos"/>
              </a:rPr>
              <a:t>100 negative pairs · strict-product interpretation</a:t>
            </a:r>
          </a:p>
        </p:txBody>
      </p:sp>
      <p:graphicFrame>
        <p:nvGraphicFramePr>
          <p:cNvPr id="31" name="Chart"/>
          <p:cNvGraphicFramePr/>
          <p:nvPr/>
        </p:nvGraphicFramePr>
        <p:xfrm>
          <a:off xmlns:a="http://schemas.openxmlformats.org/drawingml/2006/main" x="571500" y="1428750"/>
          <a:ext xmlns:a="http://schemas.openxmlformats.org/drawingml/2006/main" cx="6667500" cy="3952875"/>
        </p:xfrm>
        <a:graphic xmlns:a="http://schemas.openxmlformats.org/drawingml/2006/main">
          <a:graphicData uri="http://schemas.openxmlformats.org/drawingml/2006/chart">
            <c:chart xmlns:r="http://schemas.openxmlformats.org/officeDocument/2006/relationships" xmlns:c="http://schemas.openxmlformats.org/drawingml/2006/chart" r:id="R61bcc06f21aa4905"/>
          </a:graphicData>
        </a:graphic>
      </p:graphicFrame>
      <p:sp>
        <p:nvSpPr>
          <p:cNvPr id="22" name="negative-any-number">
            <a:extLst xmlns:a="http://schemas.openxmlformats.org/drawingml/2006/main">
              <a:ext uri="{FF2B5EF4-FFF2-40B4-BE49-F238E27FC236}">
                <a16:creationId xmlns:a16="http://schemas.microsoft.com/office/drawing/2014/main" id="{0426CBB8-313B-4A28-9E6D-0D7DAB7D2B4B}"/>
              </a:ext>
            </a:extLst>
          </p:cNvPr>
          <p:cNvSpPr>
            <a:spLocks xmlns:a="http://schemas.openxmlformats.org/drawingml/2006/main" noGrp="1"/>
          </p:cNvSpPr>
          <p:nvPr/>
        </p:nvSpPr>
        <p:spPr>
          <a:xfrm xmlns:a="http://schemas.openxmlformats.org/drawingml/2006/main">
            <a:off x="7810500" y="1571625"/>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4F2683"/>
                </a:solidFill>
                <a:latin typeface="Aptos"/>
                <a:ea typeface="Aptos"/>
                <a:cs typeface="Aptos"/>
              </a:defRPr>
            </a:pPr>
            <a:r>
              <a:rPr sz="2550" b="1">
                <a:solidFill>
                  <a:srgbClr val="4F2683"/>
                </a:solidFill>
                <a:latin typeface="Aptos"/>
                <a:ea typeface="Aptos"/>
                <a:cs typeface="Aptos"/>
              </a:rPr>
              <a:t>19 / 100</a:t>
            </a:r>
          </a:p>
        </p:txBody>
      </p:sp>
      <p:sp>
        <p:nvSpPr>
          <p:cNvPr id="23" name="negative-any-desc">
            <a:extLst xmlns:a="http://schemas.openxmlformats.org/drawingml/2006/main">
              <a:ext uri="{FF2B5EF4-FFF2-40B4-BE49-F238E27FC236}">
                <a16:creationId xmlns:a16="http://schemas.microsoft.com/office/drawing/2014/main" id="{D22C980E-2493-4397-A746-D45E855A62C6}"/>
              </a:ext>
            </a:extLst>
          </p:cNvPr>
          <p:cNvSpPr>
            <a:spLocks xmlns:a="http://schemas.openxmlformats.org/drawingml/2006/main" noGrp="1"/>
          </p:cNvSpPr>
          <p:nvPr/>
        </p:nvSpPr>
        <p:spPr>
          <a:xfrm xmlns:a="http://schemas.openxmlformats.org/drawingml/2006/main">
            <a:off x="7810500" y="2133600"/>
            <a:ext cx="323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111111"/>
                </a:solidFill>
                <a:latin typeface="Aptos"/>
                <a:ea typeface="Aptos"/>
                <a:cs typeface="Aptos"/>
              </a:defRPr>
            </a:pPr>
            <a:r>
              <a:rPr sz="1275">
                <a:solidFill>
                  <a:srgbClr val="111111"/>
                </a:solidFill>
                <a:latin typeface="Aptos"/>
                <a:ea typeface="Aptos"/>
                <a:cs typeface="Aptos"/>
              </a:rPr>
              <a:t>any output</a:t>
            </a:r>
          </a:p>
          <a:p xmlns:a="http://schemas.openxmlformats.org/drawingml/2006/main">
            <a:pPr>
              <a:defRPr sz="1275">
                <a:solidFill>
                  <a:srgbClr val="111111"/>
                </a:solidFill>
                <a:latin typeface="Aptos"/>
                <a:ea typeface="Aptos"/>
                <a:cs typeface="Aptos"/>
              </a:defRPr>
            </a:pPr>
            <a:r>
              <a:rPr sz="1275">
                <a:solidFill>
                  <a:srgbClr val="111111"/>
                </a:solidFill>
                <a:latin typeface="Aptos"/>
                <a:ea typeface="Aptos"/>
                <a:cs typeface="Aptos"/>
              </a:rPr>
              <a:t>(strict-product false positive)</a:t>
            </a:r>
          </a:p>
        </p:txBody>
      </p:sp>
      <p:sp>
        <p:nvSpPr>
          <p:cNvPr id="24" name="negative-type-number">
            <a:extLst xmlns:a="http://schemas.openxmlformats.org/drawingml/2006/main">
              <a:ext uri="{FF2B5EF4-FFF2-40B4-BE49-F238E27FC236}">
                <a16:creationId xmlns:a16="http://schemas.microsoft.com/office/drawing/2014/main" id="{D89DCF04-D0A7-4543-B641-D5316B08553F}"/>
              </a:ext>
            </a:extLst>
          </p:cNvPr>
          <p:cNvSpPr>
            <a:spLocks xmlns:a="http://schemas.openxmlformats.org/drawingml/2006/main" noGrp="1"/>
          </p:cNvSpPr>
          <p:nvPr/>
        </p:nvSpPr>
        <p:spPr>
          <a:xfrm xmlns:a="http://schemas.openxmlformats.org/drawingml/2006/main">
            <a:off x="7810500" y="3095625"/>
            <a:ext cx="323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E4002B"/>
                </a:solidFill>
                <a:latin typeface="Aptos"/>
                <a:ea typeface="Aptos"/>
                <a:cs typeface="Aptos"/>
              </a:defRPr>
            </a:pPr>
            <a:r>
              <a:rPr sz="2325" b="1">
                <a:solidFill>
                  <a:srgbClr val="E4002B"/>
                </a:solidFill>
                <a:latin typeface="Aptos"/>
                <a:ea typeface="Aptos"/>
                <a:cs typeface="Aptos"/>
              </a:rPr>
              <a:t>2 / 100</a:t>
            </a:r>
          </a:p>
        </p:txBody>
      </p:sp>
      <p:sp>
        <p:nvSpPr>
          <p:cNvPr id="25" name="negative-type-desc">
            <a:extLst xmlns:a="http://schemas.openxmlformats.org/drawingml/2006/main">
              <a:ext uri="{FF2B5EF4-FFF2-40B4-BE49-F238E27FC236}">
                <a16:creationId xmlns:a16="http://schemas.microsoft.com/office/drawing/2014/main" id="{20938343-1F0C-417D-8D5C-AFFF3CC4DA2C}"/>
              </a:ext>
            </a:extLst>
          </p:cNvPr>
          <p:cNvSpPr>
            <a:spLocks xmlns:a="http://schemas.openxmlformats.org/drawingml/2006/main" noGrp="1"/>
          </p:cNvSpPr>
          <p:nvPr/>
        </p:nvSpPr>
        <p:spPr>
          <a:xfrm xmlns:a="http://schemas.openxmlformats.org/drawingml/2006/main">
            <a:off x="7810500" y="3619500"/>
            <a:ext cx="323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111111"/>
                </a:solidFill>
                <a:latin typeface="Aptos"/>
                <a:ea typeface="Aptos"/>
                <a:cs typeface="Aptos"/>
              </a:defRPr>
            </a:pPr>
            <a:r>
              <a:rPr sz="1275">
                <a:solidFill>
                  <a:srgbClr val="111111"/>
                </a:solidFill>
                <a:latin typeface="Aptos"/>
                <a:ea typeface="Aptos"/>
                <a:cs typeface="Aptos"/>
              </a:rPr>
              <a:t>claimed T1 / T2 / T3</a:t>
            </a:r>
          </a:p>
          <a:p xmlns:a="http://schemas.openxmlformats.org/drawingml/2006/main">
            <a:pPr>
              <a:defRPr sz="1275">
                <a:solidFill>
                  <a:srgbClr val="111111"/>
                </a:solidFill>
                <a:latin typeface="Aptos"/>
                <a:ea typeface="Aptos"/>
                <a:cs typeface="Aptos"/>
              </a:defRPr>
            </a:pPr>
            <a:r>
              <a:rPr sz="1275">
                <a:solidFill>
                  <a:srgbClr val="111111"/>
                </a:solidFill>
                <a:latin typeface="Aptos"/>
                <a:ea typeface="Aptos"/>
                <a:cs typeface="Aptos"/>
              </a:rPr>
              <a:t>1 × T2 · 1 × T3</a:t>
            </a:r>
          </a:p>
        </p:txBody>
      </p:sp>
      <p:sp>
        <p:nvSpPr>
          <p:cNvPr id="26" name="negative-t4-number">
            <a:extLst xmlns:a="http://schemas.openxmlformats.org/drawingml/2006/main">
              <a:ext uri="{FF2B5EF4-FFF2-40B4-BE49-F238E27FC236}">
                <a16:creationId xmlns:a16="http://schemas.microsoft.com/office/drawing/2014/main" id="{8CBA8BDB-0ADF-41EB-9FD1-868C99F2775F}"/>
              </a:ext>
            </a:extLst>
          </p:cNvPr>
          <p:cNvSpPr>
            <a:spLocks xmlns:a="http://schemas.openxmlformats.org/drawingml/2006/main" noGrp="1"/>
          </p:cNvSpPr>
          <p:nvPr/>
        </p:nvSpPr>
        <p:spPr>
          <a:xfrm xmlns:a="http://schemas.openxmlformats.org/drawingml/2006/main">
            <a:off x="7810500" y="46291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4F2683"/>
                </a:solidFill>
                <a:latin typeface="Aptos"/>
                <a:ea typeface="Aptos"/>
                <a:cs typeface="Aptos"/>
              </a:defRPr>
            </a:pPr>
            <a:r>
              <a:rPr sz="1875" b="1">
                <a:solidFill>
                  <a:srgbClr val="4F2683"/>
                </a:solidFill>
                <a:latin typeface="Aptos"/>
                <a:ea typeface="Aptos"/>
                <a:cs typeface="Aptos"/>
              </a:rPr>
              <a:t>21 regions</a:t>
            </a:r>
          </a:p>
        </p:txBody>
      </p:sp>
      <p:sp>
        <p:nvSpPr>
          <p:cNvPr id="27" name="negative-t4-desc">
            <a:extLst xmlns:a="http://schemas.openxmlformats.org/drawingml/2006/main">
              <a:ext uri="{FF2B5EF4-FFF2-40B4-BE49-F238E27FC236}">
                <a16:creationId xmlns:a16="http://schemas.microsoft.com/office/drawing/2014/main" id="{C8D39269-EFDE-4D1D-B344-6159428EB0DD}"/>
              </a:ext>
            </a:extLst>
          </p:cNvPr>
          <p:cNvSpPr>
            <a:spLocks xmlns:a="http://schemas.openxmlformats.org/drawingml/2006/main" noGrp="1"/>
          </p:cNvSpPr>
          <p:nvPr/>
        </p:nvSpPr>
        <p:spPr>
          <a:xfrm xmlns:a="http://schemas.openxmlformats.org/drawingml/2006/main">
            <a:off x="7810500" y="50482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767676"/>
                </a:solidFill>
                <a:latin typeface="Aptos"/>
                <a:ea typeface="Aptos"/>
                <a:cs typeface="Aptos"/>
              </a:defRPr>
            </a:pPr>
            <a:r>
              <a:rPr sz="1125">
                <a:solidFill>
                  <a:srgbClr val="767676"/>
                </a:solidFill>
                <a:latin typeface="Aptos"/>
                <a:ea typeface="Aptos"/>
                <a:cs typeface="Aptos"/>
              </a:rPr>
              <a:t>possible T4 candidates · exploratory</a:t>
            </a:r>
          </a:p>
        </p:txBody>
      </p:sp>
    </p:spTree>
    <p:extLst>
      <p:ext uri="{BB962C8B-B14F-4D97-AF65-F5344CB8AC3E}">
        <p14:creationId xmlns:p14="http://schemas.microsoft.com/office/powerpoint/2010/main" val="33110564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263B71A1-E541-50E6-064E-52D35929E48A}"/>
              </a:ext>
            </a:extLst>
          </p:cNvPr>
          <p:cNvSpPr>
            <a:spLocks xmlns:a="http://schemas.openxmlformats.org/drawingml/2006/main" noGrp="1"/>
          </p:cNvSpPr>
          <p:nvPr/>
        </p:nvSpPr>
        <p:spPr>
          <a:xfrm xmlns:a="http://schemas.openxmlformats.org/drawingml/2006/main">
            <a:off x="485976" y="401303"/>
            <a:ext cx="10063078" cy="646331"/>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normAutofit fontScale="100000"/>
          </a:bodyPr>
          <a:lstStyle xmlns:a="http://schemas.openxmlformats.org/drawingml/2006/main"/>
          <a:p xmlns:a="http://schemas.openxmlformats.org/drawingml/2006/main">
            <a:pPr algn="l">
              <a:buNone/>
              <a:defRPr sz="3600">
                <a:solidFill>
                  <a:srgbClr val="4F2683"/>
                </a:solidFill>
                <a:latin typeface="Aptos Display"/>
                <a:ea typeface="Aptos Display"/>
                <a:cs typeface="Aptos Display"/>
              </a:defRPr>
            </a:pPr>
            <a:r>
              <a:rPr sz="3600">
                <a:solidFill>
                  <a:srgbClr val="4F2683"/>
                </a:solidFill>
                <a:latin typeface="Aptos Display"/>
                <a:ea typeface="Aptos Display"/>
                <a:cs typeface="Aptos Display"/>
              </a:rPr>
              <a:t>Discussion – Next Experiments</a:t>
            </a:r>
          </a:p>
        </p:txBody>
      </p:sp>
      <p:sp>
        <p:nvSpPr>
          <p:cNvPr id="2" name="TextBox 1">
            <a:extLst xmlns:a="http://schemas.openxmlformats.org/drawingml/2006/main">
              <a:ext uri="{FF2B5EF4-FFF2-40B4-BE49-F238E27FC236}">
                <a16:creationId xmlns:a16="http://schemas.microsoft.com/office/drawing/2014/main" id="{CFD16A00-33F1-D3EA-351B-14FBD8D137A6}"/>
              </a:ext>
            </a:extLst>
          </p:cNvPr>
          <p:cNvSpPr>
            <a:spLocks xmlns:a="http://schemas.openxmlformats.org/drawingml/2006/main" noGrp="1"/>
          </p:cNvSpPr>
          <p:nvPr/>
        </p:nvSpPr>
        <p:spPr>
          <a:xfrm xmlns:a="http://schemas.openxmlformats.org/drawingml/2006/main">
            <a:off x="485976" y="2285151"/>
            <a:ext cx="781881" cy="400110"/>
          </a:xfrm>
          <a:prstGeom xmlns:a="http://schemas.openxmlformats.org/drawingml/2006/main" prst="rect">
            <a:avLst/>
          </a:prstGeom>
          <a:noFill xmlns:a="http://schemas.openxmlformats.org/drawingml/2006/main"/>
        </p:spPr>
        <p:txBody>
          <a:bodyPr xmlns:a="http://schemas.openxmlformats.org/drawingml/2006/main" wrap="none" anchor="ctr">
            <a:normAutofit fontScale="96422"/>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Open</a:t>
            </a:r>
          </a:p>
        </p:txBody>
      </p:sp>
      <p:sp>
        <p:nvSpPr>
          <p:cNvPr id="3" name="TextBox 2">
            <a:extLst xmlns:a="http://schemas.openxmlformats.org/drawingml/2006/main">
              <a:ext uri="{FF2B5EF4-FFF2-40B4-BE49-F238E27FC236}">
                <a16:creationId xmlns:a16="http://schemas.microsoft.com/office/drawing/2014/main" id="{788E991D-CC25-B10C-7187-28B8C7162033}"/>
              </a:ext>
            </a:extLst>
          </p:cNvPr>
          <p:cNvSpPr>
            <a:spLocks xmlns:a="http://schemas.openxmlformats.org/drawingml/2006/main" noGrp="1"/>
          </p:cNvSpPr>
          <p:nvPr/>
        </p:nvSpPr>
        <p:spPr>
          <a:xfrm xmlns:a="http://schemas.openxmlformats.org/drawingml/2006/main">
            <a:off x="470931" y="3289328"/>
            <a:ext cx="786690" cy="400110"/>
          </a:xfrm>
          <a:prstGeom xmlns:a="http://schemas.openxmlformats.org/drawingml/2006/main" prst="rect">
            <a:avLst/>
          </a:prstGeom>
          <a:noFill xmlns:a="http://schemas.openxmlformats.org/drawingml/2006/main"/>
        </p:spPr>
        <p:txBody>
          <a:bodyPr xmlns:a="http://schemas.openxmlformats.org/drawingml/2006/main" wrap="none" anchor="ctr">
            <a:normAutofit fontScale="96354"/>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Items</a:t>
            </a:r>
          </a:p>
        </p:txBody>
      </p:sp>
      <p:sp>
        <p:nvSpPr>
          <p:cNvPr id="4" name="Cross 3">
            <a:extLst xmlns:a="http://schemas.openxmlformats.org/drawingml/2006/main">
              <a:ext uri="{FF2B5EF4-FFF2-40B4-BE49-F238E27FC236}">
                <a16:creationId xmlns:a16="http://schemas.microsoft.com/office/drawing/2014/main" id="{057637A3-2652-477E-9BAC-37E0F452FCFB}"/>
              </a:ext>
            </a:extLst>
          </p:cNvPr>
          <p:cNvSpPr>
            <a:spLocks xmlns:a="http://schemas.openxmlformats.org/drawingml/2006/main" noGrp="1"/>
          </p:cNvSpPr>
          <p:nvPr/>
        </p:nvSpPr>
        <p:spPr>
          <a:xfrm xmlns:a="http://schemas.openxmlformats.org/drawingml/2006/main">
            <a:off x="703959" y="2817526"/>
            <a:ext cx="320634" cy="308759"/>
          </a:xfrm>
          <a:prstGeom xmlns:a="http://schemas.openxmlformats.org/drawingml/2006/main" prst="plus">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ight Arrow 5">
            <a:extLst xmlns:a="http://schemas.openxmlformats.org/drawingml/2006/main">
              <a:ext uri="{FF2B5EF4-FFF2-40B4-BE49-F238E27FC236}">
                <a16:creationId xmlns:a16="http://schemas.microsoft.com/office/drawing/2014/main" id="{E188BC9D-64A3-C478-FD02-ABBC2FBC1F7A}"/>
              </a:ext>
            </a:extLst>
          </p:cNvPr>
          <p:cNvSpPr>
            <a:spLocks xmlns:a="http://schemas.openxmlformats.org/drawingml/2006/main" noGrp="1"/>
          </p:cNvSpPr>
          <p:nvPr/>
        </p:nvSpPr>
        <p:spPr>
          <a:xfrm xmlns:a="http://schemas.openxmlformats.org/drawingml/2006/main">
            <a:off x="1501321" y="2778086"/>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BD59D488-4C36-DC8C-FB68-80D61B742AB5}"/>
              </a:ext>
            </a:extLst>
          </p:cNvPr>
          <p:cNvSpPr>
            <a:spLocks xmlns:a="http://schemas.openxmlformats.org/drawingml/2006/main" noGrp="1"/>
          </p:cNvSpPr>
          <p:nvPr/>
        </p:nvSpPr>
        <p:spPr>
          <a:xfrm xmlns:a="http://schemas.openxmlformats.org/drawingml/2006/main">
            <a:off x="2382021" y="2771990"/>
            <a:ext cx="1072730" cy="400110"/>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BCB</a:t>
            </a:r>
          </a:p>
        </p:txBody>
      </p:sp>
      <p:sp>
        <p:nvSpPr>
          <p:cNvPr id="9" name="TextBox 8">
            <a:extLst xmlns:a="http://schemas.openxmlformats.org/drawingml/2006/main">
              <a:ext uri="{FF2B5EF4-FFF2-40B4-BE49-F238E27FC236}">
                <a16:creationId xmlns:a16="http://schemas.microsoft.com/office/drawing/2014/main" id="{848AEA54-F1DA-F26C-38AA-C8EDA33AEDB2}"/>
              </a:ext>
            </a:extLst>
          </p:cNvPr>
          <p:cNvSpPr>
            <a:spLocks xmlns:a="http://schemas.openxmlformats.org/drawingml/2006/main" noGrp="1"/>
          </p:cNvSpPr>
          <p:nvPr/>
        </p:nvSpPr>
        <p:spPr>
          <a:xfrm xmlns:a="http://schemas.openxmlformats.org/drawingml/2006/main">
            <a:off x="1878486" y="3176847"/>
            <a:ext cx="2079800" cy="338554"/>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600">
                <a:solidFill>
                  <a:srgbClr val="818284"/>
                </a:solidFill>
                <a:latin typeface="Aptos"/>
                <a:ea typeface="Aptos"/>
                <a:cs typeface="Aptos"/>
              </a:defRPr>
            </a:pPr>
            <a:r>
              <a:rPr sz="1600">
                <a:solidFill>
                  <a:srgbClr val="818284"/>
                </a:solidFill>
                <a:latin typeface="Aptos"/>
                <a:ea typeface="Aptos"/>
                <a:cs typeface="Aptos"/>
              </a:rPr>
              <a:t>(clean-room run)</a:t>
            </a:r>
          </a:p>
        </p:txBody>
      </p:sp>
      <p:sp>
        <p:nvSpPr>
          <p:cNvPr id="10" name="Right Arrow 9">
            <a:extLst xmlns:a="http://schemas.openxmlformats.org/drawingml/2006/main">
              <a:ext uri="{FF2B5EF4-FFF2-40B4-BE49-F238E27FC236}">
                <a16:creationId xmlns:a16="http://schemas.microsoft.com/office/drawing/2014/main" id="{C7B83BA4-84FD-1E9F-3233-A5A4694B2CE9}"/>
              </a:ext>
            </a:extLst>
          </p:cNvPr>
          <p:cNvSpPr>
            <a:spLocks xmlns:a="http://schemas.openxmlformats.org/drawingml/2006/main" noGrp="1"/>
          </p:cNvSpPr>
          <p:nvPr/>
        </p:nvSpPr>
        <p:spPr>
          <a:xfrm xmlns:a="http://schemas.openxmlformats.org/drawingml/2006/main">
            <a:off x="4059527" y="2775038"/>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A7F1561B-EBF1-3557-A60C-F0E401F774C8}"/>
              </a:ext>
            </a:extLst>
          </p:cNvPr>
          <p:cNvSpPr>
            <a:spLocks xmlns:a="http://schemas.openxmlformats.org/drawingml/2006/main" noGrp="1"/>
          </p:cNvSpPr>
          <p:nvPr/>
        </p:nvSpPr>
        <p:spPr>
          <a:xfrm xmlns:a="http://schemas.openxmlformats.org/drawingml/2006/main">
            <a:off x="4951080" y="2775038"/>
            <a:ext cx="572593" cy="400110"/>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GT</a:t>
            </a:r>
          </a:p>
        </p:txBody>
      </p:sp>
      <p:sp>
        <p:nvSpPr>
          <p:cNvPr id="12" name="Right Arrow 11">
            <a:extLst xmlns:a="http://schemas.openxmlformats.org/drawingml/2006/main">
              <a:ext uri="{FF2B5EF4-FFF2-40B4-BE49-F238E27FC236}">
                <a16:creationId xmlns:a16="http://schemas.microsoft.com/office/drawing/2014/main" id="{B484F950-BAA5-BB2F-7040-0B31CA89364D}"/>
              </a:ext>
            </a:extLst>
          </p:cNvPr>
          <p:cNvSpPr>
            <a:spLocks xmlns:a="http://schemas.openxmlformats.org/drawingml/2006/main" noGrp="1"/>
          </p:cNvSpPr>
          <p:nvPr/>
        </p:nvSpPr>
        <p:spPr>
          <a:xfrm xmlns:a="http://schemas.openxmlformats.org/drawingml/2006/main">
            <a:off x="5835971" y="2775038"/>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B309AAC0-4723-24F0-34D1-B5F97ECFC1B4}"/>
              </a:ext>
            </a:extLst>
          </p:cNvPr>
          <p:cNvSpPr>
            <a:spLocks xmlns:a="http://schemas.openxmlformats.org/drawingml/2006/main" noGrp="1"/>
          </p:cNvSpPr>
          <p:nvPr/>
        </p:nvSpPr>
        <p:spPr>
          <a:xfrm xmlns:a="http://schemas.openxmlformats.org/drawingml/2006/main">
            <a:off x="6727524" y="2775038"/>
            <a:ext cx="572593" cy="400110"/>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B5</a:t>
            </a:r>
          </a:p>
        </p:txBody>
      </p:sp>
      <p:sp>
        <p:nvSpPr>
          <p:cNvPr id="14" name="Right Arrow 13">
            <a:extLst xmlns:a="http://schemas.openxmlformats.org/drawingml/2006/main">
              <a:ext uri="{FF2B5EF4-FFF2-40B4-BE49-F238E27FC236}">
                <a16:creationId xmlns:a16="http://schemas.microsoft.com/office/drawing/2014/main" id="{CCA3B3D3-3384-A46D-58BD-BE3A71A23D35}"/>
              </a:ext>
            </a:extLst>
          </p:cNvPr>
          <p:cNvSpPr>
            <a:spLocks xmlns:a="http://schemas.openxmlformats.org/drawingml/2006/main" noGrp="1"/>
          </p:cNvSpPr>
          <p:nvPr/>
        </p:nvSpPr>
        <p:spPr>
          <a:xfrm xmlns:a="http://schemas.openxmlformats.org/drawingml/2006/main">
            <a:off x="7765993" y="2775038"/>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BA271DF4-0BC9-8111-E59A-03E7F26F3228}"/>
              </a:ext>
            </a:extLst>
          </p:cNvPr>
          <p:cNvSpPr>
            <a:spLocks xmlns:a="http://schemas.openxmlformats.org/drawingml/2006/main" noGrp="1"/>
          </p:cNvSpPr>
          <p:nvPr/>
        </p:nvSpPr>
        <p:spPr>
          <a:xfrm xmlns:a="http://schemas.openxmlformats.org/drawingml/2006/main">
            <a:off x="8657546" y="2775038"/>
            <a:ext cx="572593" cy="400110"/>
          </a:xfrm>
          <a:prstGeom xmlns:a="http://schemas.openxmlformats.org/drawingml/2006/main" prst="rect">
            <a:avLst/>
          </a:prstGeom>
          <a:noFill xmlns:a="http://schemas.openxmlformats.org/drawingml/2006/main"/>
        </p:spPr>
        <p:txBody>
          <a:bodyPr xmlns:a="http://schemas.openxmlformats.org/drawingml/2006/main" wrap="none" anchor="ctr">
            <a:normAutofit fontScale="72756"/>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Neg.</a:t>
            </a:r>
          </a:p>
        </p:txBody>
      </p:sp>
      <p:sp>
        <p:nvSpPr>
          <p:cNvPr id="16" name="Right Arrow 15">
            <a:extLst xmlns:a="http://schemas.openxmlformats.org/drawingml/2006/main">
              <a:ext uri="{FF2B5EF4-FFF2-40B4-BE49-F238E27FC236}">
                <a16:creationId xmlns:a16="http://schemas.microsoft.com/office/drawing/2014/main" id="{1CDF8EE0-DEF4-7837-BC8F-FFD846BF39B3}"/>
              </a:ext>
            </a:extLst>
          </p:cNvPr>
          <p:cNvSpPr>
            <a:spLocks xmlns:a="http://schemas.openxmlformats.org/drawingml/2006/main" noGrp="1"/>
          </p:cNvSpPr>
          <p:nvPr/>
        </p:nvSpPr>
        <p:spPr>
          <a:xfrm xmlns:a="http://schemas.openxmlformats.org/drawingml/2006/main">
            <a:off x="9450184" y="2775038"/>
            <a:ext cx="414824" cy="317423"/>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FE3DD62C-D665-C67B-0299-59325FFE3F6C}"/>
              </a:ext>
            </a:extLst>
          </p:cNvPr>
          <p:cNvSpPr>
            <a:spLocks xmlns:a="http://schemas.openxmlformats.org/drawingml/2006/main" noGrp="1"/>
          </p:cNvSpPr>
          <p:nvPr/>
        </p:nvSpPr>
        <p:spPr>
          <a:xfrm xmlns:a="http://schemas.openxmlformats.org/drawingml/2006/main">
            <a:off x="10213051" y="2733694"/>
            <a:ext cx="1077539" cy="400110"/>
          </a:xfrm>
          <a:prstGeom xmlns:a="http://schemas.openxmlformats.org/drawingml/2006/main" prst="rect">
            <a:avLst/>
          </a:prstGeom>
          <a:noFill xmlns:a="http://schemas.openxmlformats.org/drawingml/2006/mai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2000">
                <a:solidFill>
                  <a:srgbClr val="000000"/>
                </a:solidFill>
                <a:latin typeface="Aptos"/>
                <a:ea typeface="Aptos"/>
                <a:cs typeface="Aptos"/>
              </a:defRPr>
            </a:pPr>
            <a:r>
              <a:rPr sz="2000">
                <a:solidFill>
                  <a:srgbClr val="000000"/>
                </a:solidFill>
                <a:latin typeface="Aptos"/>
                <a:ea typeface="Aptos"/>
                <a:cs typeface="Aptos"/>
              </a:rPr>
              <a:t>Scope</a:t>
            </a:r>
          </a:p>
        </p:txBody>
      </p:sp>
      <p:sp>
        <p:nvSpPr>
          <p:cNvPr id="18" name="TextBox 17">
            <a:extLst xmlns:a="http://schemas.openxmlformats.org/drawingml/2006/main">
              <a:ext uri="{FF2B5EF4-FFF2-40B4-BE49-F238E27FC236}">
                <a16:creationId xmlns:a16="http://schemas.microsoft.com/office/drawing/2014/main" id="{8F1F110B-59CE-E5E6-9423-B1271D259CFD}"/>
              </a:ext>
            </a:extLst>
          </p:cNvPr>
          <p:cNvSpPr>
            <a:spLocks xmlns:a="http://schemas.openxmlformats.org/drawingml/2006/main" noGrp="1"/>
          </p:cNvSpPr>
          <p:nvPr/>
        </p:nvSpPr>
        <p:spPr>
          <a:xfrm xmlns:a="http://schemas.openxmlformats.org/drawingml/2006/main">
            <a:off x="10059965" y="3172100"/>
            <a:ext cx="1383712" cy="338554"/>
          </a:xfrm>
          <a:prstGeom xmlns:a="http://schemas.openxmlformats.org/drawingml/2006/main" prst="rect">
            <a:avLst/>
          </a:prstGeom>
          <a:noFill xmlns:a="http://schemas.openxmlformats.org/drawingml/2006/main"/>
        </p:spPr>
        <p:txBody>
          <a:bodyPr xmlns:a="http://schemas.openxmlformats.org/drawingml/2006/main" wrap="none" anchor="ctr">
            <a:normAutofit fontScale="63907"/>
          </a:bodyPr>
          <a:lstStyle xmlns:a="http://schemas.openxmlformats.org/drawingml/2006/main"/>
          <a:p xmlns:a="http://schemas.openxmlformats.org/drawingml/2006/main">
            <a:pPr algn="ctr">
              <a:buNone/>
              <a:defRPr sz="1600">
                <a:solidFill>
                  <a:srgbClr val="818284"/>
                </a:solidFill>
                <a:latin typeface="Aptos"/>
                <a:ea typeface="Aptos"/>
                <a:cs typeface="Aptos"/>
              </a:defRPr>
            </a:pPr>
            <a:r>
              <a:rPr sz="1600">
                <a:solidFill>
                  <a:srgbClr val="818284"/>
                </a:solidFill>
                <a:latin typeface="Aptos"/>
                <a:ea typeface="Aptos"/>
                <a:cs typeface="Aptos"/>
              </a:rPr>
              <a:t>(freeze paper claims)</a:t>
            </a:r>
          </a:p>
        </p:txBody>
      </p:sp>
    </p:spTree>
    <p:extLst>
      <p:ext uri="{BB962C8B-B14F-4D97-AF65-F5344CB8AC3E}">
        <p14:creationId xmlns:p14="http://schemas.microsoft.com/office/powerpoint/2010/main" val="3987809527"/>
      </p:ext>
    </p:extLst>
  </p:cSld>
</p:sld>
</file>

<file path=ppt/theme/theme1.xml><?xml version="1.0" encoding="utf-8"?>
<a:theme xmlns:a="http://schemas.openxmlformats.org/drawingml/2006/main" name="Custom Design">
  <a:themeElements>
    <a:clrScheme name="Western PPT">
      <a:dk1>
        <a:srgbClr val="000000"/>
      </a:dk1>
      <a:lt1>
        <a:srgbClr val="FFFFFF"/>
      </a:lt1>
      <a:dk2>
        <a:srgbClr val="4F2683"/>
      </a:dk2>
      <a:lt2>
        <a:srgbClr val="E7E6E6"/>
      </a:lt2>
      <a:accent1>
        <a:srgbClr val="8F55E0"/>
      </a:accent1>
      <a:accent2>
        <a:srgbClr val="7DEAFB"/>
      </a:accent2>
      <a:accent3>
        <a:srgbClr val="B9F876"/>
      </a:accent3>
      <a:accent4>
        <a:srgbClr val="F0A757"/>
      </a:accent4>
      <a:accent5>
        <a:srgbClr val="8F55E0"/>
      </a:accent5>
      <a:accent6>
        <a:srgbClr val="7DEAFB"/>
      </a:accent6>
      <a:hlink>
        <a:srgbClr val="4F2683"/>
      </a:hlink>
      <a:folHlink>
        <a:srgbClr val="818283"/>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estern PP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2026-07-30T04:10:02.7360000Z</dcterms:created>
  <dcterms:modified xsi:type="dcterms:W3CDTF">2026-07-30T04:10:02.7360000Z</dcterms:modified>
</coreProperties>
</file>