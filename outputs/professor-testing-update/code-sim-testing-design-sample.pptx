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f9f085afa84f6e" /><Relationship Type="http://schemas.openxmlformats.org/officeDocument/2006/relationships/extended-properties" Target="/docProps/app.xml" Id="R49a417b79812478e" /><Relationship Type="http://schemas.openxmlformats.org/officeDocument/2006/relationships/officeDocument" Target="/ppt/presentation.xml" Id="R35808a9d93b64e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bcf69febe4c9c"/>
  </p:sldMasterIdLst>
  <p:notesMasterIdLst>
    <p:notesMasterId xmlns:r="http://schemas.openxmlformats.org/officeDocument/2006/relationships" r:id="Rc7d0d657fe004647"/>
  </p:notesMasterIdLst>
  <p:sldIdLst>
    <p:sldId xmlns:r="http://schemas.openxmlformats.org/officeDocument/2006/relationships" id="256" r:id="Rb6e88f8f8e694f0e"/>
    <p:sldId xmlns:r="http://schemas.openxmlformats.org/officeDocument/2006/relationships" id="257" r:id="R2ad970fbaaa5409d"/>
    <p:sldId xmlns:r="http://schemas.openxmlformats.org/officeDocument/2006/relationships" id="258" r:id="Rcc5a9ec46d03466c"/>
    <p:sldId xmlns:r="http://schemas.openxmlformats.org/officeDocument/2006/relationships" id="259" r:id="Rdf63515605be4fd7"/>
    <p:sldId xmlns:r="http://schemas.openxmlformats.org/officeDocument/2006/relationships" id="260" r:id="R87ba95cb917b41f4"/>
    <p:sldId xmlns:r="http://schemas.openxmlformats.org/officeDocument/2006/relationships" id="261" r:id="R67f689e15a4b4d0c"/>
    <p:sldId xmlns:r="http://schemas.openxmlformats.org/officeDocument/2006/relationships" id="262" r:id="R16727aee75c7422e"/>
    <p:sldId xmlns:r="http://schemas.openxmlformats.org/officeDocument/2006/relationships" id="263" r:id="R8b1d8aa227b84aba"/>
    <p:sldId xmlns:r="http://schemas.openxmlformats.org/officeDocument/2006/relationships" id="264" r:id="Ra4b3cad559674190"/>
    <p:sldId xmlns:r="http://schemas.openxmlformats.org/officeDocument/2006/relationships" id="265" r:id="Rbe7281fe59e74ba1"/>
    <p:sldId xmlns:r="http://schemas.openxmlformats.org/officeDocument/2006/relationships" id="266" r:id="R40441500c6714ed9"/>
    <p:sldId xmlns:r="http://schemas.openxmlformats.org/officeDocument/2006/relationships" id="267" r:id="Rd663b3abfd3342bb"/>
    <p:sldId xmlns:r="http://schemas.openxmlformats.org/officeDocument/2006/relationships" id="268" r:id="R16fe78675da14a82"/>
    <p:sldId xmlns:r="http://schemas.openxmlformats.org/officeDocument/2006/relationships" id="269" r:id="R6e92b13212014a1c"/>
    <p:sldId xmlns:r="http://schemas.openxmlformats.org/officeDocument/2006/relationships" id="270" r:id="R0e86687490944741"/>
    <p:sldId xmlns:r="http://schemas.openxmlformats.org/officeDocument/2006/relationships" id="271" r:id="R697e0c4d16ba4b17"/>
    <p:sldId xmlns:r="http://schemas.openxmlformats.org/officeDocument/2006/relationships" id="272" r:id="Rcb1326f20395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beba26d694e36" /><Relationship Type="http://schemas.openxmlformats.org/officeDocument/2006/relationships/slideMaster" Target="/ppt/slideMasters/slideMaster1.xml" Id="Ra31bcf69febe4c9c" /><Relationship Type="http://schemas.openxmlformats.org/officeDocument/2006/relationships/notesMaster" Target="/ppt/notesMasters/notesMaster1.xml" Id="Rc7d0d657fe004647" /><Relationship Type="http://schemas.openxmlformats.org/officeDocument/2006/relationships/presProps" Target="/ppt/presProps.xml" Id="R2a66e87fd9e3446b" /><Relationship Type="http://schemas.openxmlformats.org/officeDocument/2006/relationships/tableStyles" Target="/ppt/tableStyles.xml" Id="Ra727c9235efe463b" /><Relationship Type="http://schemas.openxmlformats.org/officeDocument/2006/relationships/slide" Target="/ppt/slides/slide1.xml" Id="Rb6e88f8f8e694f0e" /><Relationship Type="http://schemas.openxmlformats.org/officeDocument/2006/relationships/slide" Target="/ppt/slides/slide2.xml" Id="R2ad970fbaaa5409d" /><Relationship Type="http://schemas.openxmlformats.org/officeDocument/2006/relationships/slide" Target="/ppt/slides/slide3.xml" Id="Rcc5a9ec46d03466c" /><Relationship Type="http://schemas.openxmlformats.org/officeDocument/2006/relationships/slide" Target="/ppt/slides/slide4.xml" Id="Rdf63515605be4fd7" /><Relationship Type="http://schemas.openxmlformats.org/officeDocument/2006/relationships/slide" Target="/ppt/slides/slide5.xml" Id="R87ba95cb917b41f4" /><Relationship Type="http://schemas.openxmlformats.org/officeDocument/2006/relationships/slide" Target="/ppt/slides/slide6.xml" Id="R67f689e15a4b4d0c" /><Relationship Type="http://schemas.openxmlformats.org/officeDocument/2006/relationships/slide" Target="/ppt/slides/slide7.xml" Id="R16727aee75c7422e" /><Relationship Type="http://schemas.openxmlformats.org/officeDocument/2006/relationships/slide" Target="/ppt/slides/slide8.xml" Id="R8b1d8aa227b84aba" /><Relationship Type="http://schemas.openxmlformats.org/officeDocument/2006/relationships/slide" Target="/ppt/slides/slide9.xml" Id="Ra4b3cad559674190" /><Relationship Type="http://schemas.openxmlformats.org/officeDocument/2006/relationships/slide" Target="/ppt/slides/slide10.xml" Id="Rbe7281fe59e74ba1" /><Relationship Type="http://schemas.openxmlformats.org/officeDocument/2006/relationships/slide" Target="/ppt/slides/slide11.xml" Id="R40441500c6714ed9" /><Relationship Type="http://schemas.openxmlformats.org/officeDocument/2006/relationships/slide" Target="/ppt/slides/slide12.xml" Id="Rd663b3abfd3342bb" /><Relationship Type="http://schemas.openxmlformats.org/officeDocument/2006/relationships/slide" Target="/ppt/slides/slide13.xml" Id="R16fe78675da14a82" /><Relationship Type="http://schemas.openxmlformats.org/officeDocument/2006/relationships/slide" Target="/ppt/slides/slide14.xml" Id="R6e92b13212014a1c" /><Relationship Type="http://schemas.openxmlformats.org/officeDocument/2006/relationships/slide" Target="/ppt/slides/slide15.xml" Id="R0e86687490944741" /><Relationship Type="http://schemas.openxmlformats.org/officeDocument/2006/relationships/slide" Target="/ppt/slides/slide16.xml" Id="R697e0c4d16ba4b17" /><Relationship Type="http://schemas.openxmlformats.org/officeDocument/2006/relationships/slide" Target="/ppt/slides/slide17.xml" Id="Rcb1326f20395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8eec8a9a0643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d1e3c0652341f4" /><Relationship Type="http://schemas.openxmlformats.org/officeDocument/2006/relationships/notesMaster" Target="/ppt/notesMasters/notesMaster1.xml" Id="R81e2663e55454a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1d79fd7e24190" /><Relationship Type="http://schemas.openxmlformats.org/officeDocument/2006/relationships/notesMaster" Target="/ppt/notesMasters/notesMaster1.xml" Id="R104ea79e6d54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b2beba6178435e" /><Relationship Type="http://schemas.openxmlformats.org/officeDocument/2006/relationships/notesMaster" Target="/ppt/notesMasters/notesMaster1.xml" Id="R787918b3891d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d6cc7c3694d8d" /><Relationship Type="http://schemas.openxmlformats.org/officeDocument/2006/relationships/notesMaster" Target="/ppt/notesMasters/notesMaster1.xml" Id="R3d0e29993aab4b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b9bed12414de3" /><Relationship Type="http://schemas.openxmlformats.org/officeDocument/2006/relationships/notesMaster" Target="/ppt/notesMasters/notesMaster1.xml" Id="Rb1abf917813144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b8fa1e7b2401c" /><Relationship Type="http://schemas.openxmlformats.org/officeDocument/2006/relationships/notesMaster" Target="/ppt/notesMasters/notesMaster1.xml" Id="Ree118bb8ad664a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8dd4cfe98b43e3" /><Relationship Type="http://schemas.openxmlformats.org/officeDocument/2006/relationships/notesMaster" Target="/ppt/notesMasters/notesMaster1.xml" Id="Ree43bd994ea74a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a3f84c4eb84b47" /><Relationship Type="http://schemas.openxmlformats.org/officeDocument/2006/relationships/notesMaster" Target="/ppt/notesMasters/notesMaster1.xml" Id="R48fedb67a5154f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97bb2140314bfe" /><Relationship Type="http://schemas.openxmlformats.org/officeDocument/2006/relationships/notesMaster" Target="/ppt/notesMasters/notesMaster1.xml" Id="R3980119218d348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b4d580e981425a" /><Relationship Type="http://schemas.openxmlformats.org/officeDocument/2006/relationships/notesMaster" Target="/ppt/notesMasters/notesMaster1.xml" Id="Ra031a011480847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38d4b4ec344c12" /><Relationship Type="http://schemas.openxmlformats.org/officeDocument/2006/relationships/notesMaster" Target="/ppt/notesMasters/notesMaster1.xml" Id="R7eadda3e95464b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0f0f30643c49c1" /><Relationship Type="http://schemas.openxmlformats.org/officeDocument/2006/relationships/notesMaster" Target="/ppt/notesMasters/notesMaster1.xml" Id="R218c990a382647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649c3f27eb4e69" /><Relationship Type="http://schemas.openxmlformats.org/officeDocument/2006/relationships/notesMaster" Target="/ppt/notesMasters/notesMaster1.xml" Id="R2545d38f283545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fed75f8f844c8a" /><Relationship Type="http://schemas.openxmlformats.org/officeDocument/2006/relationships/notesMaster" Target="/ppt/notesMasters/notesMaster1.xml" Id="Rf5568ec6f0e64e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2e9657af624e8d" /><Relationship Type="http://schemas.openxmlformats.org/officeDocument/2006/relationships/notesMaster" Target="/ppt/notesMasters/notesMaster1.xml" Id="R4c3e8f9250b642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8de708202d4fa3" /><Relationship Type="http://schemas.openxmlformats.org/officeDocument/2006/relationships/notesMaster" Target="/ppt/notesMasters/notesMaster1.xml" Id="R38b1e6a72f4641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4cdac665714f65" /><Relationship Type="http://schemas.openxmlformats.org/officeDocument/2006/relationships/notesMaster" Target="/ppt/notesMasters/notesMaster1.xml" Id="R9bba0a92d145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evaluation question, not the implementation details. The deck is a draft structure for a professor progress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/Users/liuziqi/Documents/西大Graduate/Project_base/Code/Meng_ProjectBased_DetectCodeSimilar/README.md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thesis of the testing work: accuracy alone collapses distinct questions and can hide both useful evidence and invalid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product scope. The detector receives a pair of files and emits zero or more matched region pairs with evidence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/Users/liuziqi/Documents/西大Graduate/Project_base/Code/Meng_ProjectBased_DetectCodeSimilar/README.md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70% rule follows BigCloneEval-style c-match. Boundary precision and IoU prevent whole-file predictions from looking precise. T4 evidence tiers remain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narrative spine. Each redesign follows an observed validity failure: wrappers, compilation-ineligible operators, then ground-truth granularity.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/Users/liuziqi/Documents/西大Graduate/Project_base/Code/Meng_ProjectBased_DetectCodeSimilar/code-sim/docs/decision-log.md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smoke set is balanced: 20 pairs per positive band and 40 negatives. It is useful for showing the performance pattern and the invalid wrapper context, not for a paper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/Users/liuziqi/Documents/西大Graduate/Project_base/Code/Meng_ProjectBased_DetectCodeSimilar/code-sim/results/bcb_smoke/scored/summary.md</a:t>
            </a:r>
          </a:p>
          <a:p xmlns:a="http://schemas.openxmlformats.org/drawingml/2006/main">
            <a:r>
              <a:t>- /Users/liuziqi/Documents/西大Graduate/Project_base/Code/Meng_ProjectBased_DetectCodeSimilar/README.md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scale, T1/T2 detection remains strong, VST3/ST3 type recovery is lower, and MT3 remains the dominant weakness. The full run is still a quarantined pilot because the input construction is not clean-room.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/Users/liuziqi/Documents/西大Graduate/Project_base/Code/Meng_ProjectBased_DetectCodeSimilar/code-sim/results/bcb_full_scored/summary.md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protects credibility. The earlier results remain useful engineering evidence, but the protocol explicitly prevents them from being mixed with future clean-room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/Users/liuziqi/Documents/西大Graduate/Project_base/Code/Meng_ProjectBased_DetectCodeSimilar/README.md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MIF includes operators whose effect is an undeclared placeholder or inconsistent rename, which cannot survive a compilation-based detector. The adaptation is declared rather than hidden.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- /Users/liuziqi/Documents/西大Graduate/Project_base/Code/Meng_ProjectBased_DetectCodeSimilar/code-sim/docs/decision-log.md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references prevent one coarse label from hiding localization and type behavior. Mutation scoring is the discriminating measure; clone interval matching is intentionally reported with a localization warning.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choices as validity controls, not implementation trivia. The frozen file says four shards but the actual run configuration and handoff use eight; this documentation mismatch should be amended.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- /Users/liuziqi/Documents/西大Graduate/Project_base/Code/Meng_ProjectBased_DetectCodeSimilar/code-sim/scripts/experiments/run_batch.sh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corrections were driven by the meaning of each mutation, not by inspecting which rule produced a higher number. Round 4 is deliberately unresolved and should be discussed with the professor.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use the observed batch timings as formal performance evidence; contention made batch 2 much slower. The result inventory is complete and auditable, but timing requires a separate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corrected v3 mutation-reference results from batches 1–3. Mark insert/delete and reindent as provisional. The aggregate 81.6% hides the important distinction between code statements and layout/comment-only 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strict product false-positive definition counts any region, while the evidence-tier view distinguishes candidate-only T4 from syntactic claims. The current negative set is a 100-pair pilot, not the planned 1,000.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validity slide. The 97% clone-interval match is near-trivial by construction and must not be presented as general detection accuracy; conditional type attribution is the more informative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end with a generic thank-you. Use the remaining time to get explicit guidance on the open ground-truth rule and the evaluation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8d463b779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f4fe850454065" /><Relationship Type="http://schemas.openxmlformats.org/officeDocument/2006/relationships/slideLayout" Target="/ppt/slideLayouts/slideLayout1.xml" Id="R74d6567c8b0746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6567c8b0746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70ea063df4cc3" /><Relationship Type="http://schemas.openxmlformats.org/officeDocument/2006/relationships/notesSlide" Target="/ppt/notesSlides/notesSlide1.xml" Id="R3e5044d5d6ee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309cfb5f74a11" /><Relationship Type="http://schemas.openxmlformats.org/officeDocument/2006/relationships/notesSlide" Target="/ppt/notesSlides/notesSlide2.xml" Id="Rd5b80a46b4f54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90074e5bb42fc" /><Relationship Type="http://schemas.openxmlformats.org/officeDocument/2006/relationships/notesSlide" Target="/ppt/notesSlides/notesSlide3.xml" Id="Rf17f20f1f38843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153378fa14822" /><Relationship Type="http://schemas.openxmlformats.org/officeDocument/2006/relationships/notesSlide" Target="/ppt/notesSlides/notesSlide4.xml" Id="R088ccbfda5d04f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1141cbef74031" /><Relationship Type="http://schemas.openxmlformats.org/officeDocument/2006/relationships/notesSlide" Target="/ppt/notesSlides/notesSlide5.xml" Id="R1677e9f0f59a49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cdc120a14e2e" /><Relationship Type="http://schemas.openxmlformats.org/officeDocument/2006/relationships/chart" Target="/ppt/slides/charts/chart1.xml" Id="Rb824969044bf4628" /><Relationship Type="http://schemas.openxmlformats.org/officeDocument/2006/relationships/notesSlide" Target="/ppt/notesSlides/notesSlide6.xml" Id="R23002163642b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fd526cae541f2" /><Relationship Type="http://schemas.openxmlformats.org/officeDocument/2006/relationships/chart" Target="/ppt/slides/charts/chart2.xml" Id="R634db4ec56d94232" /><Relationship Type="http://schemas.openxmlformats.org/officeDocument/2006/relationships/notesSlide" Target="/ppt/notesSlides/notesSlide7.xml" Id="R8982a0da81d64f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94e5657314a46" /><Relationship Type="http://schemas.openxmlformats.org/officeDocument/2006/relationships/notesSlide" Target="/ppt/notesSlides/notesSlide8.xml" Id="Ra562a4ff7d9e41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c70e541b442ab" /><Relationship Type="http://schemas.openxmlformats.org/officeDocument/2006/relationships/notesSlide" Target="/ppt/notesSlides/notesSlide9.xml" Id="Rfc1f643b6e77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32b8d6b7b4064" /><Relationship Type="http://schemas.openxmlformats.org/officeDocument/2006/relationships/notesSlide" Target="/ppt/notesSlides/notesSlide10.xml" Id="R85a2411500e14d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86afad2f2486e" /><Relationship Type="http://schemas.openxmlformats.org/officeDocument/2006/relationships/notesSlide" Target="/ppt/notesSlides/notesSlide11.xml" Id="Re9712e24076d45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9c0a8a5d4f7d" /><Relationship Type="http://schemas.openxmlformats.org/officeDocument/2006/relationships/notesSlide" Target="/ppt/notesSlides/notesSlide12.xml" Id="Rea59337f49754a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1401f5625447c" /><Relationship Type="http://schemas.openxmlformats.org/officeDocument/2006/relationships/notesSlide" Target="/ppt/notesSlides/notesSlide13.xml" Id="R23f368afe20347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4175e4ad146d9" /><Relationship Type="http://schemas.openxmlformats.org/officeDocument/2006/relationships/chart" Target="/ppt/slides/charts/chart3.xml" Id="Rb1fa8d838cce45fc" /><Relationship Type="http://schemas.openxmlformats.org/officeDocument/2006/relationships/notesSlide" Target="/ppt/notesSlides/notesSlide14.xml" Id="R2ce97331a8f346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bbea60cd14762" /><Relationship Type="http://schemas.openxmlformats.org/officeDocument/2006/relationships/notesSlide" Target="/ppt/notesSlides/notesSlide15.xml" Id="Rf841f7ee89bb46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7860db8844952" /><Relationship Type="http://schemas.openxmlformats.org/officeDocument/2006/relationships/notesSlide" Target="/ppt/notesSlides/notesSlide16.xml" Id="R25eceec13f8049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ab995345c4749" /><Relationship Type="http://schemas.openxmlformats.org/officeDocument/2006/relationships/notesSlide" Target="/ppt/notesSlides/notesSlide17.xml" Id="R381169412fd4472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Detected / rejected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VST3</c:v>
              </c:pt>
              <c:pt idx="3">
                <c:v>ST3</c:v>
              </c:pt>
              <c:pt idx="4">
                <c:v>MT3</c:v>
              </c:pt>
              <c:pt idx="5">
                <c:v>Negative</c:v>
              </c:pt>
            </c:strLit>
          </c:cat>
          <c:val>
            <c:numLit>
              <c:formatCode>General</c:formatCode>
              <c:ptCount val="6"/>
              <c:pt idx="0">
                <c:v>95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15</c:v>
              </c:pt>
              <c:pt idx="5">
                <c:v>100</c:v>
              </c:pt>
            </c:numLit>
          </c:val>
        </c:ser>
        <c:ser>
          <c:idx val="1"/>
          <c:order val="1"/>
          <c:tx>
            <c:v>Correct type / rejection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VST3</c:v>
              </c:pt>
              <c:pt idx="3">
                <c:v>ST3</c:v>
              </c:pt>
              <c:pt idx="4">
                <c:v>MT3</c:v>
              </c:pt>
              <c:pt idx="5">
                <c:v>Negative</c:v>
              </c:pt>
            </c:strLit>
          </c:cat>
          <c:val>
            <c:numLit>
              <c:formatCode>General</c:formatCode>
              <c:ptCount val="6"/>
              <c:pt idx="0">
                <c:v>95</c:v>
              </c:pt>
              <c:pt idx="1">
                <c:v>95</c:v>
              </c:pt>
              <c:pt idx="2">
                <c:v>65</c:v>
              </c:pt>
              <c:pt idx="3">
                <c:v>100</c:v>
              </c:pt>
              <c:pt idx="4">
                <c:v>15</c:v>
              </c:pt>
              <c:pt idx="5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% of pairs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Detected / correctly rejected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VST3</c:v>
              </c:pt>
              <c:pt idx="3">
                <c:v>ST3</c:v>
              </c:pt>
              <c:pt idx="4">
                <c:v>MT3</c:v>
              </c:pt>
              <c:pt idx="5">
                <c:v>Non-clone</c:v>
              </c:pt>
            </c:strLit>
          </c:cat>
          <c:val>
            <c:numLit>
              <c:formatCode>General</c:formatCode>
              <c:ptCount val="6"/>
              <c:pt idx="0">
                <c:v>97.62</c:v>
              </c:pt>
              <c:pt idx="1">
                <c:v>99.98</c:v>
              </c:pt>
              <c:pt idx="2">
                <c:v>97.37</c:v>
              </c:pt>
              <c:pt idx="3">
                <c:v>93.14</c:v>
              </c:pt>
              <c:pt idx="4">
                <c:v>29.71</c:v>
              </c:pt>
              <c:pt idx="5">
                <c:v>99.85</c:v>
              </c:pt>
            </c:numLit>
          </c:val>
        </c:ser>
        <c:ser>
          <c:idx val="1"/>
          <c:order val="1"/>
          <c:tx>
            <c:v>Correct type / rejection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VST3</c:v>
              </c:pt>
              <c:pt idx="3">
                <c:v>ST3</c:v>
              </c:pt>
              <c:pt idx="4">
                <c:v>MT3</c:v>
              </c:pt>
              <c:pt idx="5">
                <c:v>Non-clone</c:v>
              </c:pt>
            </c:strLit>
          </c:cat>
          <c:val>
            <c:numLit>
              <c:formatCode>General</c:formatCode>
              <c:ptCount val="6"/>
              <c:pt idx="0">
                <c:v>96.15</c:v>
              </c:pt>
              <c:pt idx="1">
                <c:v>95.41</c:v>
              </c:pt>
              <c:pt idx="2">
                <c:v>60.92</c:v>
              </c:pt>
              <c:pt idx="3">
                <c:v>85.7</c:v>
              </c:pt>
              <c:pt idx="4">
                <c:v>29.7</c:v>
              </c:pt>
              <c:pt idx="5">
                <c:v>99.85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% of pairs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Type correct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E9D6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E9D6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E9D6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E9D62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99024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D99024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D99024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10"/>
              <c:pt idx="0">
                <c:v>String literal</c:v>
              </c:pt>
              <c:pt idx="1">
                <c:v>Wrap</c:v>
              </c:pt>
              <c:pt idx="2">
                <c:v>Rename</c:v>
              </c:pt>
              <c:pt idx="3">
                <c:v>Int literal</c:v>
              </c:pt>
              <c:pt idx="4">
                <c:v>Reindent</c:v>
              </c:pt>
              <c:pt idx="5">
                <c:v>Insert</c:v>
              </c:pt>
              <c:pt idx="6">
                <c:v>Delete</c:v>
              </c:pt>
              <c:pt idx="7">
                <c:v>EOL comment</c:v>
              </c:pt>
              <c:pt idx="8">
                <c:v>Blank line</c:v>
              </c:pt>
              <c:pt idx="9">
                <c:v>Block comment</c:v>
              </c:pt>
            </c:strLit>
          </c:cat>
          <c:val>
            <c:numLit>
              <c:formatCode>General</c:formatCode>
              <c:ptCount val="10"/>
              <c:pt idx="0">
                <c:v>99.7</c:v>
              </c:pt>
              <c:pt idx="1">
                <c:v>99.7</c:v>
              </c:pt>
              <c:pt idx="2">
                <c:v>99.3</c:v>
              </c:pt>
              <c:pt idx="3">
                <c:v>98</c:v>
              </c:pt>
              <c:pt idx="4">
                <c:v>94.8</c:v>
              </c:pt>
              <c:pt idx="5">
                <c:v>89.8</c:v>
              </c:pt>
              <c:pt idx="6">
                <c:v>88</c:v>
              </c:pt>
              <c:pt idx="7">
                <c:v>79.8</c:v>
              </c:pt>
              <c:pt idx="8">
                <c:v>26.4</c:v>
              </c:pt>
              <c:pt idx="9">
                <c:v>23.1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Type-correct mutation references (%)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31DEEA3-B2E8-454F-86C2-FCB6AEF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M.ENG. PROJECT UPDATE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049BE4-3826-4169-A275-33E5E15F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144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Testing an Evidence-First</a:t>
            </a:r>
          </a:p>
          <a:p xmlns:a="http://schemas.openxmlformats.org/drawingml/2006/main">
            <a:pPr algn="l">
              <a:defRPr sz="5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Code Clone Detector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E492A62-64A6-4DE0-AB1A-EEBF2ED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148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Design decisions, validity trade-offs, and current evidence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EB739CE-3863-467E-A484-B500D13E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0"/>
            <a:ext cx="2619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1">
            <a:extLst xmlns:a="http://schemas.openxmlformats.org/drawingml/2006/main">
              <a:ext uri="{FF2B5EF4-FFF2-40B4-BE49-F238E27FC236}">
                <a16:creationId xmlns:a16="http://schemas.microsoft.com/office/drawing/2014/main" id="{25657A91-FE88-423C-A92F-A2E3CE26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333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2">
            <a:extLst xmlns:a="http://schemas.openxmlformats.org/drawingml/2006/main">
              <a:ext uri="{FF2B5EF4-FFF2-40B4-BE49-F238E27FC236}">
                <a16:creationId xmlns:a16="http://schemas.microsoft.com/office/drawing/2014/main" id="{98465C87-9B9D-4DD0-B75C-10FEFCE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47900"/>
            <a:ext cx="876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t3">
            <a:extLst xmlns:a="http://schemas.openxmlformats.org/drawingml/2006/main">
              <a:ext uri="{FF2B5EF4-FFF2-40B4-BE49-F238E27FC236}">
                <a16:creationId xmlns:a16="http://schemas.microsoft.com/office/drawing/2014/main" id="{16B905E0-E524-4F5C-A22E-2F709AE4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6764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4">
            <a:extLst xmlns:a="http://schemas.openxmlformats.org/drawingml/2006/main">
              <a:ext uri="{FF2B5EF4-FFF2-40B4-BE49-F238E27FC236}">
                <a16:creationId xmlns:a16="http://schemas.microsoft.com/office/drawing/2014/main" id="{45E69A82-58C1-4B6B-AE4E-70255B27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5524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C993C49F-3EBF-4086-9263-EC9F5E0F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626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Research progress meeting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29 July 2026</a:t>
            </a:r>
          </a:p>
        </p:txBody>
      </p:sp>
      <p:sp>
        <p:nvSpPr>
          <p:cNvPr id="10" name="cover-page">
            <a:extLst xmlns:a="http://schemas.openxmlformats.org/drawingml/2006/main">
              <a:ext uri="{FF2B5EF4-FFF2-40B4-BE49-F238E27FC236}">
                <a16:creationId xmlns:a16="http://schemas.microsoft.com/office/drawing/2014/main" id="{6420385C-D140-4FD5-BACA-2456B6C4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821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aim-kicker">
            <a:extLst xmlns:a="http://schemas.openxmlformats.org/drawingml/2006/main">
              <a:ext uri="{FF2B5EF4-FFF2-40B4-BE49-F238E27FC236}">
                <a16:creationId xmlns:a16="http://schemas.microsoft.com/office/drawing/2014/main" id="{91BCB962-D4F7-473C-A957-9B98EFE1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TESTING CLAIM</a:t>
            </a:r>
          </a:p>
        </p:txBody>
      </p:sp>
      <p:sp>
        <p:nvSpPr>
          <p:cNvPr id="2" name="claim-main">
            <a:extLst xmlns:a="http://schemas.openxmlformats.org/drawingml/2006/main">
              <a:ext uri="{FF2B5EF4-FFF2-40B4-BE49-F238E27FC236}">
                <a16:creationId xmlns:a16="http://schemas.microsoft.com/office/drawing/2014/main" id="{A1467B04-8F51-443C-9DB4-2FAD810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goal is not one accuracy number.</a:t>
            </a:r>
          </a:p>
        </p:txBody>
      </p:sp>
      <p:sp>
        <p:nvSpPr>
          <p:cNvPr id="3" name="claim-body">
            <a:extLst xmlns:a="http://schemas.openxmlformats.org/drawingml/2006/main">
              <a:ext uri="{FF2B5EF4-FFF2-40B4-BE49-F238E27FC236}">
                <a16:creationId xmlns:a16="http://schemas.microsoft.com/office/drawing/2014/main" id="{06005387-0085-4A13-B0F6-7573F25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942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defensible evaluation must separate detection, localization, type attribution, and semantic evidence strength.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6F2A6-6B24-443D-BDFE-125BC9FB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5" name="claim-bottom">
            <a:extLst xmlns:a="http://schemas.openxmlformats.org/drawingml/2006/main">
              <a:ext uri="{FF2B5EF4-FFF2-40B4-BE49-F238E27FC236}">
                <a16:creationId xmlns:a16="http://schemas.microsoft.com/office/drawing/2014/main" id="{3CFC9052-4134-4FAA-B6B6-199E09F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separation drove every dataset, scoring, and execution decision.</a:t>
            </a:r>
          </a:p>
        </p:txBody>
      </p:sp>
      <p:sp>
        <p:nvSpPr>
          <p:cNvPr id="6" name="slide-2-footer-left">
            <a:extLst xmlns:a="http://schemas.openxmlformats.org/drawingml/2006/main">
              <a:ext uri="{FF2B5EF4-FFF2-40B4-BE49-F238E27FC236}">
                <a16:creationId xmlns:a16="http://schemas.microsoft.com/office/drawing/2014/main" id="{6773E461-5ACE-4BB0-98D6-084F095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7" name="slide-2-footer-page">
            <a:extLst xmlns:a="http://schemas.openxmlformats.org/drawingml/2006/main">
              <a:ext uri="{FF2B5EF4-FFF2-40B4-BE49-F238E27FC236}">
                <a16:creationId xmlns:a16="http://schemas.microsoft.com/office/drawing/2014/main" id="{CD9CEC89-FA53-48A9-B1B1-7849C48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5883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A9FA846-B091-468F-87AC-213CB5B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the evaluated product actually returns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02956-EE0D-4511-A338-E79C93E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footer-left">
            <a:extLst xmlns:a="http://schemas.openxmlformats.org/drawingml/2006/main">
              <a:ext uri="{FF2B5EF4-FFF2-40B4-BE49-F238E27FC236}">
                <a16:creationId xmlns:a16="http://schemas.microsoft.com/office/drawing/2014/main" id="{A1B711E9-EB39-4B8C-BA9A-AAB5565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3-footer-page">
            <a:extLst xmlns:a="http://schemas.openxmlformats.org/drawingml/2006/main">
              <a:ext uri="{FF2B5EF4-FFF2-40B4-BE49-F238E27FC236}">
                <a16:creationId xmlns:a16="http://schemas.microsoft.com/office/drawing/2014/main" id="{742AA5AE-CD46-478F-B3A0-9A9C6DA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D016207-2429-47D1-BB3A-86579B1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337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449BD06-A8E6-4B88-9B31-FB789B4F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337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2AEEE71-780D-4EFB-A590-809CFBC2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762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21F05C1F-721E-4F73-B777-1241C31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low-head-0">
            <a:extLst xmlns:a="http://schemas.openxmlformats.org/drawingml/2006/main">
              <a:ext uri="{FF2B5EF4-FFF2-40B4-BE49-F238E27FC236}">
                <a16:creationId xmlns:a16="http://schemas.microsoft.com/office/drawing/2014/main" id="{27218ACF-7192-4AA2-9BC5-659151C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Two Java files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C67B90F-7190-433B-B3FB-DDF8315A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1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Pairwise input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—not a repository search</a:t>
            </a:r>
          </a:p>
        </p:txBody>
      </p:sp>
      <p:sp>
        <p:nvSpPr>
          <p:cNvPr id="11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42955D5-22E2-4130-AB81-0167F2C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43125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flow-head-1">
            <a:extLst xmlns:a="http://schemas.openxmlformats.org/drawingml/2006/main">
              <a:ext uri="{FF2B5EF4-FFF2-40B4-BE49-F238E27FC236}">
                <a16:creationId xmlns:a16="http://schemas.microsoft.com/office/drawing/2014/main" id="{283D6CC7-70CC-484D-A6EF-CC4F804E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66975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Compilation context</a:t>
            </a:r>
          </a:p>
        </p:txBody>
      </p:sp>
      <p:sp>
        <p:nvSpPr>
          <p:cNvPr id="1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C96F2E7-B62E-46BF-BB6F-AA9C169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191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real project → sourcepath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→ stubs → fallback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9B8AE772-911F-49D3-9092-5A069CD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flow-head-2">
            <a:extLst xmlns:a="http://schemas.openxmlformats.org/drawingml/2006/main">
              <a:ext uri="{FF2B5EF4-FFF2-40B4-BE49-F238E27FC236}">
                <a16:creationId xmlns:a16="http://schemas.microsoft.com/office/drawing/2014/main" id="{4D102874-1BC5-4F0E-9ECC-E41EE6C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66975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Region evidence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9AB5605E-0BE0-4007-AFDE-433EDD1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19450"/>
            <a:ext cx="191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WALA/SDG alignment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+ source reconstruction</a:t>
            </a:r>
          </a:p>
        </p:txBody>
      </p:sp>
      <p:sp>
        <p:nvSpPr>
          <p:cNvPr id="1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E16CB8C2-A6ED-454F-BDCA-5EF0EB6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43125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flow-head-3">
            <a:extLst xmlns:a="http://schemas.openxmlformats.org/drawingml/2006/main">
              <a:ext uri="{FF2B5EF4-FFF2-40B4-BE49-F238E27FC236}">
                <a16:creationId xmlns:a16="http://schemas.microsoft.com/office/drawing/2014/main" id="{48B13BF0-503A-4A86-AF13-8721C7E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66975"/>
            <a:ext cx="1914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Tiered result</a:t>
            </a:r>
          </a:p>
        </p:txBody>
      </p:sp>
      <p:sp>
        <p:nvSpPr>
          <p:cNvPr id="19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80A842A-E32B-41DB-BB72-DB29CD10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19450"/>
            <a:ext cx="1914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T1 · T2 · T3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T4 proof / evidence / candidate</a:t>
            </a:r>
          </a:p>
        </p:txBody>
      </p:sp>
      <p:sp>
        <p:nvSpPr>
          <p:cNvPr id="20" name="flow-note">
            <a:extLst xmlns:a="http://schemas.openxmlformats.org/drawingml/2006/main">
              <a:ext uri="{FF2B5EF4-FFF2-40B4-BE49-F238E27FC236}">
                <a16:creationId xmlns:a16="http://schemas.microsoft.com/office/drawing/2014/main" id="{435A8D32-05A1-44D2-B3A8-7009581C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15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evaluation therefore scores region coverage and labels—not only a file-level decision.</a:t>
            </a:r>
          </a:p>
        </p:txBody>
      </p:sp>
    </p:spTree>
    <p:extLst>
      <p:ext uri="{BB962C8B-B14F-4D97-AF65-F5344CB8AC3E}">
        <p14:creationId xmlns:p14="http://schemas.microsoft.com/office/powerpoint/2010/main" val="849311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119C5AF-E9A6-4C0C-B56E-7A8F4AD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Four questions replace a single ‘accuracy’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91208-B943-4B1F-8F51-DEA923E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footer-left">
            <a:extLst xmlns:a="http://schemas.openxmlformats.org/drawingml/2006/main">
              <a:ext uri="{FF2B5EF4-FFF2-40B4-BE49-F238E27FC236}">
                <a16:creationId xmlns:a16="http://schemas.microsoft.com/office/drawing/2014/main" id="{0DC69580-BDA2-4FFE-B5D0-0CEAD95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4-footer-page">
            <a:extLst xmlns:a="http://schemas.openxmlformats.org/drawingml/2006/main">
              <a:ext uri="{FF2B5EF4-FFF2-40B4-BE49-F238E27FC236}">
                <a16:creationId xmlns:a16="http://schemas.microsoft.com/office/drawing/2014/main" id="{11D82EC8-7AA7-4230-80F3-996DF20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lens-num-0">
            <a:extLst xmlns:a="http://schemas.openxmlformats.org/drawingml/2006/main">
              <a:ext uri="{FF2B5EF4-FFF2-40B4-BE49-F238E27FC236}">
                <a16:creationId xmlns:a16="http://schemas.microsoft.com/office/drawing/2014/main" id="{509C94DA-7ABA-4CBA-B078-48A8E343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12CAF-39D8-430A-BC65-8B91674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lens-head-0">
            <a:extLst xmlns:a="http://schemas.openxmlformats.org/drawingml/2006/main">
              <a:ext uri="{FF2B5EF4-FFF2-40B4-BE49-F238E27FC236}">
                <a16:creationId xmlns:a16="http://schemas.microsoft.com/office/drawing/2014/main" id="{C0B9A451-4620-4FFD-83CA-E94FE0B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Detection</a:t>
            </a:r>
          </a:p>
        </p:txBody>
      </p:sp>
      <p:sp>
        <p:nvSpPr>
          <p:cNvPr id="8" name="lens-body-0">
            <a:extLst xmlns:a="http://schemas.openxmlformats.org/drawingml/2006/main">
              <a:ext uri="{FF2B5EF4-FFF2-40B4-BE49-F238E27FC236}">
                <a16:creationId xmlns:a16="http://schemas.microsoft.com/office/drawing/2014/main" id="{BB86CE2E-FF70-4205-9DED-873D837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Did any predicted region cover at least 70% of both reference sides?</a:t>
            </a:r>
          </a:p>
        </p:txBody>
      </p:sp>
      <p:sp>
        <p:nvSpPr>
          <p:cNvPr id="9" name="lens-num-1">
            <a:extLst xmlns:a="http://schemas.openxmlformats.org/drawingml/2006/main">
              <a:ext uri="{FF2B5EF4-FFF2-40B4-BE49-F238E27FC236}">
                <a16:creationId xmlns:a16="http://schemas.microsoft.com/office/drawing/2014/main" id="{0D3A33FA-A257-42EA-AF40-3CB12D19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EDED7-811F-4023-B9CD-059E4ECD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33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9A89"/>
            </a:solidFill>
            <a:prstDash val="solid"/>
          </a:ln>
        </p:spPr>
      </p:sp>
      <p:sp>
        <p:nvSpPr>
          <p:cNvPr id="11" name="lens-head-1">
            <a:extLst xmlns:a="http://schemas.openxmlformats.org/drawingml/2006/main">
              <a:ext uri="{FF2B5EF4-FFF2-40B4-BE49-F238E27FC236}">
                <a16:creationId xmlns:a16="http://schemas.microsoft.com/office/drawing/2014/main" id="{6023421E-955E-4D82-B650-9EE453FF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71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Localization</a:t>
            </a:r>
          </a:p>
        </p:txBody>
      </p:sp>
      <p:sp>
        <p:nvSpPr>
          <p:cNvPr id="12" name="lens-body-1">
            <a:extLst xmlns:a="http://schemas.openxmlformats.org/drawingml/2006/main">
              <a:ext uri="{FF2B5EF4-FFF2-40B4-BE49-F238E27FC236}">
                <a16:creationId xmlns:a16="http://schemas.microsoft.com/office/drawing/2014/main" id="{9A3A443C-9C0D-4885-97CD-6454319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86125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How much extra code did the prediction include? Report precision and IoU.</a:t>
            </a:r>
          </a:p>
        </p:txBody>
      </p:sp>
      <p:sp>
        <p:nvSpPr>
          <p:cNvPr id="13" name="lens-num-2">
            <a:extLst xmlns:a="http://schemas.openxmlformats.org/drawingml/2006/main">
              <a:ext uri="{FF2B5EF4-FFF2-40B4-BE49-F238E27FC236}">
                <a16:creationId xmlns:a16="http://schemas.microsoft.com/office/drawing/2014/main" id="{8A79CF64-22A4-40ED-B804-551C625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8BE46-12F3-4552-82C0-EDBA682F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9D49"/>
            </a:solidFill>
            <a:prstDash val="solid"/>
          </a:ln>
        </p:spPr>
      </p:sp>
      <p:sp>
        <p:nvSpPr>
          <p:cNvPr id="15" name="lens-head-2">
            <a:extLst xmlns:a="http://schemas.openxmlformats.org/drawingml/2006/main">
              <a:ext uri="{FF2B5EF4-FFF2-40B4-BE49-F238E27FC236}">
                <a16:creationId xmlns:a16="http://schemas.microsoft.com/office/drawing/2014/main" id="{36ABF317-507E-425C-B3B0-711CDE1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Type</a:t>
            </a:r>
          </a:p>
        </p:txBody>
      </p:sp>
      <p:sp>
        <p:nvSpPr>
          <p:cNvPr id="16" name="lens-body-2">
            <a:extLst xmlns:a="http://schemas.openxmlformats.org/drawingml/2006/main">
              <a:ext uri="{FF2B5EF4-FFF2-40B4-BE49-F238E27FC236}">
                <a16:creationId xmlns:a16="http://schemas.microsoft.com/office/drawing/2014/main" id="{D4C24038-0EF8-484A-983E-822273A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Given a match, was the region correctly attributed to T1, T2, or T3?</a:t>
            </a:r>
          </a:p>
        </p:txBody>
      </p:sp>
      <p:sp>
        <p:nvSpPr>
          <p:cNvPr id="17" name="lens-num-3">
            <a:extLst xmlns:a="http://schemas.openxmlformats.org/drawingml/2006/main">
              <a:ext uri="{FF2B5EF4-FFF2-40B4-BE49-F238E27FC236}">
                <a16:creationId xmlns:a16="http://schemas.microsoft.com/office/drawing/2014/main" id="{6EC3FBDC-6217-45B9-A614-D1624E0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19250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656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7656D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9F470-608C-40D5-B1D2-E2FDB28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33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656D6"/>
            </a:solidFill>
            <a:prstDash val="solid"/>
          </a:ln>
        </p:spPr>
      </p:sp>
      <p:sp>
        <p:nvSpPr>
          <p:cNvPr id="19" name="lens-head-3">
            <a:extLst xmlns:a="http://schemas.openxmlformats.org/drawingml/2006/main">
              <a:ext uri="{FF2B5EF4-FFF2-40B4-BE49-F238E27FC236}">
                <a16:creationId xmlns:a16="http://schemas.microsoft.com/office/drawing/2014/main" id="{98D3AAC1-C71D-479E-BB89-B64B7BC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Semantics</a:t>
            </a:r>
          </a:p>
        </p:txBody>
      </p:sp>
      <p:sp>
        <p:nvSpPr>
          <p:cNvPr id="20" name="lens-body-3">
            <a:extLst xmlns:a="http://schemas.openxmlformats.org/drawingml/2006/main">
              <a:ext uri="{FF2B5EF4-FFF2-40B4-BE49-F238E27FC236}">
                <a16:creationId xmlns:a16="http://schemas.microsoft.com/office/drawing/2014/main" id="{E9C64E75-BCA3-4B14-B62D-BBC4D331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86125"/>
            <a:ext cx="238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Was T4 proved by SMT, observed dynamically, or only structurally suggested?</a:t>
            </a:r>
          </a:p>
        </p:txBody>
      </p:sp>
    </p:spTree>
    <p:extLst>
      <p:ext uri="{BB962C8B-B14F-4D97-AF65-F5344CB8AC3E}">
        <p14:creationId xmlns:p14="http://schemas.microsoft.com/office/powerpoint/2010/main" val="14961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C6AEC3A-C133-47F2-82BB-F643FCB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Evidence—not preference—drove the test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0B604-F44E-4F73-895D-263B5EB2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footer-left">
            <a:extLst xmlns:a="http://schemas.openxmlformats.org/drawingml/2006/main">
              <a:ext uri="{FF2B5EF4-FFF2-40B4-BE49-F238E27FC236}">
                <a16:creationId xmlns:a16="http://schemas.microsoft.com/office/drawing/2014/main" id="{3BFB7534-9F1C-481A-B0F4-30EBBC23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5-footer-page">
            <a:extLst xmlns:a="http://schemas.openxmlformats.org/drawingml/2006/main">
              <a:ext uri="{FF2B5EF4-FFF2-40B4-BE49-F238E27FC236}">
                <a16:creationId xmlns:a16="http://schemas.microsoft.com/office/drawing/2014/main" id="{254BA06E-360B-4BAD-B726-6EEB02B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06222-EE15-4979-A204-D167728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D9C21267-F4AD-4C5C-860C-7FBF957B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EDDF2DEA-BAB0-4A34-AA56-5EB3D1F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8" name="timeline-head-0">
            <a:extLst xmlns:a="http://schemas.openxmlformats.org/drawingml/2006/main">
              <a:ext uri="{FF2B5EF4-FFF2-40B4-BE49-F238E27FC236}">
                <a16:creationId xmlns:a16="http://schemas.microsoft.com/office/drawing/2014/main" id="{1464D6F2-0269-4690-A856-011F615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BCB wrappers</a:t>
            </a:r>
          </a:p>
        </p:txBody>
      </p:sp>
      <p:sp>
        <p:nvSpPr>
          <p:cNvPr id="9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F07AA128-9B0F-4050-9F23-5CC99C7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Fast signal,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invalid compile context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8FC15F60-F04F-4170-A162-FB54A133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F5A1D309-2874-4B8F-B52F-C1AD0FD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DIAGNOSIS</a:t>
            </a:r>
          </a:p>
        </p:txBody>
      </p:sp>
      <p:sp>
        <p:nvSpPr>
          <p:cNvPr id="12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B6332288-8360-4B87-B95F-08715C90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MIF + WALA</a:t>
            </a:r>
          </a:p>
        </p:txBody>
      </p:sp>
      <p:sp>
        <p:nvSpPr>
          <p:cNvPr id="13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6EBE777D-D924-43C0-8377-16F4E7B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57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Compilation is a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hard eligibility gate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2453A42-2F20-4CFE-AFC6-D03E5E5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FBE2EBC4-AEF7-4821-A76F-BB7AAA95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REDESIGN</a:t>
            </a:r>
          </a:p>
        </p:txBody>
      </p:sp>
      <p:sp>
        <p:nvSpPr>
          <p:cNvPr id="16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C128F879-EAAB-4723-8516-E343CA4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Spoon + CodeNet</a:t>
            </a:r>
          </a:p>
        </p:txBody>
      </p:sp>
      <p:sp>
        <p:nvSpPr>
          <p:cNvPr id="17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9FD2FCBB-E258-4F16-AAA1-A049FE8A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Type-safe edits and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explicit references</a:t>
            </a:r>
          </a:p>
        </p:txBody>
      </p:sp>
      <p:sp>
        <p:nvSpPr>
          <p:cNvPr id="18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555DAECA-7E3C-4762-881C-39BD0C5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38B33B73-30B2-4A74-BEB3-9B76869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FREEZE</a:t>
            </a:r>
          </a:p>
        </p:txBody>
      </p:sp>
      <p:sp>
        <p:nvSpPr>
          <p:cNvPr id="20" name="timeline-head-3">
            <a:extLst xmlns:a="http://schemas.openxmlformats.org/drawingml/2006/main">
              <a:ext uri="{FF2B5EF4-FFF2-40B4-BE49-F238E27FC236}">
                <a16:creationId xmlns:a16="http://schemas.microsoft.com/office/drawing/2014/main" id="{BA222F56-0574-4AD4-BDB6-BAB4272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Formal v1</a:t>
            </a:r>
          </a:p>
        </p:txBody>
      </p:sp>
      <p:sp>
        <p:nvSpPr>
          <p:cNvPr id="21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E1910ACD-D95E-433D-A94E-95523733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576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Locked inputs, raw output,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scorer and provenance</a:t>
            </a:r>
          </a:p>
        </p:txBody>
      </p:sp>
    </p:spTree>
    <p:extLst>
      <p:ext uri="{BB962C8B-B14F-4D97-AF65-F5344CB8AC3E}">
        <p14:creationId xmlns:p14="http://schemas.microsoft.com/office/powerpoint/2010/main" val="71982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DA5CD47-E45E-4DEF-973E-74948409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BCB smoke: weak MT3, invalid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F5C1F-169F-4D5D-9AB8-2F2F804D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6-footer-left">
            <a:extLst xmlns:a="http://schemas.openxmlformats.org/drawingml/2006/main">
              <a:ext uri="{FF2B5EF4-FFF2-40B4-BE49-F238E27FC236}">
                <a16:creationId xmlns:a16="http://schemas.microsoft.com/office/drawing/2014/main" id="{050082F6-7F4B-430C-8B7B-22B71A6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6-footer-page">
            <a:extLst xmlns:a="http://schemas.openxmlformats.org/drawingml/2006/main">
              <a:ext uri="{FF2B5EF4-FFF2-40B4-BE49-F238E27FC236}">
                <a16:creationId xmlns:a16="http://schemas.microsoft.com/office/drawing/2014/main" id="{A4F4D0BB-2DBB-473B-858F-4F46A1C6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7000875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4969044bf4628"/>
          </a:graphicData>
        </a:graphic>
      </p:graphicFrame>
      <p:sp>
        <p:nvSpPr>
          <p:cNvPr id="6" name="smoke-callout">
            <a:extLst xmlns:a="http://schemas.openxmlformats.org/drawingml/2006/main">
              <a:ext uri="{FF2B5EF4-FFF2-40B4-BE49-F238E27FC236}">
                <a16:creationId xmlns:a16="http://schemas.microsoft.com/office/drawing/2014/main" id="{EFCF4648-5518-4AC6-8D4D-0727952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62100"/>
            <a:ext cx="34290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moke-stat">
            <a:extLst xmlns:a="http://schemas.openxmlformats.org/drawingml/2006/main">
              <a:ext uri="{FF2B5EF4-FFF2-40B4-BE49-F238E27FC236}">
                <a16:creationId xmlns:a16="http://schemas.microsoft.com/office/drawing/2014/main" id="{01437528-4713-477C-9C90-E0568B4D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43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22 / 140</a:t>
            </a:r>
          </a:p>
        </p:txBody>
      </p:sp>
      <p:sp>
        <p:nvSpPr>
          <p:cNvPr id="8" name="smoke-label">
            <a:extLst xmlns:a="http://schemas.openxmlformats.org/drawingml/2006/main">
              <a:ext uri="{FF2B5EF4-FFF2-40B4-BE49-F238E27FC236}">
                <a16:creationId xmlns:a16="http://schemas.microsoft.com/office/drawing/2014/main" id="{84848675-8628-4455-AD35-9FF780F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completed the full semantic path</a:t>
            </a:r>
          </a:p>
        </p:txBody>
      </p:sp>
      <p:sp>
        <p:nvSpPr>
          <p:cNvPr id="9" name="smoke-reason">
            <a:extLst xmlns:a="http://schemas.openxmlformats.org/drawingml/2006/main">
              <a:ext uri="{FF2B5EF4-FFF2-40B4-BE49-F238E27FC236}">
                <a16:creationId xmlns:a16="http://schemas.microsoft.com/office/drawing/2014/main" id="{927552C2-92B5-438A-BAFD-E71D5882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623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118 fell back because wrapped fragments lost fields and class context from their original files.</a:t>
            </a:r>
          </a:p>
        </p:txBody>
      </p:sp>
      <p:sp>
        <p:nvSpPr>
          <p:cNvPr id="10" name="smoke-caveat">
            <a:extLst xmlns:a="http://schemas.openxmlformats.org/drawingml/2006/main">
              <a:ext uri="{FF2B5EF4-FFF2-40B4-BE49-F238E27FC236}">
                <a16:creationId xmlns:a16="http://schemas.microsoft.com/office/drawing/2014/main" id="{6F3473C8-9742-4664-B620-84A774C1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91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DIAGNOSTIC PILOT · 140 PAIRS</a:t>
            </a:r>
          </a:p>
        </p:txBody>
      </p:sp>
    </p:spTree>
    <p:extLst>
      <p:ext uri="{BB962C8B-B14F-4D97-AF65-F5344CB8AC3E}">
        <p14:creationId xmlns:p14="http://schemas.microsoft.com/office/powerpoint/2010/main" val="1916088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1241D4A-C026-4CCA-B878-09096E98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full BCB pilot confirmed the pattern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28E11-BE3C-4823-8EBA-9B44449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7-footer-left">
            <a:extLst xmlns:a="http://schemas.openxmlformats.org/drawingml/2006/main">
              <a:ext uri="{FF2B5EF4-FFF2-40B4-BE49-F238E27FC236}">
                <a16:creationId xmlns:a16="http://schemas.microsoft.com/office/drawing/2014/main" id="{434833B4-E00A-4003-A9CD-3400F387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7-footer-page">
            <a:extLst xmlns:a="http://schemas.openxmlformats.org/drawingml/2006/main">
              <a:ext uri="{FF2B5EF4-FFF2-40B4-BE49-F238E27FC236}">
                <a16:creationId xmlns:a16="http://schemas.microsoft.com/office/drawing/2014/main" id="{9908AAD3-52E8-4896-B85A-281283A2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466850"/>
          <a:ext xmlns:a="http://schemas.openxmlformats.org/drawingml/2006/main" cx="7810500" cy="4591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4db4ec56d94232"/>
          </a:graphicData>
        </a:graphic>
      </p:graphicFrame>
      <p:sp>
        <p:nvSpPr>
          <p:cNvPr id="6" name="full-n">
            <a:extLst xmlns:a="http://schemas.openxmlformats.org/drawingml/2006/main">
              <a:ext uri="{FF2B5EF4-FFF2-40B4-BE49-F238E27FC236}">
                <a16:creationId xmlns:a16="http://schemas.microsoft.com/office/drawing/2014/main" id="{AB6951AC-48B7-436B-B590-2648B71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144,478</a:t>
            </a:r>
          </a:p>
        </p:txBody>
      </p:sp>
      <p:sp>
        <p:nvSpPr>
          <p:cNvPr id="7" name="full-n-label">
            <a:extLst xmlns:a="http://schemas.openxmlformats.org/drawingml/2006/main">
              <a:ext uri="{FF2B5EF4-FFF2-40B4-BE49-F238E27FC236}">
                <a16:creationId xmlns:a16="http://schemas.microsoft.com/office/drawing/2014/main" id="{3526AB06-0888-40FD-9819-94D5D3E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431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scored file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C78DE-798C-4232-9519-CB10D1D2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ull-pattern">
            <a:extLst xmlns:a="http://schemas.openxmlformats.org/drawingml/2006/main">
              <a:ext uri="{FF2B5EF4-FFF2-40B4-BE49-F238E27FC236}">
                <a16:creationId xmlns:a16="http://schemas.microsoft.com/office/drawing/2014/main" id="{35E9CA94-4CEB-4F81-956A-AF3A00E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67100"/>
            <a:ext cx="120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Strong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T1 / T2</a:t>
            </a:r>
          </a:p>
        </p:txBody>
      </p:sp>
      <p:sp>
        <p:nvSpPr>
          <p:cNvPr id="10" name="full-gap">
            <a:extLst xmlns:a="http://schemas.openxmlformats.org/drawingml/2006/main">
              <a:ext uri="{FF2B5EF4-FFF2-40B4-BE49-F238E27FC236}">
                <a16:creationId xmlns:a16="http://schemas.microsoft.com/office/drawing/2014/main" id="{970DF3F0-F158-4F49-A843-F65DCD3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67100"/>
            <a:ext cx="120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Weak</a:t>
            </a:r>
          </a:p>
          <a:p xmlns:a="http://schemas.openxmlformats.org/drawingml/2006/main">
            <a:pPr algn="l">
              <a:defRPr sz="20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MT3</a:t>
            </a:r>
          </a:p>
        </p:txBody>
      </p:sp>
      <p:sp>
        <p:nvSpPr>
          <p:cNvPr id="11" name="full-caveat">
            <a:extLst xmlns:a="http://schemas.openxmlformats.org/drawingml/2006/main">
              <a:ext uri="{FF2B5EF4-FFF2-40B4-BE49-F238E27FC236}">
                <a16:creationId xmlns:a16="http://schemas.microsoft.com/office/drawing/2014/main" id="{FC0BA6E5-2DAE-4EFD-9BD8-61C308C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Still the same wrapped-fragment pilot path—not final BCB evidence.</a:t>
            </a:r>
          </a:p>
        </p:txBody>
      </p:sp>
    </p:spTree>
    <p:extLst>
      <p:ext uri="{BB962C8B-B14F-4D97-AF65-F5344CB8AC3E}">
        <p14:creationId xmlns:p14="http://schemas.microsoft.com/office/powerpoint/2010/main" val="307356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A60EF02-2233-4BFC-87DC-A1ED8B1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BCB changed the test—not the headline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8B0C4-394F-428F-A6CF-7B4FAAE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footer-left">
            <a:extLst xmlns:a="http://schemas.openxmlformats.org/drawingml/2006/main">
              <a:ext uri="{FF2B5EF4-FFF2-40B4-BE49-F238E27FC236}">
                <a16:creationId xmlns:a16="http://schemas.microsoft.com/office/drawing/2014/main" id="{94CB516D-06FE-4FE2-BCA6-92AB142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8-footer-page">
            <a:extLst xmlns:a="http://schemas.openxmlformats.org/drawingml/2006/main">
              <a:ext uri="{FF2B5EF4-FFF2-40B4-BE49-F238E27FC236}">
                <a16:creationId xmlns:a16="http://schemas.microsoft.com/office/drawing/2014/main" id="{EB9E0200-9784-418F-9377-25CED09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bcb-says-label">
            <a:extLst xmlns:a="http://schemas.openxmlformats.org/drawingml/2006/main">
              <a:ext uri="{FF2B5EF4-FFF2-40B4-BE49-F238E27FC236}">
                <a16:creationId xmlns:a16="http://schemas.microsoft.com/office/drawing/2014/main" id="{7390FFD3-F2D9-40C9-83E0-06A547F6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THE PILOT SAYS</a:t>
            </a:r>
          </a:p>
        </p:txBody>
      </p:sp>
      <p:sp>
        <p:nvSpPr>
          <p:cNvPr id="6" name="bcb-cannot-label">
            <a:extLst xmlns:a="http://schemas.openxmlformats.org/drawingml/2006/main">
              <a:ext uri="{FF2B5EF4-FFF2-40B4-BE49-F238E27FC236}">
                <a16:creationId xmlns:a16="http://schemas.microsoft.com/office/drawing/2014/main" id="{88471089-BF03-4AE6-B32C-A3730B29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WHAT IT CANNOT SAY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AE63C-88C9-491C-BBAD-920994D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bullet-225-0">
            <a:extLst xmlns:a="http://schemas.openxmlformats.org/drawingml/2006/main">
              <a:ext uri="{FF2B5EF4-FFF2-40B4-BE49-F238E27FC236}">
                <a16:creationId xmlns:a16="http://schemas.microsoft.com/office/drawing/2014/main" id="{4BE09A47-7FB2-4CFA-A186-9473886F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225-0">
            <a:extLst xmlns:a="http://schemas.openxmlformats.org/drawingml/2006/main">
              <a:ext uri="{FF2B5EF4-FFF2-40B4-BE49-F238E27FC236}">
                <a16:creationId xmlns:a16="http://schemas.microsoft.com/office/drawing/2014/main" id="{2331EA62-6871-4BE9-A40A-554557B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431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T1 and T2 are consistently recoverable.</a:t>
            </a:r>
          </a:p>
        </p:txBody>
      </p:sp>
      <p:sp>
        <p:nvSpPr>
          <p:cNvPr id="10" name="bullet-225-1">
            <a:extLst xmlns:a="http://schemas.openxmlformats.org/drawingml/2006/main">
              <a:ext uri="{FF2B5EF4-FFF2-40B4-BE49-F238E27FC236}">
                <a16:creationId xmlns:a16="http://schemas.microsoft.com/office/drawing/2014/main" id="{A4AD3FE3-A2D0-4922-86E7-79B9533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25-1">
            <a:extLst xmlns:a="http://schemas.openxmlformats.org/drawingml/2006/main">
              <a:ext uri="{FF2B5EF4-FFF2-40B4-BE49-F238E27FC236}">
                <a16:creationId xmlns:a16="http://schemas.microsoft.com/office/drawing/2014/main" id="{3B1676A6-7C1A-4ECA-857A-0412AC7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2417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MT3 is the clearest sensitivity gap.</a:t>
            </a:r>
          </a:p>
        </p:txBody>
      </p:sp>
      <p:sp>
        <p:nvSpPr>
          <p:cNvPr id="12" name="bullet-225-2">
            <a:extLst xmlns:a="http://schemas.openxmlformats.org/drawingml/2006/main">
              <a:ext uri="{FF2B5EF4-FFF2-40B4-BE49-F238E27FC236}">
                <a16:creationId xmlns:a16="http://schemas.microsoft.com/office/drawing/2014/main" id="{9A725733-2F34-483A-88F4-5D785DE3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25-2">
            <a:extLst xmlns:a="http://schemas.openxmlformats.org/drawingml/2006/main">
              <a:ext uri="{FF2B5EF4-FFF2-40B4-BE49-F238E27FC236}">
                <a16:creationId xmlns:a16="http://schemas.microsoft.com/office/drawing/2014/main" id="{1AB17154-9C6F-42A0-9B6B-C3065D88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052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Compilation context controls WALA eligibility.</a:t>
            </a:r>
          </a:p>
        </p:txBody>
      </p:sp>
      <p:sp>
        <p:nvSpPr>
          <p:cNvPr id="14" name="bullet-225-0">
            <a:extLst xmlns:a="http://schemas.openxmlformats.org/drawingml/2006/main">
              <a:ext uri="{FF2B5EF4-FFF2-40B4-BE49-F238E27FC236}">
                <a16:creationId xmlns:a16="http://schemas.microsoft.com/office/drawing/2014/main" id="{BD6D2B08-4508-4B27-86EF-A8FD2C3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225-0">
            <a:extLst xmlns:a="http://schemas.openxmlformats.org/drawingml/2006/main">
              <a:ext uri="{FF2B5EF4-FFF2-40B4-BE49-F238E27FC236}">
                <a16:creationId xmlns:a16="http://schemas.microsoft.com/office/drawing/2014/main" id="{7AD92080-168C-4D2F-8313-AE6E78D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431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It is not final BigCloneBench recall.</a:t>
            </a:r>
          </a:p>
        </p:txBody>
      </p:sp>
      <p:sp>
        <p:nvSpPr>
          <p:cNvPr id="16" name="bullet-225-1">
            <a:extLst xmlns:a="http://schemas.openxmlformats.org/drawingml/2006/main">
              <a:ext uri="{FF2B5EF4-FFF2-40B4-BE49-F238E27FC236}">
                <a16:creationId xmlns:a16="http://schemas.microsoft.com/office/drawing/2014/main" id="{57FBD632-B551-48BC-AF30-7A05911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225-1">
            <a:extLst xmlns:a="http://schemas.openxmlformats.org/drawingml/2006/main">
              <a:ext uri="{FF2B5EF4-FFF2-40B4-BE49-F238E27FC236}">
                <a16:creationId xmlns:a16="http://schemas.microsoft.com/office/drawing/2014/main" id="{2FF8E157-CD1C-4FE5-9CCE-0AFD788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2417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Fallback rate is not detector generality.</a:t>
            </a:r>
          </a:p>
        </p:txBody>
      </p:sp>
      <p:sp>
        <p:nvSpPr>
          <p:cNvPr id="18" name="bullet-225-2">
            <a:extLst xmlns:a="http://schemas.openxmlformats.org/drawingml/2006/main">
              <a:ext uri="{FF2B5EF4-FFF2-40B4-BE49-F238E27FC236}">
                <a16:creationId xmlns:a16="http://schemas.microsoft.com/office/drawing/2014/main" id="{B87FDC80-FEB5-47CF-A0E8-2A117B4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225-2">
            <a:extLst xmlns:a="http://schemas.openxmlformats.org/drawingml/2006/main">
              <a:ext uri="{FF2B5EF4-FFF2-40B4-BE49-F238E27FC236}">
                <a16:creationId xmlns:a16="http://schemas.microsoft.com/office/drawing/2014/main" id="{B076C01C-1720-4818-86D4-1A9AB33A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052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Wrapped inputs are not original project files.</a:t>
            </a:r>
          </a:p>
        </p:txBody>
      </p:sp>
      <p:sp>
        <p:nvSpPr>
          <p:cNvPr id="20" name="bcb-decision">
            <a:extLst xmlns:a="http://schemas.openxmlformats.org/drawingml/2006/main">
              <a:ext uri="{FF2B5EF4-FFF2-40B4-BE49-F238E27FC236}">
                <a16:creationId xmlns:a16="http://schemas.microsoft.com/office/drawing/2014/main" id="{2350F365-6CC9-4D1B-A16A-A92A05F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cb-decision-text">
            <a:extLst xmlns:a="http://schemas.openxmlformats.org/drawingml/2006/main">
              <a:ext uri="{FF2B5EF4-FFF2-40B4-BE49-F238E27FC236}">
                <a16:creationId xmlns:a16="http://schemas.microsoft.com/office/drawing/2014/main" id="{5C86EA4C-5CB4-49F6-AAE5-ABB650E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24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Decision: quarantine the pilot and require clean-room BCB with complete original files.</a:t>
            </a:r>
          </a:p>
        </p:txBody>
      </p:sp>
    </p:spTree>
    <p:extLst>
      <p:ext uri="{BB962C8B-B14F-4D97-AF65-F5344CB8AC3E}">
        <p14:creationId xmlns:p14="http://schemas.microsoft.com/office/powerpoint/2010/main" val="15908015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A108131-E67D-42C3-A64E-49FD394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compilable corpus isolates detector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08F6B-1909-49C6-AD28-C319040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footer-left">
            <a:extLst xmlns:a="http://schemas.openxmlformats.org/drawingml/2006/main">
              <a:ext uri="{FF2B5EF4-FFF2-40B4-BE49-F238E27FC236}">
                <a16:creationId xmlns:a16="http://schemas.microsoft.com/office/drawing/2014/main" id="{7F40E916-E2C0-498F-BEBA-76D7C340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9-footer-page">
            <a:extLst xmlns:a="http://schemas.openxmlformats.org/drawingml/2006/main">
              <a:ext uri="{FF2B5EF4-FFF2-40B4-BE49-F238E27FC236}">
                <a16:creationId xmlns:a16="http://schemas.microsoft.com/office/drawing/2014/main" id="{38D89E50-4CA4-45B0-A7A0-4BE9903C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mif-card-0">
            <a:extLst xmlns:a="http://schemas.openxmlformats.org/drawingml/2006/main">
              <a:ext uri="{FF2B5EF4-FFF2-40B4-BE49-F238E27FC236}">
                <a16:creationId xmlns:a16="http://schemas.microsoft.com/office/drawing/2014/main" id="{D442A1FC-1ADF-439E-BF7D-82CD463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81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f-num-0">
            <a:extLst xmlns:a="http://schemas.openxmlformats.org/drawingml/2006/main">
              <a:ext uri="{FF2B5EF4-FFF2-40B4-BE49-F238E27FC236}">
                <a16:creationId xmlns:a16="http://schemas.microsoft.com/office/drawing/2014/main" id="{2210FD49-537C-44F2-A6DE-6CC81CE8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mif-head-0">
            <a:extLst xmlns:a="http://schemas.openxmlformats.org/drawingml/2006/main">
              <a:ext uri="{FF2B5EF4-FFF2-40B4-BE49-F238E27FC236}">
                <a16:creationId xmlns:a16="http://schemas.microsoft.com/office/drawing/2014/main" id="{D39F16CC-93CD-4A89-8B2A-234ABCB6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Select a real seed</a:t>
            </a:r>
          </a:p>
        </p:txBody>
      </p:sp>
      <p:sp>
        <p:nvSpPr>
          <p:cNvPr id="8" name="mif-body-0">
            <a:extLst xmlns:a="http://schemas.openxmlformats.org/drawingml/2006/main">
              <a:ext uri="{FF2B5EF4-FFF2-40B4-BE49-F238E27FC236}">
                <a16:creationId xmlns:a16="http://schemas.microsoft.com/office/drawing/2014/main" id="{28F82EBB-7CCB-4029-996D-FE31057C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Project CodeNet Java250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Self-contained Java solutions</a:t>
            </a:r>
          </a:p>
        </p:txBody>
      </p:sp>
      <p:sp>
        <p:nvSpPr>
          <p:cNvPr id="9" name="mif-card-1">
            <a:extLst xmlns:a="http://schemas.openxmlformats.org/drawingml/2006/main">
              <a:ext uri="{FF2B5EF4-FFF2-40B4-BE49-F238E27FC236}">
                <a16:creationId xmlns:a16="http://schemas.microsoft.com/office/drawing/2014/main" id="{EBEFED17-5C6A-4E8A-BF1A-DB3E072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581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f-num-1">
            <a:extLst xmlns:a="http://schemas.openxmlformats.org/drawingml/2006/main">
              <a:ext uri="{FF2B5EF4-FFF2-40B4-BE49-F238E27FC236}">
                <a16:creationId xmlns:a16="http://schemas.microsoft.com/office/drawing/2014/main" id="{90FC6473-3858-442E-BD80-6AADA3F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mif-head-1">
            <a:extLst xmlns:a="http://schemas.openxmlformats.org/drawingml/2006/main">
              <a:ext uri="{FF2B5EF4-FFF2-40B4-BE49-F238E27FC236}">
                <a16:creationId xmlns:a16="http://schemas.microsoft.com/office/drawing/2014/main" id="{C07D8634-862D-489F-A2C6-BAB7F390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384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Apply one known edit</a:t>
            </a:r>
          </a:p>
        </p:txBody>
      </p:sp>
      <p:sp>
        <p:nvSpPr>
          <p:cNvPr id="12" name="mif-body-1">
            <a:extLst xmlns:a="http://schemas.openxmlformats.org/drawingml/2006/main">
              <a:ext uri="{FF2B5EF4-FFF2-40B4-BE49-F238E27FC236}">
                <a16:creationId xmlns:a16="http://schemas.microsoft.com/office/drawing/2014/main" id="{4C0D036C-D950-4C64-B31C-C2CF3552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147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 balanced Spoon operators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Type-safe and compile-checked</a:t>
            </a:r>
          </a:p>
        </p:txBody>
      </p:sp>
      <p:sp>
        <p:nvSpPr>
          <p:cNvPr id="13" name="mif-card-2">
            <a:extLst xmlns:a="http://schemas.openxmlformats.org/drawingml/2006/main">
              <a:ext uri="{FF2B5EF4-FFF2-40B4-BE49-F238E27FC236}">
                <a16:creationId xmlns:a16="http://schemas.microsoft.com/office/drawing/2014/main" id="{AD26375A-A98F-488C-BEDE-11ABBC0A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581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f-num-2">
            <a:extLst xmlns:a="http://schemas.openxmlformats.org/drawingml/2006/main">
              <a:ext uri="{FF2B5EF4-FFF2-40B4-BE49-F238E27FC236}">
                <a16:creationId xmlns:a16="http://schemas.microsoft.com/office/drawing/2014/main" id="{FFE91F66-4EF1-479B-965E-1C071746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669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mif-head-2">
            <a:extLst xmlns:a="http://schemas.openxmlformats.org/drawingml/2006/main">
              <a:ext uri="{FF2B5EF4-FFF2-40B4-BE49-F238E27FC236}">
                <a16:creationId xmlns:a16="http://schemas.microsoft.com/office/drawing/2014/main" id="{8AE6CF2B-4536-41F6-BCD1-8BC3D8F6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384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Record three truths</a:t>
            </a:r>
          </a:p>
        </p:txBody>
      </p:sp>
      <p:sp>
        <p:nvSpPr>
          <p:cNvPr id="16" name="mif-body-2">
            <a:extLst xmlns:a="http://schemas.openxmlformats.org/drawingml/2006/main">
              <a:ext uri="{FF2B5EF4-FFF2-40B4-BE49-F238E27FC236}">
                <a16:creationId xmlns:a16="http://schemas.microsoft.com/office/drawing/2014/main" id="{6D169165-94E1-4B6E-B789-654E142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Clone interval · mutation runs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· untouched runs</a:t>
            </a:r>
          </a:p>
        </p:txBody>
      </p:sp>
      <p:sp>
        <p:nvSpPr>
          <p:cNvPr id="17" name="mif-note">
            <a:extLst xmlns:a="http://schemas.openxmlformats.org/drawingml/2006/main">
              <a:ext uri="{FF2B5EF4-FFF2-40B4-BE49-F238E27FC236}">
                <a16:creationId xmlns:a16="http://schemas.microsoft.com/office/drawing/2014/main" id="{33963BEA-0699-46FB-8898-3D5B8DB0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Declared trade-off: this is an E2-adapted, supplementary instrument—not a claim of identical official MIF execution.</a:t>
            </a:r>
          </a:p>
        </p:txBody>
      </p:sp>
    </p:spTree>
    <p:extLst>
      <p:ext uri="{BB962C8B-B14F-4D97-AF65-F5344CB8AC3E}">
        <p14:creationId xmlns:p14="http://schemas.microsoft.com/office/powerpoint/2010/main" val="796244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6F399D4-015D-462E-A06E-4EF76BAE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Three reference layers answer three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F7ED2-7739-4628-9C1F-3DDA0EE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0-footer-left">
            <a:extLst xmlns:a="http://schemas.openxmlformats.org/drawingml/2006/main">
              <a:ext uri="{FF2B5EF4-FFF2-40B4-BE49-F238E27FC236}">
                <a16:creationId xmlns:a16="http://schemas.microsoft.com/office/drawing/2014/main" id="{501AF650-249B-421C-82F3-B5B62919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0-footer-page">
            <a:extLst xmlns:a="http://schemas.openxmlformats.org/drawingml/2006/main">
              <a:ext uri="{FF2B5EF4-FFF2-40B4-BE49-F238E27FC236}">
                <a16:creationId xmlns:a16="http://schemas.microsoft.com/office/drawing/2014/main" id="{D9584EB5-8C94-4A1E-8085-6D9EDDBC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gt-band-0">
            <a:extLst xmlns:a="http://schemas.openxmlformats.org/drawingml/2006/main">
              <a:ext uri="{FF2B5EF4-FFF2-40B4-BE49-F238E27FC236}">
                <a16:creationId xmlns:a16="http://schemas.microsoft.com/office/drawing/2014/main" id="{14BCFA95-7C2F-4A38-BE6F-2B235C50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t-color-0">
            <a:extLst xmlns:a="http://schemas.openxmlformats.org/drawingml/2006/main">
              <a:ext uri="{FF2B5EF4-FFF2-40B4-BE49-F238E27FC236}">
                <a16:creationId xmlns:a16="http://schemas.microsoft.com/office/drawing/2014/main" id="{5EFEE5D4-8D93-4D20-BEDD-74DF97D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t-label-0">
            <a:extLst xmlns:a="http://schemas.openxmlformats.org/drawingml/2006/main">
              <a:ext uri="{FF2B5EF4-FFF2-40B4-BE49-F238E27FC236}">
                <a16:creationId xmlns:a16="http://schemas.microsoft.com/office/drawing/2014/main" id="{CD00242F-8F18-488B-91DC-0550CC1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CLONE INTERVAL</a:t>
            </a:r>
          </a:p>
        </p:txBody>
      </p:sp>
      <p:sp>
        <p:nvSpPr>
          <p:cNvPr id="8" name="gt-question-0">
            <a:extLst xmlns:a="http://schemas.openxmlformats.org/drawingml/2006/main">
              <a:ext uri="{FF2B5EF4-FFF2-40B4-BE49-F238E27FC236}">
                <a16:creationId xmlns:a16="http://schemas.microsoft.com/office/drawing/2014/main" id="{1CEA9037-6A7E-4594-B96F-DDC4111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Did the detector find the corresponding block?</a:t>
            </a:r>
          </a:p>
        </p:txBody>
      </p:sp>
      <p:sp>
        <p:nvSpPr>
          <p:cNvPr id="9" name="gt-rule-0">
            <a:extLst xmlns:a="http://schemas.openxmlformats.org/drawingml/2006/main">
              <a:ext uri="{FF2B5EF4-FFF2-40B4-BE49-F238E27FC236}">
                <a16:creationId xmlns:a16="http://schemas.microsoft.com/office/drawing/2014/main" id="{46C05B91-4C77-4DE5-AC25-A5E566BC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Region · ≥70% both sides</a:t>
            </a:r>
          </a:p>
        </p:txBody>
      </p:sp>
      <p:sp>
        <p:nvSpPr>
          <p:cNvPr id="10" name="gt-band-1">
            <a:extLst xmlns:a="http://schemas.openxmlformats.org/drawingml/2006/main">
              <a:ext uri="{FF2B5EF4-FFF2-40B4-BE49-F238E27FC236}">
                <a16:creationId xmlns:a16="http://schemas.microsoft.com/office/drawing/2014/main" id="{D87D00BD-2952-4F92-B387-4A5214D8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t-color-1">
            <a:extLst xmlns:a="http://schemas.openxmlformats.org/drawingml/2006/main">
              <a:ext uri="{FF2B5EF4-FFF2-40B4-BE49-F238E27FC236}">
                <a16:creationId xmlns:a16="http://schemas.microsoft.com/office/drawing/2014/main" id="{395FA82F-F15E-4438-BF22-B8C30AD9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t-label-1">
            <a:extLst xmlns:a="http://schemas.openxmlformats.org/drawingml/2006/main">
              <a:ext uri="{FF2B5EF4-FFF2-40B4-BE49-F238E27FC236}">
                <a16:creationId xmlns:a16="http://schemas.microsoft.com/office/drawing/2014/main" id="{8CAD5225-828D-44A5-A7A4-D4E1DEC6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9D49"/>
                </a:solidFill>
                <a:latin typeface="Helvetica Neue"/>
                <a:ea typeface="Helvetica Neue"/>
                <a:cs typeface="Helvetica Neue"/>
              </a:rPr>
              <a:t>MUTATION RUN</a:t>
            </a:r>
          </a:p>
        </p:txBody>
      </p:sp>
      <p:sp>
        <p:nvSpPr>
          <p:cNvPr id="13" name="gt-question-1">
            <a:extLst xmlns:a="http://schemas.openxmlformats.org/drawingml/2006/main">
              <a:ext uri="{FF2B5EF4-FFF2-40B4-BE49-F238E27FC236}">
                <a16:creationId xmlns:a16="http://schemas.microsoft.com/office/drawing/2014/main" id="{E85C6126-4C2D-4C76-8218-02E4295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Did it isolate the changed code and assign the right type?</a:t>
            </a:r>
          </a:p>
        </p:txBody>
      </p:sp>
      <p:sp>
        <p:nvSpPr>
          <p:cNvPr id="14" name="gt-rule-1">
            <a:extLst xmlns:a="http://schemas.openxmlformats.org/drawingml/2006/main">
              <a:ext uri="{FF2B5EF4-FFF2-40B4-BE49-F238E27FC236}">
                <a16:creationId xmlns:a16="http://schemas.microsoft.com/office/drawing/2014/main" id="{18F62982-9FF8-4C48-91C8-4495DBF2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Sub-region · overlap + type</a:t>
            </a:r>
          </a:p>
        </p:txBody>
      </p:sp>
      <p:sp>
        <p:nvSpPr>
          <p:cNvPr id="15" name="gt-band-2">
            <a:extLst xmlns:a="http://schemas.openxmlformats.org/drawingml/2006/main">
              <a:ext uri="{FF2B5EF4-FFF2-40B4-BE49-F238E27FC236}">
                <a16:creationId xmlns:a16="http://schemas.microsoft.com/office/drawing/2014/main" id="{A8AEBD8D-6BBD-4C3C-8D84-ECB3F9F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113919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t-color-2">
            <a:extLst xmlns:a="http://schemas.openxmlformats.org/drawingml/2006/main">
              <a:ext uri="{FF2B5EF4-FFF2-40B4-BE49-F238E27FC236}">
                <a16:creationId xmlns:a16="http://schemas.microsoft.com/office/drawing/2014/main" id="{4CB68410-8CEE-4692-93FF-08B1799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t-label-2">
            <a:extLst xmlns:a="http://schemas.openxmlformats.org/drawingml/2006/main">
              <a:ext uri="{FF2B5EF4-FFF2-40B4-BE49-F238E27FC236}">
                <a16:creationId xmlns:a16="http://schemas.microsoft.com/office/drawing/2014/main" id="{0D086178-CC12-4A6C-BF5A-268F14E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rPr>
              <a:t>UNTOUCHED RUN</a:t>
            </a:r>
          </a:p>
        </p:txBody>
      </p:sp>
      <p:sp>
        <p:nvSpPr>
          <p:cNvPr id="18" name="gt-question-2">
            <a:extLst xmlns:a="http://schemas.openxmlformats.org/drawingml/2006/main">
              <a:ext uri="{FF2B5EF4-FFF2-40B4-BE49-F238E27FC236}">
                <a16:creationId xmlns:a16="http://schemas.microsoft.com/office/drawing/2014/main" id="{7154F0CD-AC91-4883-85EF-957F252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Did unchanged code remain identifiable as Type 1?</a:t>
            </a:r>
          </a:p>
        </p:txBody>
      </p:sp>
      <p:sp>
        <p:nvSpPr>
          <p:cNvPr id="19" name="gt-rule-2">
            <a:extLst xmlns:a="http://schemas.openxmlformats.org/drawingml/2006/main">
              <a:ext uri="{FF2B5EF4-FFF2-40B4-BE49-F238E27FC236}">
                <a16:creationId xmlns:a16="http://schemas.microsoft.com/office/drawing/2014/main" id="{B28F2E1D-CE06-4DA0-A3E5-B2C5F537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Sub-region · expected T1</a:t>
            </a:r>
          </a:p>
        </p:txBody>
      </p:sp>
    </p:spTree>
    <p:extLst>
      <p:ext uri="{BB962C8B-B14F-4D97-AF65-F5344CB8AC3E}">
        <p14:creationId xmlns:p14="http://schemas.microsoft.com/office/powerpoint/2010/main" val="8283493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833E7E3-C700-4178-A097-670DED54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Validity comes before speed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44814-E697-495E-968B-2F9E77D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footer-left">
            <a:extLst xmlns:a="http://schemas.openxmlformats.org/drawingml/2006/main">
              <a:ext uri="{FF2B5EF4-FFF2-40B4-BE49-F238E27FC236}">
                <a16:creationId xmlns:a16="http://schemas.microsoft.com/office/drawing/2014/main" id="{D51AA802-5BB7-4C1E-AD2F-5373AC75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1-footer-page">
            <a:extLst xmlns:a="http://schemas.openxmlformats.org/drawingml/2006/main">
              <a:ext uri="{FF2B5EF4-FFF2-40B4-BE49-F238E27FC236}">
                <a16:creationId xmlns:a16="http://schemas.microsoft.com/office/drawing/2014/main" id="{293FEC56-AB89-483E-812A-5DCB0B7B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trade-header">
            <a:extLst xmlns:a="http://schemas.openxmlformats.org/drawingml/2006/main">
              <a:ext uri="{FF2B5EF4-FFF2-40B4-BE49-F238E27FC236}">
                <a16:creationId xmlns:a16="http://schemas.microsoft.com/office/drawing/2014/main" id="{93ED9CFE-5DC2-43DB-88D0-EF29A3C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de-h-0">
            <a:extLst xmlns:a="http://schemas.openxmlformats.org/drawingml/2006/main">
              <a:ext uri="{FF2B5EF4-FFF2-40B4-BE49-F238E27FC236}">
                <a16:creationId xmlns:a16="http://schemas.microsoft.com/office/drawing/2014/main" id="{194FA84C-E0CB-4121-BABA-94EC131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7" name="trade-h-1">
            <a:extLst xmlns:a="http://schemas.openxmlformats.org/drawingml/2006/main">
              <a:ext uri="{FF2B5EF4-FFF2-40B4-BE49-F238E27FC236}">
                <a16:creationId xmlns:a16="http://schemas.microsoft.com/office/drawing/2014/main" id="{6189F725-E203-4E9E-8473-713B4F7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621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Choice</a:t>
            </a:r>
          </a:p>
        </p:txBody>
      </p:sp>
      <p:sp>
        <p:nvSpPr>
          <p:cNvPr id="8" name="trade-h-2">
            <a:extLst xmlns:a="http://schemas.openxmlformats.org/drawingml/2006/main">
              <a:ext uri="{FF2B5EF4-FFF2-40B4-BE49-F238E27FC236}">
                <a16:creationId xmlns:a16="http://schemas.microsoft.com/office/drawing/2014/main" id="{025D0FEE-4A46-41F8-8AF3-B20258F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9" name="trade-row-bg-0">
            <a:extLst xmlns:a="http://schemas.openxmlformats.org/drawingml/2006/main">
              <a:ext uri="{FF2B5EF4-FFF2-40B4-BE49-F238E27FC236}">
                <a16:creationId xmlns:a16="http://schemas.microsoft.com/office/drawing/2014/main" id="{94E5488D-8A18-4889-BC22-3992F5BD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ade-a-0">
            <a:extLst xmlns:a="http://schemas.openxmlformats.org/drawingml/2006/main">
              <a:ext uri="{FF2B5EF4-FFF2-40B4-BE49-F238E27FC236}">
                <a16:creationId xmlns:a16="http://schemas.microsoft.com/office/drawing/2014/main" id="{5FEDB75C-101A-4A96-823E-744FBC1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Dynamic execution</a:t>
            </a:r>
          </a:p>
        </p:txBody>
      </p:sp>
      <p:sp>
        <p:nvSpPr>
          <p:cNvPr id="11" name="trade-b-0">
            <a:extLst xmlns:a="http://schemas.openxmlformats.org/drawingml/2006/main">
              <a:ext uri="{FF2B5EF4-FFF2-40B4-BE49-F238E27FC236}">
                <a16:creationId xmlns:a16="http://schemas.microsoft.com/office/drawing/2014/main" id="{7C8C675E-4DE3-445D-B14A-CA90E0A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Disabled</a:t>
            </a:r>
          </a:p>
        </p:txBody>
      </p:sp>
      <p:sp>
        <p:nvSpPr>
          <p:cNvPr id="12" name="trade-c-0">
            <a:extLst xmlns:a="http://schemas.openxmlformats.org/drawingml/2006/main">
              <a:ext uri="{FF2B5EF4-FFF2-40B4-BE49-F238E27FC236}">
                <a16:creationId xmlns:a16="http://schemas.microsoft.com/office/drawing/2014/main" id="{C7FC97EA-F377-4FE8-821F-9A533120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669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Untrusted corpus code can leak threads; sampling is evidence, not proof.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6DF27-3837-42A6-9685-759E6F87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rade-row-bg-1">
            <a:extLst xmlns:a="http://schemas.openxmlformats.org/drawingml/2006/main">
              <a:ext uri="{FF2B5EF4-FFF2-40B4-BE49-F238E27FC236}">
                <a16:creationId xmlns:a16="http://schemas.microsoft.com/office/drawing/2014/main" id="{29EA11DB-20DD-4B2C-A78B-343E88B0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de-a-1">
            <a:extLst xmlns:a="http://schemas.openxmlformats.org/drawingml/2006/main">
              <a:ext uri="{FF2B5EF4-FFF2-40B4-BE49-F238E27FC236}">
                <a16:creationId xmlns:a16="http://schemas.microsoft.com/office/drawing/2014/main" id="{FAC92F5F-BAA0-44AB-B656-7824026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Compilation assistance</a:t>
            </a:r>
          </a:p>
        </p:txBody>
      </p:sp>
      <p:sp>
        <p:nvSpPr>
          <p:cNvPr id="16" name="trade-b-1">
            <a:extLst xmlns:a="http://schemas.openxmlformats.org/drawingml/2006/main">
              <a:ext uri="{FF2B5EF4-FFF2-40B4-BE49-F238E27FC236}">
                <a16:creationId xmlns:a16="http://schemas.microsoft.com/office/drawing/2014/main" id="{D2EE9128-8908-4556-A21A-3D9F03E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241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Stubs enabled</a:t>
            </a:r>
          </a:p>
        </p:txBody>
      </p:sp>
      <p:sp>
        <p:nvSpPr>
          <p:cNvPr id="17" name="trade-c-1">
            <a:extLst xmlns:a="http://schemas.openxmlformats.org/drawingml/2006/main">
              <a:ext uri="{FF2B5EF4-FFF2-40B4-BE49-F238E27FC236}">
                <a16:creationId xmlns:a16="http://schemas.microsoft.com/office/drawing/2014/main" id="{83849DEB-E0EA-4960-B649-290E7619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479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Raises WALA eligibility, but stubbed pairs cannot claim strict T4.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FB138-EF3C-4A9A-94E9-A8E0554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rade-row-bg-2">
            <a:extLst xmlns:a="http://schemas.openxmlformats.org/drawingml/2006/main">
              <a:ext uri="{FF2B5EF4-FFF2-40B4-BE49-F238E27FC236}">
                <a16:creationId xmlns:a16="http://schemas.microsoft.com/office/drawing/2014/main" id="{67D7A0AF-79C0-40EE-A4B7-5733786C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ade-a-2">
            <a:extLst xmlns:a="http://schemas.openxmlformats.org/drawingml/2006/main">
              <a:ext uri="{FF2B5EF4-FFF2-40B4-BE49-F238E27FC236}">
                <a16:creationId xmlns:a16="http://schemas.microsoft.com/office/drawing/2014/main" id="{DC3E52E4-D5B9-47FF-9733-130ED4A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Parallelism</a:t>
            </a:r>
          </a:p>
        </p:txBody>
      </p:sp>
      <p:sp>
        <p:nvSpPr>
          <p:cNvPr id="21" name="trade-b-2">
            <a:extLst xmlns:a="http://schemas.openxmlformats.org/drawingml/2006/main">
              <a:ext uri="{FF2B5EF4-FFF2-40B4-BE49-F238E27FC236}">
                <a16:creationId xmlns:a16="http://schemas.microsoft.com/office/drawing/2014/main" id="{32C873D0-D8BE-439B-823E-30510292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workers</a:t>
            </a:r>
          </a:p>
        </p:txBody>
      </p:sp>
      <p:sp>
        <p:nvSpPr>
          <p:cNvPr id="22" name="trade-c-2">
            <a:extLst xmlns:a="http://schemas.openxmlformats.org/drawingml/2006/main">
              <a:ext uri="{FF2B5EF4-FFF2-40B4-BE49-F238E27FC236}">
                <a16:creationId xmlns:a16="http://schemas.microsoft.com/office/drawing/2014/main" id="{4C2EA06C-98A2-42DE-A347-981B26E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290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8GB host cannot safely support the earlier 4 × 4GB configuration.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2BAC0-6780-43E6-A29A-3C2CA9F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rade-row-bg-3">
            <a:extLst xmlns:a="http://schemas.openxmlformats.org/drawingml/2006/main">
              <a:ext uri="{FF2B5EF4-FFF2-40B4-BE49-F238E27FC236}">
                <a16:creationId xmlns:a16="http://schemas.microsoft.com/office/drawing/2014/main" id="{EF663C47-3918-4AA0-9876-2921E29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ade-a-3">
            <a:extLst xmlns:a="http://schemas.openxmlformats.org/drawingml/2006/main">
              <a:ext uri="{FF2B5EF4-FFF2-40B4-BE49-F238E27FC236}">
                <a16:creationId xmlns:a16="http://schemas.microsoft.com/office/drawing/2014/main" id="{A81D6753-ECB4-4A2F-B7D8-CF5DBF1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Sharding</a:t>
            </a:r>
          </a:p>
        </p:txBody>
      </p:sp>
      <p:sp>
        <p:nvSpPr>
          <p:cNvPr id="26" name="trade-b-3">
            <a:extLst xmlns:a="http://schemas.openxmlformats.org/drawingml/2006/main">
              <a:ext uri="{FF2B5EF4-FFF2-40B4-BE49-F238E27FC236}">
                <a16:creationId xmlns:a16="http://schemas.microsoft.com/office/drawing/2014/main" id="{8492370D-27CB-4158-B904-7E2826F3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862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 shards</a:t>
            </a:r>
          </a:p>
        </p:txBody>
      </p:sp>
      <p:sp>
        <p:nvSpPr>
          <p:cNvPr id="27" name="trade-c-3">
            <a:extLst xmlns:a="http://schemas.openxmlformats.org/drawingml/2006/main">
              <a:ext uri="{FF2B5EF4-FFF2-40B4-BE49-F238E27FC236}">
                <a16:creationId xmlns:a16="http://schemas.microsoft.com/office/drawing/2014/main" id="{AF336019-4530-467F-96BB-B12DC8D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Smaller recovery unit if one shard fails; semantics unchanged.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C2B23-732D-4112-BDB6-942D834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rade-row-bg-4">
            <a:extLst xmlns:a="http://schemas.openxmlformats.org/drawingml/2006/main">
              <a:ext uri="{FF2B5EF4-FFF2-40B4-BE49-F238E27FC236}">
                <a16:creationId xmlns:a16="http://schemas.microsoft.com/office/drawing/2014/main" id="{8F76661F-0492-4C71-8108-2A88A4D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ade-a-4">
            <a:extLst xmlns:a="http://schemas.openxmlformats.org/drawingml/2006/main">
              <a:ext uri="{FF2B5EF4-FFF2-40B4-BE49-F238E27FC236}">
                <a16:creationId xmlns:a16="http://schemas.microsoft.com/office/drawing/2014/main" id="{EB9E0509-5A7E-4793-9C1E-E30D847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Raw output</a:t>
            </a:r>
          </a:p>
        </p:txBody>
      </p:sp>
      <p:sp>
        <p:nvSpPr>
          <p:cNvPr id="31" name="trade-b-4">
            <a:extLst xmlns:a="http://schemas.openxmlformats.org/drawingml/2006/main">
              <a:ext uri="{FF2B5EF4-FFF2-40B4-BE49-F238E27FC236}">
                <a16:creationId xmlns:a16="http://schemas.microsoft.com/office/drawing/2014/main" id="{9E8FA01E-0147-4061-ADC4-69158878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67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Preserved</a:t>
            </a:r>
          </a:p>
        </p:txBody>
      </p:sp>
      <p:sp>
        <p:nvSpPr>
          <p:cNvPr id="32" name="trade-c-4">
            <a:extLst xmlns:a="http://schemas.openxmlformats.org/drawingml/2006/main">
              <a:ext uri="{FF2B5EF4-FFF2-40B4-BE49-F238E27FC236}">
                <a16:creationId xmlns:a16="http://schemas.microsoft.com/office/drawing/2014/main" id="{2925CF29-24CF-4CAC-8A53-2C1D0DF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911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Ground truth/scoring can be repaired without a seven-hour rerun.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AF539F-2819-485A-8821-8120D2F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2703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D1F1B61-5B25-4EEE-BC27-1F3BF16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Ground-truth corrections: one rule remains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D8E9A-E874-416D-8447-7E2FEAD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2-footer-left">
            <a:extLst xmlns:a="http://schemas.openxmlformats.org/drawingml/2006/main">
              <a:ext uri="{FF2B5EF4-FFF2-40B4-BE49-F238E27FC236}">
                <a16:creationId xmlns:a16="http://schemas.microsoft.com/office/drawing/2014/main" id="{B45019B8-C76F-47FE-8BA8-CCEFD41E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2-footer-page">
            <a:extLst xmlns:a="http://schemas.openxmlformats.org/drawingml/2006/main">
              <a:ext uri="{FF2B5EF4-FFF2-40B4-BE49-F238E27FC236}">
                <a16:creationId xmlns:a16="http://schemas.microsoft.com/office/drawing/2014/main" id="{65F2E4E2-533D-4E3A-B369-EAF4294C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E32DE-41F2-4D76-9375-2BA062EC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053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6" name="gt-dot-0">
            <a:extLst xmlns:a="http://schemas.openxmlformats.org/drawingml/2006/main">
              <a:ext uri="{FF2B5EF4-FFF2-40B4-BE49-F238E27FC236}">
                <a16:creationId xmlns:a16="http://schemas.microsoft.com/office/drawing/2014/main" id="{E0EE2AA6-727A-41A9-ADC3-C04E72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t-round-0">
            <a:extLst xmlns:a="http://schemas.openxmlformats.org/drawingml/2006/main">
              <a:ext uri="{FF2B5EF4-FFF2-40B4-BE49-F238E27FC236}">
                <a16:creationId xmlns:a16="http://schemas.microsoft.com/office/drawing/2014/main" id="{B4AA42AF-47A9-4BBF-A036-F3A2F9AB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ROUND 1</a:t>
            </a:r>
          </a:p>
        </p:txBody>
      </p:sp>
      <p:sp>
        <p:nvSpPr>
          <p:cNvPr id="8" name="gt-headline-0">
            <a:extLst xmlns:a="http://schemas.openxmlformats.org/drawingml/2006/main">
              <a:ext uri="{FF2B5EF4-FFF2-40B4-BE49-F238E27FC236}">
                <a16:creationId xmlns:a16="http://schemas.microsoft.com/office/drawing/2014/main" id="{AA69F266-6268-4E31-A55A-3A8EA68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Wrap</a:t>
            </a:r>
          </a:p>
        </p:txBody>
      </p:sp>
      <p:sp>
        <p:nvSpPr>
          <p:cNvPr id="9" name="gt-copy-0">
            <a:extLst xmlns:a="http://schemas.openxmlformats.org/drawingml/2006/main">
              <a:ext uri="{FF2B5EF4-FFF2-40B4-BE49-F238E27FC236}">
                <a16:creationId xmlns:a16="http://schemas.microsoft.com/office/drawing/2014/main" id="{7F2F7D3B-329B-4E5B-8418-AF1E5AB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Reference only the added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if-header line</a:t>
            </a:r>
          </a:p>
        </p:txBody>
      </p:sp>
      <p:sp>
        <p:nvSpPr>
          <p:cNvPr id="10" name="gt-result-0">
            <a:extLst xmlns:a="http://schemas.openxmlformats.org/drawingml/2006/main">
              <a:ext uri="{FF2B5EF4-FFF2-40B4-BE49-F238E27FC236}">
                <a16:creationId xmlns:a16="http://schemas.microsoft.com/office/drawing/2014/main" id="{106670AE-0003-47B3-84A0-4B9465C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7.3 → 99.7%</a:t>
            </a:r>
          </a:p>
        </p:txBody>
      </p:sp>
      <p:sp>
        <p:nvSpPr>
          <p:cNvPr id="11" name="gt-dot-1">
            <a:extLst xmlns:a="http://schemas.openxmlformats.org/drawingml/2006/main">
              <a:ext uri="{FF2B5EF4-FFF2-40B4-BE49-F238E27FC236}">
                <a16:creationId xmlns:a16="http://schemas.microsoft.com/office/drawing/2014/main" id="{8466E8A9-5C4C-4744-B612-D9EC6D8C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96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t-round-1">
            <a:extLst xmlns:a="http://schemas.openxmlformats.org/drawingml/2006/main">
              <a:ext uri="{FF2B5EF4-FFF2-40B4-BE49-F238E27FC236}">
                <a16:creationId xmlns:a16="http://schemas.microsoft.com/office/drawing/2014/main" id="{7BDD0381-E1D6-491B-9002-2FFF5A44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rPr>
              <a:t>ROUND 2</a:t>
            </a:r>
          </a:p>
        </p:txBody>
      </p:sp>
      <p:sp>
        <p:nvSpPr>
          <p:cNvPr id="13" name="gt-headline-1">
            <a:extLst xmlns:a="http://schemas.openxmlformats.org/drawingml/2006/main">
              <a:ext uri="{FF2B5EF4-FFF2-40B4-BE49-F238E27FC236}">
                <a16:creationId xmlns:a16="http://schemas.microsoft.com/office/drawing/2014/main" id="{ADD28430-2684-4B20-893F-B7760AF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716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Insert / delete</a:t>
            </a:r>
          </a:p>
        </p:txBody>
      </p:sp>
      <p:sp>
        <p:nvSpPr>
          <p:cNvPr id="14" name="gt-copy-1">
            <a:extLst xmlns:a="http://schemas.openxmlformats.org/drawingml/2006/main">
              <a:ext uri="{FF2B5EF4-FFF2-40B4-BE49-F238E27FC236}">
                <a16:creationId xmlns:a16="http://schemas.microsoft.com/office/drawing/2014/main" id="{FCA1DDD8-8D49-4F99-B310-D4D63E60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765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Remove normalized-twin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corpus artifacts</a:t>
            </a:r>
          </a:p>
        </p:txBody>
      </p:sp>
      <p:sp>
        <p:nvSpPr>
          <p:cNvPr id="15" name="gt-result-1">
            <a:extLst xmlns:a="http://schemas.openxmlformats.org/drawingml/2006/main">
              <a:ext uri="{FF2B5EF4-FFF2-40B4-BE49-F238E27FC236}">
                <a16:creationId xmlns:a16="http://schemas.microsoft.com/office/drawing/2014/main" id="{68712F52-37DA-45DF-88F3-40CC4860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rPr>
              <a:t>Batch 5 arm</a:t>
            </a:r>
          </a:p>
        </p:txBody>
      </p:sp>
      <p:sp>
        <p:nvSpPr>
          <p:cNvPr id="16" name="gt-dot-2">
            <a:extLst xmlns:a="http://schemas.openxmlformats.org/drawingml/2006/main">
              <a:ext uri="{FF2B5EF4-FFF2-40B4-BE49-F238E27FC236}">
                <a16:creationId xmlns:a16="http://schemas.microsoft.com/office/drawing/2014/main" id="{7357259A-DD94-422E-89A9-4F9BFBF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t-round-2">
            <a:extLst xmlns:a="http://schemas.openxmlformats.org/drawingml/2006/main">
              <a:ext uri="{FF2B5EF4-FFF2-40B4-BE49-F238E27FC236}">
                <a16:creationId xmlns:a16="http://schemas.microsoft.com/office/drawing/2014/main" id="{9AB41189-C89E-47E4-AFF1-1EA481E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ROUND 3</a:t>
            </a:r>
          </a:p>
        </p:txBody>
      </p:sp>
      <p:sp>
        <p:nvSpPr>
          <p:cNvPr id="18" name="gt-headline-2">
            <a:extLst xmlns:a="http://schemas.openxmlformats.org/drawingml/2006/main">
              <a:ext uri="{FF2B5EF4-FFF2-40B4-BE49-F238E27FC236}">
                <a16:creationId xmlns:a16="http://schemas.microsoft.com/office/drawing/2014/main" id="{2A8D6BCE-E19D-4CE9-B507-97B4719D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Rename</a:t>
            </a:r>
          </a:p>
        </p:txBody>
      </p:sp>
      <p:sp>
        <p:nvSpPr>
          <p:cNvPr id="19" name="gt-copy-2">
            <a:extLst xmlns:a="http://schemas.openxmlformats.org/drawingml/2006/main">
              <a:ext uri="{FF2B5EF4-FFF2-40B4-BE49-F238E27FC236}">
                <a16:creationId xmlns:a16="http://schemas.microsoft.com/office/drawing/2014/main" id="{B056B320-FF0A-4895-810C-8D08233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Split scattered changes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into contiguous runs</a:t>
            </a:r>
          </a:p>
        </p:txBody>
      </p:sp>
      <p:sp>
        <p:nvSpPr>
          <p:cNvPr id="20" name="gt-result-2">
            <a:extLst xmlns:a="http://schemas.openxmlformats.org/drawingml/2006/main">
              <a:ext uri="{FF2B5EF4-FFF2-40B4-BE49-F238E27FC236}">
                <a16:creationId xmlns:a16="http://schemas.microsoft.com/office/drawing/2014/main" id="{A5CEFE6E-2E2D-4534-8621-E67D92C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88.3 → 99.3%</a:t>
            </a:r>
          </a:p>
        </p:txBody>
      </p:sp>
      <p:sp>
        <p:nvSpPr>
          <p:cNvPr id="21" name="gt-dot-3">
            <a:extLst xmlns:a="http://schemas.openxmlformats.org/drawingml/2006/main">
              <a:ext uri="{FF2B5EF4-FFF2-40B4-BE49-F238E27FC236}">
                <a16:creationId xmlns:a16="http://schemas.microsoft.com/office/drawing/2014/main" id="{3921F9F1-3C21-43D9-A9C3-1DB1EB2F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196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t-round-3">
            <a:extLst xmlns:a="http://schemas.openxmlformats.org/drawingml/2006/main">
              <a:ext uri="{FF2B5EF4-FFF2-40B4-BE49-F238E27FC236}">
                <a16:creationId xmlns:a16="http://schemas.microsoft.com/office/drawing/2014/main" id="{A06284C7-FE8B-4774-9531-B73E16B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ROUND 4</a:t>
            </a:r>
          </a:p>
        </p:txBody>
      </p:sp>
      <p:sp>
        <p:nvSpPr>
          <p:cNvPr id="23" name="gt-headline-3">
            <a:extLst xmlns:a="http://schemas.openxmlformats.org/drawingml/2006/main">
              <a:ext uri="{FF2B5EF4-FFF2-40B4-BE49-F238E27FC236}">
                <a16:creationId xmlns:a16="http://schemas.microsoft.com/office/drawing/2014/main" id="{48F4D9AC-84F5-42E5-A9A9-C1D47BC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716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Reindent</a:t>
            </a:r>
          </a:p>
        </p:txBody>
      </p:sp>
      <p:sp>
        <p:nvSpPr>
          <p:cNvPr id="24" name="gt-copy-3">
            <a:extLst xmlns:a="http://schemas.openxmlformats.org/drawingml/2006/main">
              <a:ext uri="{FF2B5EF4-FFF2-40B4-BE49-F238E27FC236}">
                <a16:creationId xmlns:a16="http://schemas.microsoft.com/office/drawing/2014/main" id="{BE4FB4DE-6609-4557-B398-3089FA96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765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Should continuous effects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remain one interval?</a:t>
            </a:r>
          </a:p>
        </p:txBody>
      </p:sp>
      <p:sp>
        <p:nvSpPr>
          <p:cNvPr id="25" name="gt-result-3">
            <a:extLst xmlns:a="http://schemas.openxmlformats.org/drawingml/2006/main">
              <a:ext uri="{FF2B5EF4-FFF2-40B4-BE49-F238E27FC236}">
                <a16:creationId xmlns:a16="http://schemas.microsoft.com/office/drawing/2014/main" id="{F3DD9BAA-F171-49DA-9803-521F98E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DECISION NEEDED</a:t>
            </a:r>
          </a:p>
        </p:txBody>
      </p:sp>
      <p:sp>
        <p:nvSpPr>
          <p:cNvPr id="26" name="gt-principle">
            <a:extLst xmlns:a="http://schemas.openxmlformats.org/drawingml/2006/main">
              <a:ext uri="{FF2B5EF4-FFF2-40B4-BE49-F238E27FC236}">
                <a16:creationId xmlns:a16="http://schemas.microsoft.com/office/drawing/2014/main" id="{B795FD0D-DFDF-456C-873C-7BB6401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Principle: detector output is immutable; only justified references are recomputed and rescored.</a:t>
            </a:r>
          </a:p>
        </p:txBody>
      </p:sp>
    </p:spTree>
    <p:extLst>
      <p:ext uri="{BB962C8B-B14F-4D97-AF65-F5344CB8AC3E}">
        <p14:creationId xmlns:p14="http://schemas.microsoft.com/office/powerpoint/2010/main" val="598691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A9A6A5BB-AFC9-436A-9116-2E1A9FC7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3,000 formal pairs completed the full semantic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B02D2-A4B1-4B14-B295-F35A1F8D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3-footer-left">
            <a:extLst xmlns:a="http://schemas.openxmlformats.org/drawingml/2006/main">
              <a:ext uri="{FF2B5EF4-FFF2-40B4-BE49-F238E27FC236}">
                <a16:creationId xmlns:a16="http://schemas.microsoft.com/office/drawing/2014/main" id="{999910D0-8B52-4C64-9B05-45CFFCCB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3-footer-page">
            <a:extLst xmlns:a="http://schemas.openxmlformats.org/drawingml/2006/main">
              <a:ext uri="{FF2B5EF4-FFF2-40B4-BE49-F238E27FC236}">
                <a16:creationId xmlns:a16="http://schemas.microsoft.com/office/drawing/2014/main" id="{72AEDA74-E59D-48BC-BA13-0139CA4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formal-summary">
            <a:extLst xmlns:a="http://schemas.openxmlformats.org/drawingml/2006/main">
              <a:ext uri="{FF2B5EF4-FFF2-40B4-BE49-F238E27FC236}">
                <a16:creationId xmlns:a16="http://schemas.microsoft.com/office/drawing/2014/main" id="{0A1EFBE7-BF0B-4A2D-AE73-4CBBFA2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Batches 1–3 are complete; batch 4 is running. All completed pairs used the same semantic analysis mode.</a:t>
            </a:r>
          </a:p>
        </p:txBody>
      </p:sp>
      <p:sp>
        <p:nvSpPr>
          <p:cNvPr id="6" name="metric-completed pairs">
            <a:extLst xmlns:a="http://schemas.openxmlformats.org/drawingml/2006/main">
              <a:ext uri="{FF2B5EF4-FFF2-40B4-BE49-F238E27FC236}">
                <a16:creationId xmlns:a16="http://schemas.microsoft.com/office/drawing/2014/main" id="{9F15EAF9-D037-440B-A886-BA07BBB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5623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accent-completed pairs">
            <a:extLst xmlns:a="http://schemas.openxmlformats.org/drawingml/2006/main">
              <a:ext uri="{FF2B5EF4-FFF2-40B4-BE49-F238E27FC236}">
                <a16:creationId xmlns:a16="http://schemas.microsoft.com/office/drawing/2014/main" id="{433F61B1-8BF1-49E2-9945-59DEA90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completed pairs">
            <a:extLst xmlns:a="http://schemas.openxmlformats.org/drawingml/2006/main">
              <a:ext uri="{FF2B5EF4-FFF2-40B4-BE49-F238E27FC236}">
                <a16:creationId xmlns:a16="http://schemas.microsoft.com/office/drawing/2014/main" id="{4F87AE31-0AF6-492D-90D7-60B4BD0F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3,000</a:t>
            </a:r>
          </a:p>
        </p:txBody>
      </p:sp>
      <p:sp>
        <p:nvSpPr>
          <p:cNvPr id="9" name="metric-label-completed pairs">
            <a:extLst xmlns:a="http://schemas.openxmlformats.org/drawingml/2006/main">
              <a:ext uri="{FF2B5EF4-FFF2-40B4-BE49-F238E27FC236}">
                <a16:creationId xmlns:a16="http://schemas.microsoft.com/office/drawing/2014/main" id="{F778D241-C99A-4031-9308-1FA9DA2E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completed pairs</a:t>
            </a:r>
          </a:p>
        </p:txBody>
      </p:sp>
      <p:sp>
        <p:nvSpPr>
          <p:cNvPr id="10" name="metric-scored references">
            <a:extLst xmlns:a="http://schemas.openxmlformats.org/drawingml/2006/main">
              <a:ext uri="{FF2B5EF4-FFF2-40B4-BE49-F238E27FC236}">
                <a16:creationId xmlns:a16="http://schemas.microsoft.com/office/drawing/2014/main" id="{9F726CC3-EFA3-498F-A199-44AB8E6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accent-scored references">
            <a:extLst xmlns:a="http://schemas.openxmlformats.org/drawingml/2006/main">
              <a:ext uri="{FF2B5EF4-FFF2-40B4-BE49-F238E27FC236}">
                <a16:creationId xmlns:a16="http://schemas.microsoft.com/office/drawing/2014/main" id="{DC24C5B4-E0EE-49EB-A443-854C927F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scored references">
            <a:extLst xmlns:a="http://schemas.openxmlformats.org/drawingml/2006/main">
              <a:ext uri="{FF2B5EF4-FFF2-40B4-BE49-F238E27FC236}">
                <a16:creationId xmlns:a16="http://schemas.microsoft.com/office/drawing/2014/main" id="{C79FFE93-5C77-4B7F-B0D6-1F22AA2A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9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59A89"/>
                </a:solidFill>
                <a:latin typeface="Helvetica Neue"/>
                <a:ea typeface="Helvetica Neue"/>
                <a:cs typeface="Helvetica Neue"/>
              </a:rPr>
              <a:t>12,002</a:t>
            </a:r>
          </a:p>
        </p:txBody>
      </p:sp>
      <p:sp>
        <p:nvSpPr>
          <p:cNvPr id="13" name="metric-label-scored references">
            <a:extLst xmlns:a="http://schemas.openxmlformats.org/drawingml/2006/main">
              <a:ext uri="{FF2B5EF4-FFF2-40B4-BE49-F238E27FC236}">
                <a16:creationId xmlns:a16="http://schemas.microsoft.com/office/drawing/2014/main" id="{AEF3FFDC-201D-49B6-BBD1-5B3D48B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386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scored references</a:t>
            </a:r>
          </a:p>
        </p:txBody>
      </p:sp>
      <p:sp>
        <p:nvSpPr>
          <p:cNvPr id="14" name="metric-fallbacks">
            <a:extLst xmlns:a="http://schemas.openxmlformats.org/drawingml/2006/main">
              <a:ext uri="{FF2B5EF4-FFF2-40B4-BE49-F238E27FC236}">
                <a16:creationId xmlns:a16="http://schemas.microsoft.com/office/drawing/2014/main" id="{163707D0-12F3-49A8-AB89-B1EE967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5623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accent-fallbacks">
            <a:extLst xmlns:a="http://schemas.openxmlformats.org/drawingml/2006/main">
              <a:ext uri="{FF2B5EF4-FFF2-40B4-BE49-F238E27FC236}">
                <a16:creationId xmlns:a16="http://schemas.microsoft.com/office/drawing/2014/main" id="{695AD402-CCC9-454B-8EA9-6CD5FDA4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fallbacks">
            <a:extLst xmlns:a="http://schemas.openxmlformats.org/drawingml/2006/main">
              <a:ext uri="{FF2B5EF4-FFF2-40B4-BE49-F238E27FC236}">
                <a16:creationId xmlns:a16="http://schemas.microsoft.com/office/drawing/2014/main" id="{A2DF0FD4-E9EC-46F1-AD10-40CB85A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7" name="metric-label-fallbacks">
            <a:extLst xmlns:a="http://schemas.openxmlformats.org/drawingml/2006/main">
              <a:ext uri="{FF2B5EF4-FFF2-40B4-BE49-F238E27FC236}">
                <a16:creationId xmlns:a16="http://schemas.microsoft.com/office/drawing/2014/main" id="{5E8EEA18-8DB8-4E10-B304-EE769AB2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386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fallbacks</a:t>
            </a:r>
          </a:p>
        </p:txBody>
      </p:sp>
      <p:sp>
        <p:nvSpPr>
          <p:cNvPr id="18" name="formal-foot">
            <a:extLst xmlns:a="http://schemas.openxmlformats.org/drawingml/2006/main">
              <a:ext uri="{FF2B5EF4-FFF2-40B4-BE49-F238E27FC236}">
                <a16:creationId xmlns:a16="http://schemas.microsoft.com/office/drawing/2014/main" id="{22DFD103-FAE4-43F7-B59E-679CF691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244 CodeNet problems · every completed record status=ok · SOURCE_PLUS_WALA_SMT</a:t>
            </a:r>
          </a:p>
        </p:txBody>
      </p:sp>
    </p:spTree>
    <p:extLst>
      <p:ext uri="{BB962C8B-B14F-4D97-AF65-F5344CB8AC3E}">
        <p14:creationId xmlns:p14="http://schemas.microsoft.com/office/powerpoint/2010/main" val="1818046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264AD207-C286-4F22-817D-C03A1C9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Statement edits classify well; layout changes do 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3194-DEB1-4DB1-8694-E5295C3E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4-footer-left">
            <a:extLst xmlns:a="http://schemas.openxmlformats.org/drawingml/2006/main">
              <a:ext uri="{FF2B5EF4-FFF2-40B4-BE49-F238E27FC236}">
                <a16:creationId xmlns:a16="http://schemas.microsoft.com/office/drawing/2014/main" id="{48FA99A2-F71E-4FA4-8E67-49041E9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4-footer-page">
            <a:extLst xmlns:a="http://schemas.openxmlformats.org/drawingml/2006/main">
              <a:ext uri="{FF2B5EF4-FFF2-40B4-BE49-F238E27FC236}">
                <a16:creationId xmlns:a16="http://schemas.microsoft.com/office/drawing/2014/main" id="{30F48FAA-4664-4AF3-B742-1A81DD27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7762875" cy="481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fa8d838cce45fc"/>
          </a:graphicData>
        </a:graphic>
      </p:graphicFrame>
      <p:sp>
        <p:nvSpPr>
          <p:cNvPr id="6" name="op-stable">
            <a:extLst xmlns:a="http://schemas.openxmlformats.org/drawingml/2006/main">
              <a:ext uri="{FF2B5EF4-FFF2-40B4-BE49-F238E27FC236}">
                <a16:creationId xmlns:a16="http://schemas.microsoft.com/office/drawing/2014/main" id="{4805B68F-3ABD-46DD-9BCF-8B9E906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STABLE</a:t>
            </a:r>
          </a:p>
        </p:txBody>
      </p:sp>
      <p:sp>
        <p:nvSpPr>
          <p:cNvPr id="7" name="op-stable-body">
            <a:extLst xmlns:a="http://schemas.openxmlformats.org/drawingml/2006/main">
              <a:ext uri="{FF2B5EF4-FFF2-40B4-BE49-F238E27FC236}">
                <a16:creationId xmlns:a16="http://schemas.microsoft.com/office/drawing/2014/main" id="{1C2E1E09-FC7F-4088-A71B-0D036BA5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Literals, rename, and corrected wrap are ~98–100%.</a:t>
            </a:r>
          </a:p>
        </p:txBody>
      </p:sp>
      <p:sp>
        <p:nvSpPr>
          <p:cNvPr id="8" name="op-review">
            <a:extLst xmlns:a="http://schemas.openxmlformats.org/drawingml/2006/main">
              <a:ext uri="{FF2B5EF4-FFF2-40B4-BE49-F238E27FC236}">
                <a16:creationId xmlns:a16="http://schemas.microsoft.com/office/drawing/2014/main" id="{7E5E7DCB-EF00-41A7-882C-D4C64351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9" name="op-review-body">
            <a:extLst xmlns:a="http://schemas.openxmlformats.org/drawingml/2006/main">
              <a:ext uri="{FF2B5EF4-FFF2-40B4-BE49-F238E27FC236}">
                <a16:creationId xmlns:a16="http://schemas.microsoft.com/office/drawing/2014/main" id="{546681CE-AF75-48D7-88F1-0D61D062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861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Insert/delete reflect corpus artifacts; reindent depends on the open GT rule.</a:t>
            </a:r>
          </a:p>
        </p:txBody>
      </p:sp>
      <p:sp>
        <p:nvSpPr>
          <p:cNvPr id="10" name="op-boundary">
            <a:extLst xmlns:a="http://schemas.openxmlformats.org/drawingml/2006/main">
              <a:ext uri="{FF2B5EF4-FFF2-40B4-BE49-F238E27FC236}">
                <a16:creationId xmlns:a16="http://schemas.microsoft.com/office/drawing/2014/main" id="{F4463F7D-90A5-4DA4-9970-3D1647B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958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OUT OF UNIT</a:t>
            </a:r>
          </a:p>
        </p:txBody>
      </p:sp>
      <p:sp>
        <p:nvSpPr>
          <p:cNvPr id="11" name="op-boundary-body">
            <a:extLst xmlns:a="http://schemas.openxmlformats.org/drawingml/2006/main">
              <a:ext uri="{FF2B5EF4-FFF2-40B4-BE49-F238E27FC236}">
                <a16:creationId xmlns:a16="http://schemas.microsoft.com/office/drawing/2014/main" id="{932D44BB-FAFF-4B21-BCC5-10D3B48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387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Blank and comment-only lines are not statements, so no sub-region exists.</a:t>
            </a:r>
          </a:p>
        </p:txBody>
      </p:sp>
    </p:spTree>
    <p:extLst>
      <p:ext uri="{BB962C8B-B14F-4D97-AF65-F5344CB8AC3E}">
        <p14:creationId xmlns:p14="http://schemas.microsoft.com/office/powerpoint/2010/main" val="1534552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609D151-EC0E-43A8-8EE6-E20CA71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Negative pairs separate errors from exploratory T4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5EF04-D381-4E92-80F2-8FBE645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5-footer-left">
            <a:extLst xmlns:a="http://schemas.openxmlformats.org/drawingml/2006/main">
              <a:ext uri="{FF2B5EF4-FFF2-40B4-BE49-F238E27FC236}">
                <a16:creationId xmlns:a16="http://schemas.microsoft.com/office/drawing/2014/main" id="{D1790C6F-7403-48F9-8D4A-C4B3A8E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5-footer-page">
            <a:extLst xmlns:a="http://schemas.openxmlformats.org/drawingml/2006/main">
              <a:ext uri="{FF2B5EF4-FFF2-40B4-BE49-F238E27FC236}">
                <a16:creationId xmlns:a16="http://schemas.microsoft.com/office/drawing/2014/main" id="{52BD36C0-4400-46FC-BA6C-DBA4A41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metric-no output">
            <a:extLst xmlns:a="http://schemas.openxmlformats.org/drawingml/2006/main">
              <a:ext uri="{FF2B5EF4-FFF2-40B4-BE49-F238E27FC236}">
                <a16:creationId xmlns:a16="http://schemas.microsoft.com/office/drawing/2014/main" id="{94CD19D2-9D2C-491B-A8E8-49AFDFFD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86125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-no output">
            <a:extLst xmlns:a="http://schemas.openxmlformats.org/drawingml/2006/main">
              <a:ext uri="{FF2B5EF4-FFF2-40B4-BE49-F238E27FC236}">
                <a16:creationId xmlns:a16="http://schemas.microsoft.com/office/drawing/2014/main" id="{216FA49F-B78B-47C7-9190-19B163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no output">
            <a:extLst xmlns:a="http://schemas.openxmlformats.org/drawingml/2006/main">
              <a:ext uri="{FF2B5EF4-FFF2-40B4-BE49-F238E27FC236}">
                <a16:creationId xmlns:a16="http://schemas.microsoft.com/office/drawing/2014/main" id="{CF74EE2C-08FB-4BB5-8FCF-41B675F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81 / 100</a:t>
            </a:r>
          </a:p>
        </p:txBody>
      </p:sp>
      <p:sp>
        <p:nvSpPr>
          <p:cNvPr id="8" name="metric-label-no output">
            <a:extLst xmlns:a="http://schemas.openxmlformats.org/drawingml/2006/main">
              <a:ext uri="{FF2B5EF4-FFF2-40B4-BE49-F238E27FC236}">
                <a16:creationId xmlns:a16="http://schemas.microsoft.com/office/drawing/2014/main" id="{89BB2C38-E8DF-4D69-81B8-C4AA3AE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771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 output</a:t>
            </a:r>
          </a:p>
        </p:txBody>
      </p:sp>
      <p:sp>
        <p:nvSpPr>
          <p:cNvPr id="9" name="metric-any output">
            <a:extLst xmlns:a="http://schemas.openxmlformats.org/drawingml/2006/main">
              <a:ext uri="{FF2B5EF4-FFF2-40B4-BE49-F238E27FC236}">
                <a16:creationId xmlns:a16="http://schemas.microsoft.com/office/drawing/2014/main" id="{5AC639C0-C73F-4D21-B843-2ABA2EC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286125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accent-any output">
            <a:extLst xmlns:a="http://schemas.openxmlformats.org/drawingml/2006/main">
              <a:ext uri="{FF2B5EF4-FFF2-40B4-BE49-F238E27FC236}">
                <a16:creationId xmlns:a16="http://schemas.microsoft.com/office/drawing/2014/main" id="{1BDA25F6-4A15-4FAA-979C-F2814BF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any output">
            <a:extLst xmlns:a="http://schemas.openxmlformats.org/drawingml/2006/main">
              <a:ext uri="{FF2B5EF4-FFF2-40B4-BE49-F238E27FC236}">
                <a16:creationId xmlns:a16="http://schemas.microsoft.com/office/drawing/2014/main" id="{7714CFF5-7131-4847-89C4-F59A32A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D99024"/>
                </a:solidFill>
                <a:latin typeface="Helvetica Neue"/>
                <a:ea typeface="Helvetica Neue"/>
                <a:cs typeface="Helvetica Neue"/>
              </a:rPr>
              <a:t>19 / 100</a:t>
            </a:r>
          </a:p>
        </p:txBody>
      </p:sp>
      <p:sp>
        <p:nvSpPr>
          <p:cNvPr id="12" name="metric-label-any output">
            <a:extLst xmlns:a="http://schemas.openxmlformats.org/drawingml/2006/main">
              <a:ext uri="{FF2B5EF4-FFF2-40B4-BE49-F238E27FC236}">
                <a16:creationId xmlns:a16="http://schemas.microsoft.com/office/drawing/2014/main" id="{0D9C3640-872A-4033-A99E-99697186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67050"/>
            <a:ext cx="2771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any output</a:t>
            </a:r>
          </a:p>
        </p:txBody>
      </p:sp>
      <p:sp>
        <p:nvSpPr>
          <p:cNvPr id="13" name="metric-claimed T1/T2/T3">
            <a:extLst xmlns:a="http://schemas.openxmlformats.org/drawingml/2006/main">
              <a:ext uri="{FF2B5EF4-FFF2-40B4-BE49-F238E27FC236}">
                <a16:creationId xmlns:a16="http://schemas.microsoft.com/office/drawing/2014/main" id="{0FE37963-0EF7-44A3-9344-714B9A74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3286125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accent-claimed T1/T2/T3">
            <a:extLst xmlns:a="http://schemas.openxmlformats.org/drawingml/2006/main">
              <a:ext uri="{FF2B5EF4-FFF2-40B4-BE49-F238E27FC236}">
                <a16:creationId xmlns:a16="http://schemas.microsoft.com/office/drawing/2014/main" id="{E3187CB2-D036-47F2-B467-5CD32B8B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95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value-claimed T1/T2/T3">
            <a:extLst xmlns:a="http://schemas.openxmlformats.org/drawingml/2006/main">
              <a:ext uri="{FF2B5EF4-FFF2-40B4-BE49-F238E27FC236}">
                <a16:creationId xmlns:a16="http://schemas.microsoft.com/office/drawing/2014/main" id="{B365BAED-D397-4F83-A4A9-41CDC0A2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2 / 100</a:t>
            </a:r>
          </a:p>
        </p:txBody>
      </p:sp>
      <p:sp>
        <p:nvSpPr>
          <p:cNvPr id="16" name="metric-label-claimed T1/T2/T3">
            <a:extLst xmlns:a="http://schemas.openxmlformats.org/drawingml/2006/main">
              <a:ext uri="{FF2B5EF4-FFF2-40B4-BE49-F238E27FC236}">
                <a16:creationId xmlns:a16="http://schemas.microsoft.com/office/drawing/2014/main" id="{568738D0-0476-47D6-B41E-7327426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771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claimed T1/T2/T3</a:t>
            </a:r>
          </a:p>
        </p:txBody>
      </p:sp>
      <p:sp>
        <p:nvSpPr>
          <p:cNvPr id="17" name="negative-interpretation">
            <a:extLst xmlns:a="http://schemas.openxmlformats.org/drawingml/2006/main">
              <a:ext uri="{FF2B5EF4-FFF2-40B4-BE49-F238E27FC236}">
                <a16:creationId xmlns:a16="http://schemas.microsoft.com/office/drawing/2014/main" id="{865926AE-DCD9-4970-A695-AA9AAF0A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14014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egative-head">
            <a:extLst xmlns:a="http://schemas.openxmlformats.org/drawingml/2006/main">
              <a:ext uri="{FF2B5EF4-FFF2-40B4-BE49-F238E27FC236}">
                <a16:creationId xmlns:a16="http://schemas.microsoft.com/office/drawing/2014/main" id="{522C8BBF-BADB-43D6-9564-D5BBFD0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9" name="negative-body">
            <a:extLst xmlns:a="http://schemas.openxmlformats.org/drawingml/2006/main">
              <a:ext uri="{FF2B5EF4-FFF2-40B4-BE49-F238E27FC236}">
                <a16:creationId xmlns:a16="http://schemas.microsoft.com/office/drawing/2014/main" id="{7B45E507-3020-409E-9A86-54694758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Most extra outputs are POSSIBLE_T4_CANDIDATE regions caused by shared competition-code I/O scaffolding. They must be reported separately from confirmed clones and syntactic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692901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5B9FB50E-1A64-4EB2-A2B5-66295E35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Current evidence supports a narrow, useful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605D6-FFC8-4E39-98A3-82431330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6-footer-left">
            <a:extLst xmlns:a="http://schemas.openxmlformats.org/drawingml/2006/main">
              <a:ext uri="{FF2B5EF4-FFF2-40B4-BE49-F238E27FC236}">
                <a16:creationId xmlns:a16="http://schemas.microsoft.com/office/drawing/2014/main" id="{14EB7A4C-67FE-4435-93C5-256E7A5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DRAFT · TESTING DESIGN UPDATE · 29 JUL 2026</a:t>
            </a:r>
          </a:p>
        </p:txBody>
      </p:sp>
      <p:sp>
        <p:nvSpPr>
          <p:cNvPr id="4" name="slide-16-footer-page">
            <a:extLst xmlns:a="http://schemas.openxmlformats.org/drawingml/2006/main">
              <a:ext uri="{FF2B5EF4-FFF2-40B4-BE49-F238E27FC236}">
                <a16:creationId xmlns:a16="http://schemas.microsoft.com/office/drawing/2014/main" id="{BCAF9FF5-8B98-4ED1-A68F-9E173C5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can-label">
            <a:extLst xmlns:a="http://schemas.openxmlformats.org/drawingml/2006/main">
              <a:ext uri="{FF2B5EF4-FFF2-40B4-BE49-F238E27FC236}">
                <a16:creationId xmlns:a16="http://schemas.microsoft.com/office/drawing/2014/main" id="{67AF702E-C7D0-49D4-8A8A-08ED99E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9D62"/>
                </a:solidFill>
                <a:latin typeface="Helvetica Neue"/>
                <a:ea typeface="Helvetica Neue"/>
                <a:cs typeface="Helvetica Neue"/>
              </a:rPr>
              <a:t>SUPPORTED NOW</a:t>
            </a:r>
          </a:p>
        </p:txBody>
      </p:sp>
      <p:sp>
        <p:nvSpPr>
          <p:cNvPr id="6" name="cannot-label">
            <a:extLst xmlns:a="http://schemas.openxmlformats.org/drawingml/2006/main">
              <a:ext uri="{FF2B5EF4-FFF2-40B4-BE49-F238E27FC236}">
                <a16:creationId xmlns:a16="http://schemas.microsoft.com/office/drawing/2014/main" id="{897650A5-5B18-45F0-A594-34E4673B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04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94747"/>
                </a:solidFill>
                <a:latin typeface="Helvetica Neue"/>
                <a:ea typeface="Helvetica Neue"/>
                <a:cs typeface="Helvetica Neue"/>
              </a:rPr>
              <a:t>NOT YET SUPPORTED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4D831-A7B2-4C54-9FF1-0F08BC0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bullet-220-0">
            <a:extLst xmlns:a="http://schemas.openxmlformats.org/drawingml/2006/main">
              <a:ext uri="{FF2B5EF4-FFF2-40B4-BE49-F238E27FC236}">
                <a16:creationId xmlns:a16="http://schemas.microsoft.com/office/drawing/2014/main" id="{0CCC54A1-A373-46F3-8941-0D7BB91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220-0">
            <a:extLst xmlns:a="http://schemas.openxmlformats.org/drawingml/2006/main">
              <a:ext uri="{FF2B5EF4-FFF2-40B4-BE49-F238E27FC236}">
                <a16:creationId xmlns:a16="http://schemas.microsoft.com/office/drawing/2014/main" id="{F792E4AC-CD3E-4D5E-8B58-810888D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955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Auditable pairwise region scoring</a:t>
            </a:r>
          </a:p>
        </p:txBody>
      </p:sp>
      <p:sp>
        <p:nvSpPr>
          <p:cNvPr id="10" name="bullet-220-1">
            <a:extLst xmlns:a="http://schemas.openxmlformats.org/drawingml/2006/main">
              <a:ext uri="{FF2B5EF4-FFF2-40B4-BE49-F238E27FC236}">
                <a16:creationId xmlns:a16="http://schemas.microsoft.com/office/drawing/2014/main" id="{14EEDF24-DF0A-4E9A-84F5-DAEA8F7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20-1">
            <a:extLst xmlns:a="http://schemas.openxmlformats.org/drawingml/2006/main">
              <a:ext uri="{FF2B5EF4-FFF2-40B4-BE49-F238E27FC236}">
                <a16:creationId xmlns:a16="http://schemas.microsoft.com/office/drawing/2014/main" id="{FA974A6B-F429-4421-9600-EA84D138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2892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Strong T1/T2/T3 attribution under isolated edits</a:t>
            </a:r>
          </a:p>
        </p:txBody>
      </p:sp>
      <p:sp>
        <p:nvSpPr>
          <p:cNvPr id="12" name="bullet-220-2">
            <a:extLst xmlns:a="http://schemas.openxmlformats.org/drawingml/2006/main">
              <a:ext uri="{FF2B5EF4-FFF2-40B4-BE49-F238E27FC236}">
                <a16:creationId xmlns:a16="http://schemas.microsoft.com/office/drawing/2014/main" id="{D1BA56AB-88FC-4407-9860-68D86CDB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20-2">
            <a:extLst xmlns:a="http://schemas.openxmlformats.org/drawingml/2006/main">
              <a:ext uri="{FF2B5EF4-FFF2-40B4-BE49-F238E27FC236}">
                <a16:creationId xmlns:a16="http://schemas.microsoft.com/office/drawing/2014/main" id="{8C9DB1C0-679B-472F-9628-7B3491D0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Line-level localization for literals and statements</a:t>
            </a:r>
          </a:p>
        </p:txBody>
      </p:sp>
      <p:sp>
        <p:nvSpPr>
          <p:cNvPr id="14" name="bullet-220-3">
            <a:extLst xmlns:a="http://schemas.openxmlformats.org/drawingml/2006/main">
              <a:ext uri="{FF2B5EF4-FFF2-40B4-BE49-F238E27FC236}">
                <a16:creationId xmlns:a16="http://schemas.microsoft.com/office/drawing/2014/main" id="{9550765F-228D-4222-8664-B378E405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220-3">
            <a:extLst xmlns:a="http://schemas.openxmlformats.org/drawingml/2006/main">
              <a:ext uri="{FF2B5EF4-FFF2-40B4-BE49-F238E27FC236}">
                <a16:creationId xmlns:a16="http://schemas.microsoft.com/office/drawing/2014/main" id="{F21E5C13-D4A3-4A53-BA6D-BDC7B2F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957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Zero fallback in the formal controlled corpus</a:t>
            </a:r>
          </a:p>
        </p:txBody>
      </p:sp>
      <p:sp>
        <p:nvSpPr>
          <p:cNvPr id="16" name="bullet-220-0">
            <a:extLst xmlns:a="http://schemas.openxmlformats.org/drawingml/2006/main">
              <a:ext uri="{FF2B5EF4-FFF2-40B4-BE49-F238E27FC236}">
                <a16:creationId xmlns:a16="http://schemas.microsoft.com/office/drawing/2014/main" id="{97DB50C6-FD01-442B-B089-5E908708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812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220-0">
            <a:extLst xmlns:a="http://schemas.openxmlformats.org/drawingml/2006/main">
              <a:ext uri="{FF2B5EF4-FFF2-40B4-BE49-F238E27FC236}">
                <a16:creationId xmlns:a16="http://schemas.microsoft.com/office/drawing/2014/main" id="{EBD31F3F-7907-4FFF-8EC9-4DBEA7BD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955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General repository-search recall</a:t>
            </a:r>
          </a:p>
        </p:txBody>
      </p:sp>
      <p:sp>
        <p:nvSpPr>
          <p:cNvPr id="18" name="bullet-220-1">
            <a:extLst xmlns:a="http://schemas.openxmlformats.org/drawingml/2006/main">
              <a:ext uri="{FF2B5EF4-FFF2-40B4-BE49-F238E27FC236}">
                <a16:creationId xmlns:a16="http://schemas.microsoft.com/office/drawing/2014/main" id="{45B74073-C42C-4F67-89A7-FC7D484B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220-1">
            <a:extLst xmlns:a="http://schemas.openxmlformats.org/drawingml/2006/main">
              <a:ext uri="{FF2B5EF4-FFF2-40B4-BE49-F238E27FC236}">
                <a16:creationId xmlns:a16="http://schemas.microsoft.com/office/drawing/2014/main" id="{E556661C-1AE1-4E41-A003-6A10BB0F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2892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Final clean-room BigCloneBench results</a:t>
            </a:r>
          </a:p>
        </p:txBody>
      </p:sp>
      <p:sp>
        <p:nvSpPr>
          <p:cNvPr id="20" name="bullet-220-2">
            <a:extLst xmlns:a="http://schemas.openxmlformats.org/drawingml/2006/main">
              <a:ext uri="{FF2B5EF4-FFF2-40B4-BE49-F238E27FC236}">
                <a16:creationId xmlns:a16="http://schemas.microsoft.com/office/drawing/2014/main" id="{A1776E9B-5917-40E0-A8D7-05E4781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text-220-2">
            <a:extLst xmlns:a="http://schemas.openxmlformats.org/drawingml/2006/main">
              <a:ext uri="{FF2B5EF4-FFF2-40B4-BE49-F238E27FC236}">
                <a16:creationId xmlns:a16="http://schemas.microsoft.com/office/drawing/2014/main" id="{526DF014-5BC0-4283-8839-1E8DDC1F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6235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Broad T4 effectiveness</a:t>
            </a:r>
          </a:p>
        </p:txBody>
      </p:sp>
      <p:sp>
        <p:nvSpPr>
          <p:cNvPr id="22" name="bullet-220-3">
            <a:extLst xmlns:a="http://schemas.openxmlformats.org/drawingml/2006/main">
              <a:ext uri="{FF2B5EF4-FFF2-40B4-BE49-F238E27FC236}">
                <a16:creationId xmlns:a16="http://schemas.microsoft.com/office/drawing/2014/main" id="{B466E49E-F047-4A6E-84DE-48B4E43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text-220-3">
            <a:extLst xmlns:a="http://schemas.openxmlformats.org/drawingml/2006/main">
              <a:ext uri="{FF2B5EF4-FFF2-40B4-BE49-F238E27FC236}">
                <a16:creationId xmlns:a16="http://schemas.microsoft.com/office/drawing/2014/main" id="{936AEE81-13EC-4E9A-98CC-3C72BD1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957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Final specificity or formal performance</a:t>
            </a:r>
          </a:p>
        </p:txBody>
      </p:sp>
    </p:spTree>
    <p:extLst>
      <p:ext uri="{BB962C8B-B14F-4D97-AF65-F5344CB8AC3E}">
        <p14:creationId xmlns:p14="http://schemas.microsoft.com/office/powerpoint/2010/main" val="11181188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10DBFA8-CCB4-4A2D-8A53-3EFFD862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B1E1B98-BCFE-4259-9EBA-18C849D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testing framework is ready.</a:t>
            </a:r>
          </a:p>
          <a:p xmlns:a="http://schemas.openxmlformats.org/drawingml/2006/main">
            <a:pPr algn="l">
              <a:defRPr sz="38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next value comes from breadth—not another headline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57750-6FA6-4F3E-A56E-F67D531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" name="close-prompt">
            <a:extLst xmlns:a="http://schemas.openxmlformats.org/drawingml/2006/main">
              <a:ext uri="{FF2B5EF4-FFF2-40B4-BE49-F238E27FC236}">
                <a16:creationId xmlns:a16="http://schemas.microsoft.com/office/drawing/2014/main" id="{88F91AE7-387C-4277-953B-679DEC0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Decisions to discuss</a:t>
            </a:r>
          </a:p>
        </p:txBody>
      </p:sp>
      <p:sp>
        <p:nvSpPr>
          <p:cNvPr id="5" name="bullet-470-0">
            <a:extLst xmlns:a="http://schemas.openxmlformats.org/drawingml/2006/main">
              <a:ext uri="{FF2B5EF4-FFF2-40B4-BE49-F238E27FC236}">
                <a16:creationId xmlns:a16="http://schemas.microsoft.com/office/drawing/2014/main" id="{90E062C8-D6AF-4C8E-A92D-AF071CE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470-0">
            <a:extLst xmlns:a="http://schemas.openxmlformats.org/drawingml/2006/main">
              <a:ext uri="{FF2B5EF4-FFF2-40B4-BE49-F238E27FC236}">
                <a16:creationId xmlns:a16="http://schemas.microsoft.com/office/drawing/2014/main" id="{5EA3F66D-83D1-4413-B2FA-A99B17F6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Approve the operator-specific Round-4 ground-truth rule.</a:t>
            </a:r>
          </a:p>
        </p:txBody>
      </p:sp>
      <p:sp>
        <p:nvSpPr>
          <p:cNvPr id="7" name="bullet-470-1">
            <a:extLst xmlns:a="http://schemas.openxmlformats.org/drawingml/2006/main">
              <a:ext uri="{FF2B5EF4-FFF2-40B4-BE49-F238E27FC236}">
                <a16:creationId xmlns:a16="http://schemas.microsoft.com/office/drawing/2014/main" id="{EED5D2A2-6584-4289-A00D-1C65E7C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470-1">
            <a:extLst xmlns:a="http://schemas.openxmlformats.org/drawingml/2006/main">
              <a:ext uri="{FF2B5EF4-FFF2-40B4-BE49-F238E27FC236}">
                <a16:creationId xmlns:a16="http://schemas.microsoft.com/office/drawing/2014/main" id="{8F963E4F-1327-494C-B148-93B4CDA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After batch 5, prioritize multi-relationship and negative strata.</a:t>
            </a:r>
          </a:p>
        </p:txBody>
      </p:sp>
      <p:sp>
        <p:nvSpPr>
          <p:cNvPr id="9" name="bullet-470-2">
            <a:extLst xmlns:a="http://schemas.openxmlformats.org/drawingml/2006/main">
              <a:ext uri="{FF2B5EF4-FFF2-40B4-BE49-F238E27FC236}">
                <a16:creationId xmlns:a16="http://schemas.microsoft.com/office/drawing/2014/main" id="{51A92D59-0DB1-4D60-B2CB-CAC7BBC1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292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470-2">
            <a:extLst xmlns:a="http://schemas.openxmlformats.org/drawingml/2006/main">
              <a:ext uri="{FF2B5EF4-FFF2-40B4-BE49-F238E27FC236}">
                <a16:creationId xmlns:a16="http://schemas.microsoft.com/office/drawing/2014/main" id="{D8FC2AE1-E15B-4C2F-A727-CE0B5134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Freeze the scope of clean-room BCB, T4, baselines, and performance work.</a:t>
            </a:r>
          </a:p>
        </p:txBody>
      </p:sp>
      <p:sp>
        <p:nvSpPr>
          <p:cNvPr id="11" name="close-page">
            <a:extLst xmlns:a="http://schemas.openxmlformats.org/drawingml/2006/main">
              <a:ext uri="{FF2B5EF4-FFF2-40B4-BE49-F238E27FC236}">
                <a16:creationId xmlns:a16="http://schemas.microsoft.com/office/drawing/2014/main" id="{29CC7667-F0BA-4D3B-9876-43DEA8D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41612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2026-07-30T03:09:01.4150000Z</dcterms:created>
  <dcterms:modified xsi:type="dcterms:W3CDTF">2026-07-30T03:09:01.4160000Z</dcterms:modified>
</coreProperties>
</file>