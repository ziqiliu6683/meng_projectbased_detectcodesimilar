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9561b314aa4bb2" /><Relationship Type="http://schemas.openxmlformats.org/officeDocument/2006/relationships/extended-properties" Target="/docProps/app.xml" Id="R4371f27b9f704aef" /><Relationship Type="http://schemas.openxmlformats.org/officeDocument/2006/relationships/officeDocument" Target="/ppt/presentation.xml" Id="R87c76ee1324c4e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21ee4f1ae45f5"/>
  </p:sldMasterIdLst>
  <p:notesMasterIdLst>
    <p:notesMasterId xmlns:r="http://schemas.openxmlformats.org/officeDocument/2006/relationships" r:id="R070be619b0e04e93"/>
  </p:notesMasterIdLst>
  <p:sldIdLst>
    <p:sldId xmlns:r="http://schemas.openxmlformats.org/officeDocument/2006/relationships" id="256" r:id="Rfe63bbe9e549400d"/>
    <p:sldId xmlns:r="http://schemas.openxmlformats.org/officeDocument/2006/relationships" id="257" r:id="Rbc68cd7709d74320"/>
    <p:sldId xmlns:r="http://schemas.openxmlformats.org/officeDocument/2006/relationships" id="258" r:id="R111c1d526fbc4149"/>
    <p:sldId xmlns:r="http://schemas.openxmlformats.org/officeDocument/2006/relationships" id="259" r:id="R38a476ed7a164e96"/>
    <p:sldId xmlns:r="http://schemas.openxmlformats.org/officeDocument/2006/relationships" id="260" r:id="R8ede8a0d02cc4fac"/>
    <p:sldId xmlns:r="http://schemas.openxmlformats.org/officeDocument/2006/relationships" id="261" r:id="R4d1d1e53395e4acf"/>
    <p:sldId xmlns:r="http://schemas.openxmlformats.org/officeDocument/2006/relationships" id="262" r:id="R6694bd0d8024445a"/>
    <p:sldId xmlns:r="http://schemas.openxmlformats.org/officeDocument/2006/relationships" id="263" r:id="R936396ffe9f94dfc"/>
    <p:sldId xmlns:r="http://schemas.openxmlformats.org/officeDocument/2006/relationships" id="264" r:id="R3e2181925b324504"/>
    <p:sldId xmlns:r="http://schemas.openxmlformats.org/officeDocument/2006/relationships" id="265" r:id="R97a79fc4cdb84518"/>
    <p:sldId xmlns:r="http://schemas.openxmlformats.org/officeDocument/2006/relationships" id="266" r:id="R438f2bdcb2b54f7b"/>
    <p:sldId xmlns:r="http://schemas.openxmlformats.org/officeDocument/2006/relationships" id="267" r:id="Rbdfb55aa8d924cee"/>
    <p:sldId xmlns:r="http://schemas.openxmlformats.org/officeDocument/2006/relationships" id="268" r:id="Rd5f7274b593e4c03"/>
    <p:sldId xmlns:r="http://schemas.openxmlformats.org/officeDocument/2006/relationships" id="269" r:id="R67e69a579d7c49dc"/>
    <p:sldId xmlns:r="http://schemas.openxmlformats.org/officeDocument/2006/relationships" id="270" r:id="Rc8801844da074a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21ee4f1ae45f5" /><Relationship Type="http://schemas.openxmlformats.org/officeDocument/2006/relationships/theme" Target="/ppt/theme/theme1.xml" Id="Rfa19505dfb1b4b1d" /><Relationship Type="http://schemas.openxmlformats.org/officeDocument/2006/relationships/notesMaster" Target="/ppt/notesMasters/notesMaster1.xml" Id="R070be619b0e04e93" /><Relationship Type="http://schemas.openxmlformats.org/officeDocument/2006/relationships/presProps" Target="/ppt/presProps.xml" Id="R471878f19c5c41b3" /><Relationship Type="http://schemas.openxmlformats.org/officeDocument/2006/relationships/viewProps" Target="/ppt/viewProps.xml" Id="R4a7916c16ee344b8" /><Relationship Type="http://schemas.openxmlformats.org/officeDocument/2006/relationships/tableStyles" Target="/ppt/tableStyles.xml" Id="R28c2045dc9744997" /><Relationship Type="http://schemas.openxmlformats.org/officeDocument/2006/relationships/slide" Target="/ppt/slides/slide1.xml" Id="Rfe63bbe9e549400d" /><Relationship Type="http://schemas.openxmlformats.org/officeDocument/2006/relationships/slide" Target="/ppt/slides/slide2.xml" Id="Rbc68cd7709d74320" /><Relationship Type="http://schemas.openxmlformats.org/officeDocument/2006/relationships/slide" Target="/ppt/slides/slide3.xml" Id="R111c1d526fbc4149" /><Relationship Type="http://schemas.openxmlformats.org/officeDocument/2006/relationships/slide" Target="/ppt/slides/slide4.xml" Id="R38a476ed7a164e96" /><Relationship Type="http://schemas.openxmlformats.org/officeDocument/2006/relationships/slide" Target="/ppt/slides/slide5.xml" Id="R8ede8a0d02cc4fac" /><Relationship Type="http://schemas.openxmlformats.org/officeDocument/2006/relationships/slide" Target="/ppt/slides/slide6.xml" Id="R4d1d1e53395e4acf" /><Relationship Type="http://schemas.openxmlformats.org/officeDocument/2006/relationships/slide" Target="/ppt/slides/slide7.xml" Id="R6694bd0d8024445a" /><Relationship Type="http://schemas.openxmlformats.org/officeDocument/2006/relationships/slide" Target="/ppt/slides/slide8.xml" Id="R936396ffe9f94dfc" /><Relationship Type="http://schemas.openxmlformats.org/officeDocument/2006/relationships/slide" Target="/ppt/slides/slide9.xml" Id="R3e2181925b324504" /><Relationship Type="http://schemas.openxmlformats.org/officeDocument/2006/relationships/slide" Target="/ppt/slides/slide10.xml" Id="R97a79fc4cdb84518" /><Relationship Type="http://schemas.openxmlformats.org/officeDocument/2006/relationships/slide" Target="/ppt/slides/slide11.xml" Id="R438f2bdcb2b54f7b" /><Relationship Type="http://schemas.openxmlformats.org/officeDocument/2006/relationships/slide" Target="/ppt/slides/slide12.xml" Id="Rbdfb55aa8d924cee" /><Relationship Type="http://schemas.openxmlformats.org/officeDocument/2006/relationships/slide" Target="/ppt/slides/slide13.xml" Id="Rd5f7274b593e4c03" /><Relationship Type="http://schemas.openxmlformats.org/officeDocument/2006/relationships/slide" Target="/ppt/slides/slide14.xml" Id="R67e69a579d7c49dc" /><Relationship Type="http://schemas.openxmlformats.org/officeDocument/2006/relationships/slide" Target="/ppt/slides/slide15.xml" Id="Rc8801844da07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d20678c3fed45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c68466b91a424b" /><Relationship Type="http://schemas.openxmlformats.org/officeDocument/2006/relationships/notesMaster" Target="/ppt/notesMasters/notesMaster1.xml" Id="R785b970b7f3c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e7a129ed04c5a" /><Relationship Type="http://schemas.openxmlformats.org/officeDocument/2006/relationships/notesMaster" Target="/ppt/notesMasters/notesMaster1.xml" Id="R79447009d1e744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725dc17d2f46d6" /><Relationship Type="http://schemas.openxmlformats.org/officeDocument/2006/relationships/notesMaster" Target="/ppt/notesMasters/notesMaster1.xml" Id="R7c7300b1f7aa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66e2f64f634c41" /><Relationship Type="http://schemas.openxmlformats.org/officeDocument/2006/relationships/notesMaster" Target="/ppt/notesMasters/notesMaster1.xml" Id="R04c4c2f92c5e48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bec529ad1485d" /><Relationship Type="http://schemas.openxmlformats.org/officeDocument/2006/relationships/notesMaster" Target="/ppt/notesMasters/notesMaster1.xml" Id="Rfeb6027e10c949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02d672bed4281" /><Relationship Type="http://schemas.openxmlformats.org/officeDocument/2006/relationships/notesMaster" Target="/ppt/notesMasters/notesMaster1.xml" Id="R51a48d99794246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743b07225e45d9" /><Relationship Type="http://schemas.openxmlformats.org/officeDocument/2006/relationships/notesMaster" Target="/ppt/notesMasters/notesMaster1.xml" Id="R9d808eef382442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9d312c55e247fb" /><Relationship Type="http://schemas.openxmlformats.org/officeDocument/2006/relationships/notesMaster" Target="/ppt/notesMasters/notesMaster1.xml" Id="R942f88de03fa4d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a1619d9e1e472e" /><Relationship Type="http://schemas.openxmlformats.org/officeDocument/2006/relationships/notesMaster" Target="/ppt/notesMasters/notesMaster1.xml" Id="Rf8b9dda4576c41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c98dba93ce415a" /><Relationship Type="http://schemas.openxmlformats.org/officeDocument/2006/relationships/notesMaster" Target="/ppt/notesMasters/notesMaster1.xml" Id="R2900e16c91c9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327469aac44b1a" /><Relationship Type="http://schemas.openxmlformats.org/officeDocument/2006/relationships/notesMaster" Target="/ppt/notesMasters/notesMaster1.xml" Id="R064831bf6d7d4b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4c4f48866c4bf8" /><Relationship Type="http://schemas.openxmlformats.org/officeDocument/2006/relationships/notesMaster" Target="/ppt/notesMasters/notesMaster1.xml" Id="R284ffad8332744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6802a3b581455a" /><Relationship Type="http://schemas.openxmlformats.org/officeDocument/2006/relationships/notesMaster" Target="/ppt/notesMasters/notesMaster1.xml" Id="R3d968e26c96a49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400fc263a1474c" /><Relationship Type="http://schemas.openxmlformats.org/officeDocument/2006/relationships/notesMaster" Target="/ppt/notesMasters/notesMaster1.xml" Id="R1bc83872bfa843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c23e6961684187" /><Relationship Type="http://schemas.openxmlformats.org/officeDocument/2006/relationships/notesMaster" Target="/ppt/notesMasters/notesMaster1.xml" Id="Rec341e98a200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197b7a81c4a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743db85b9c417a" /><Relationship Type="http://schemas.openxmlformats.org/officeDocument/2006/relationships/slideLayout" Target="/ppt/slideLayouts/slideLayout2.xml" Id="R4d6fad8b250d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fad8b250d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844d155ab4041" /><Relationship Type="http://schemas.openxmlformats.org/officeDocument/2006/relationships/notesSlide" Target="/ppt/notesSlides/notesSlide1.xml" Id="R43165726f661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b8b50ce3e8490f" /><Relationship Type="http://schemas.openxmlformats.org/officeDocument/2006/relationships/notesSlide" Target="/ppt/notesSlides/notesSlide2.xml" Id="R9e6cd7589cb4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ccd3c53064f15" /><Relationship Type="http://schemas.openxmlformats.org/officeDocument/2006/relationships/notesSlide" Target="/ppt/notesSlides/notesSlide3.xml" Id="Rb1679ee8ce3e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b6ed5950e4432" /><Relationship Type="http://schemas.openxmlformats.org/officeDocument/2006/relationships/notesSlide" Target="/ppt/notesSlides/notesSlide4.xml" Id="Ra36603c6f195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2aeddaa82415c" /><Relationship Type="http://schemas.openxmlformats.org/officeDocument/2006/relationships/notesSlide" Target="/ppt/notesSlides/notesSlide5.xml" Id="R419c7a574d7f4e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7209e2cc24f1f" /><Relationship Type="http://schemas.openxmlformats.org/officeDocument/2006/relationships/notesSlide" Target="/ppt/notesSlides/notesSlide6.xml" Id="R23108576df024b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1528d35b44601" /><Relationship Type="http://schemas.openxmlformats.org/officeDocument/2006/relationships/notesSlide" Target="/ppt/notesSlides/notesSlide7.xml" Id="R6d2a637888d5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c06207b2034d4d" /><Relationship Type="http://schemas.openxmlformats.org/officeDocument/2006/relationships/notesSlide" Target="/ppt/notesSlides/notesSlide8.xml" Id="R946b363b0573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7c74b0265a49e1" /><Relationship Type="http://schemas.openxmlformats.org/officeDocument/2006/relationships/notesSlide" Target="/ppt/notesSlides/notesSlide9.xml" Id="R0f9388fb89ad47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c2b4e19914998" /><Relationship Type="http://schemas.openxmlformats.org/officeDocument/2006/relationships/notesSlide" Target="/ppt/notesSlides/notesSlide10.xml" Id="R7e724c8adc994a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3b40670a84b38" /><Relationship Type="http://schemas.openxmlformats.org/officeDocument/2006/relationships/notesSlide" Target="/ppt/notesSlides/notesSlide11.xml" Id="R2dd4825d375140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4c032b2544a11" /><Relationship Type="http://schemas.openxmlformats.org/officeDocument/2006/relationships/notesSlide" Target="/ppt/notesSlides/notesSlide12.xml" Id="R1283af0995c541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159f911db04b7b" /><Relationship Type="http://schemas.openxmlformats.org/officeDocument/2006/relationships/notesSlide" Target="/ppt/notesSlides/notesSlide13.xml" Id="R7cacbbeedd2c48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777262bd24d71" /><Relationship Type="http://schemas.openxmlformats.org/officeDocument/2006/relationships/notesSlide" Target="/ppt/notesSlides/notesSlide14.xml" Id="Re006a9d00d1043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b10688c8c420f" /><Relationship Type="http://schemas.openxmlformats.org/officeDocument/2006/relationships/notesSlide" Target="/ppt/notesSlides/notesSlide15.xml" Id="Rf9596413bb9e47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4B59C-49C4-4ADB-8364-64082C0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D17C80-BFDD-4D13-8648-B2391D2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515079-2DDE-4805-9BE7-4FC45CC5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rPr>
              <a:t>PROJECT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18274-3916-4688-BC6D-57F4BB0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similarity scores to an explainable staged detector.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0E398-B732-4270-BD8D-4E4B567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A review of earlier strategies, the current stage-based design, the web report prototype, and the next research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CD818-FE61-454A-96E1-9F0EA91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A03CB-ADA2-434C-91E5-2EE01B55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00C9-3A71-42C4-8BA7-AF611C6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5129D-5522-4D5E-AB74-9045C781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43E7A-7EAA-41CF-BA3B-9439656B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BD7E8-936C-4C8C-8B99-F0148C4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4C5B1-524C-44FF-BE8A-DD9952E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054B1-FCA2-4666-870A-A2EB21C5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AEE39-6E95-4BE5-AC2A-C6D6783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BC99B-631C-4671-BAD3-9827B0B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55B32-9BBA-40E7-9373-2828E08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A1F64-DB22-4518-9ED2-3A31573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278E9-F71B-4E13-8F83-E2298F44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4946B-4CC9-460C-8BD3-D0EDD787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91FBC-885F-4ED3-AFFF-2F8CBB3F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181D1-4FE2-4440-8DB3-F70ED9B6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86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87C7B-F733-44FE-829D-8D58E0A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9792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86237-AD32-4371-8B44-58DC1FD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43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6F5F2-FA34-4C30-A610-FAA94662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Core shift: the project now explains why a result is likely, not only how high a score 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82670-8C69-42F4-A403-B11327A1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18E1E-4E5A-4668-9CE2-DE502C4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Code Similarity Detection / Progress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5EC99-74BF-4D33-B6BE-391D959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4998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E80EB-CD6A-4C11-8DB7-D2C9827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5C956-DBE4-4861-987A-7591B7F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C53E4B-54F7-42DD-8800-FF631DA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PROBLEM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9222C-6584-4C2D-9324-F24E63F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Code similarity is not one behavior, so one score hides the real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21476-986F-4F18-B08A-4E7B5DE0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detector needs to distinguish exact copies, renamed code, edited code, and weak semantic similarity while also explaining scope and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F4D81-4FBF-41F6-A88D-49975AE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58772-3995-40CD-954C-F215359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rPr>
              <a:t>T1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47EB3-B31B-40F5-AD56-5A6297B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Exact / formatting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02DC-1E7B-4360-8A98-045637B5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comments, whitespace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68237-ADB3-46D3-B799-1B69B1D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57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A4475-3182-4B7A-861C-5428391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C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15C8A"/>
                </a:solidFill>
                <a:latin typeface="Aptos Display"/>
                <a:ea typeface="Aptos Display"/>
                <a:cs typeface="Aptos Display"/>
              </a:rPr>
              <a:t>T2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22C28-8001-4FF9-A896-E500978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62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Renamed but same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3B75F-DB14-4C1B-8816-12A3C7C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24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identifiers, literals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1AEA5-B109-437D-A3F6-F6B6B03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62EEA-5022-48AF-95D9-DBC68BF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rPr>
              <a:t>T3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E8DA6-A648-440E-BD4A-3F3497DA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Modified clone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311B2-15C4-405B-80CA-FCAA217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insertions, deletions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32730-7C04-453B-A5BC-5D1A346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57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6D9CE-1F18-4EED-94AD-BEE0AE1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534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6534C"/>
                </a:solidFill>
                <a:latin typeface="Aptos Display"/>
                <a:ea typeface="Aptos Display"/>
                <a:cs typeface="Aptos Display"/>
              </a:rPr>
              <a:t>T4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D8AAB-25A4-42F3-BD78-10FEBFF7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62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Semantic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1DA99-7C0D-4CE8-92CD-61F9318D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24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different 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DD3E9-F221-4F65-A75D-8B1945C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1015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B6391-6FAC-47C1-8213-DA47E649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textual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A4A4B-9CF8-4DDB-8629-D073F60E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structural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FF8AF-097F-4823-8DED-AFC588F5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semantic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BE61D-A398-491F-84F2-0A08498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Design implication: the system should produce a decision with evidence, warnings, and scope, not just a similarity percentage.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54090-6C3B-4DC8-85F1-F2FF771F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28DBA-83A4-4D5E-9DAF-A8D6F13A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Why the problem needs stages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F980CF-4083-4160-894E-ECEFD44D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70204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B4C78-31B9-4B8A-934A-140C5C3D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BE2C05-8664-47A3-921E-1846D1A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0DD6D4-497F-4E5B-855C-9CFBC7B2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STRATEGY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4BB66-95C4-4732-851B-CC6E063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early strategies were useful, but each explained only one slice of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FC48-4A46-44ED-B6F9-5ED174AF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B850D-91A0-48A2-A70C-9338DEC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What it sees well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DAD9E-9D82-4F57-B0AA-970412F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Where it breaks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523ED-E4C2-4422-9226-E8775D6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650D5-B662-404E-B37F-1A4082B7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Token / Winnowing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BABC2-ADE5-45B2-A545-4113200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Fast local overlap; robust to whitespace and comments.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FB857-A922-48BB-8BDB-8BBE0E4F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Sensitive to reordering, extraction, and structural edits.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C68AB-50BF-4E44-8DC1-311CAD2D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33640-AA0E-4347-B87E-7E35D39F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AST / Subtree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BD0BC-CE5C-4CE2-9858-4EEA735A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Structural reuse and Type-2-like similarity.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D3DB1-94AD-44F5-9395-267DD47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Can overvalue wrapper context or boilerplate.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15B46-7EBE-47FE-9A99-F647BAE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40DAF-E1A2-4FCB-B122-BDBA6831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Method-level matrix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192DE-4F36-4EC5-ACED-ECCF0295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Real reuse patterns across methods.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766F6-1AAB-4C0F-A1CE-BA3FFBB6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Needs careful correspondence policy; one-to-many matters.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8C6FA-113C-4DD9-A561-FAC9667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01503-D3D6-4F10-A814-98F637B1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vocabulary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0E708-D406-4285-95B5-745A87A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Weak semantic hints from called libraries.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1489A-9B11-4151-89F0-64BC494A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Auxiliary only; API density can mislead.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1E62C-3D20-4E00-834C-4CB412C9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Review outcome: the question became how to organize signals into a reliable decision process.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FDDD0-72F2-4191-8EDA-A7D86658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ED0ED-3C1A-4DFD-8FB3-883D763D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Earlier strategy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5213D-A53F-4670-B6B1-535DB85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56942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9C17E-053B-4100-B0D6-E391CD27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9FFC8A-AFCE-4198-82AF-682EFA9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80FE5C-83D9-4FB6-9644-C1FAC60E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TOKEN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6F19E-0309-494F-BA26-67B17DFA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Winnowing gave a fast baseline, but its strength is also its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D86C2-79CB-4CD8-9D9B-0AB8A23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191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47037-8529-413C-AFFE-19EC885A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70BC5-55B5-4D40-BD95-B3937C84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4E1B3-8E53-4E92-A532-0C8C175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386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Normalization, k-grams, rolling hash, and rightmost-min winnowing make local similarity measurable and efficient.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8A54E-C543-4666-AE9A-292B61E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191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C0750-6C4F-499E-A66E-7413D077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D5ED8-7632-4114-94C0-02BD92AC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was 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BFD69-30EB-418D-98D1-C282491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386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 token overlap score cannot reliably tell whether a change is renaming, method extraction, structural modification, or only a shared idiom.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3E8BC-4C52-4279-BDB8-A5E6B40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5B961-64B5-4287-BDD2-CAA237A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 !=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E2AA1-56B0-4F97-97A3-BE8BAA05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0EB5F-B990-43C1-919B-7821DD1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81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F4616-1A85-4324-96C5-FA277DE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became Stage 1 evidence, not the final classifier.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EA00E-2791-4EBE-9FB6-792B15E0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37E71-13DA-4AA4-90F6-03597C72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Strategy A: token / winnowing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CD094-D559-4279-A7BA-9A102882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18613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A9A72-4038-48B6-A6D0-5DF188F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EA2CAD-D030-4871-8314-8F1AFBA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077FDE-71EE-4C05-8AA9-67B1C848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STRUCTURE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55B7-375B-4AC4-B80A-B82792F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AST and method-level comparison exposed the matching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0962E-14A6-48DD-B961-3FD1D33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8027-58B0-43DD-AD96-A2EBC34F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A.scoreOrder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C6CD2-2DE8-4768-8A28-BF73FBD6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422CE-01B4-4315-B14B-36DC1BD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A.quantityRisk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BE897-2484-432A-B8EE-9B178EB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B73A7-DE2E-4966-A6BD-BA500A67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A.emailRisk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15C8E-B45B-4BED-99CA-634EAA7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B0B27-28DF-4003-8CB7-6BCFFEC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A.normalize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32E3C-4E20-4296-BE91-684E8107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49867-D05B-45D5-B763-2604BA6E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907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B.calculateRisk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F9697-FA2C-4B5A-980E-FC4ABB3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A833-9F86-4305-9617-E82133D7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384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B.itemRiskScore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D3A6-3D52-4B50-9005-D56E994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A0C62-8158-48D9-A040-4F497D7A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86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B.tempEmail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8280D-6535-4425-AA05-9059A3F4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38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2E257-FC07-4EBB-906E-4E07B0A2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338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B.cleanRegion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BB39C-A765-4118-9A5C-D0306B87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863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1AFB6-6A47-46DE-A3AB-9A02178B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815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B.keepLargeOrders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5CC77-D1BF-46AD-BB5B-2E31836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66975"/>
            <a:ext cx="479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15B6A-FE55-4415-92FB-96B87A04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9925"/>
            <a:ext cx="479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747FB-2897-4F3F-B564-3EEA5601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52875"/>
            <a:ext cx="479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306E1-C512-4258-878C-51F7469E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95825"/>
            <a:ext cx="479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878C8-71D2-4CDD-B706-F286109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66975"/>
            <a:ext cx="479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7922A3-9D82-427C-969B-A930CC4A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 not force one-to-one matching.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37AEE-E6F8-4C5F-824C-D3CC84B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Partial clones, extracted helpers, and added methods are evidence, not noise.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0BA49-836C-4D21-B68A-F6175FD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A7A54-7193-4CC0-9F3E-4BD6356A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Strategy B/C: AST + method level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57D2E-B9B8-4F0C-A03F-E041D72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5897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B2BF0E-63DF-4861-8B48-1775874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ABB136-2174-44F0-96FB-769413B4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A04A6B-6F69-4DA0-8D89-E96A9FD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rPr>
              <a:t>SEMANTIC HINTS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E607D-CCDD-4F3C-99BA-6C7BEE0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API vocabulary can support a semantic story, but it cannot carry the verdict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7E3F5-1256-41BF-B5D9-EE0D3E56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C7706-6E85-4553-BE57-E19829AF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D8F3-1134-4F3D-8606-51D03BB7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3793E-D85C-42A3-AAE3-5D6A1AA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method structure + token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7BB0F-8E61-4511-923C-4C3C1EB8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5A067-BD0A-4ED4-A2FA-0212376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706CE-D60F-4918-AB78-A30A5B54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5A86A-B4DB-4722-A5C6-BB81B4F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coverage + containment + correspondence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9543B-2FFB-4E54-BD3E-A705C32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B14A0-9577-462B-A278-0444E64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748B8-E9CE-4D5F-8A1F-B34731D6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Auxiliary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AF325-0612-4580-9ADE-9FFB9050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API vocabulary / S5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A5A31-165A-4621-B7BE-B3A5DD1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D5975-1CD1-493D-8772-EF5CD6FF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5C97F-7252-4CDC-8FF9-7669BA7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75D46-9837-41FD-9DFA-F9D63F3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weak context, boilerplate, low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4D370-509B-4B13-BD39-2DE76AD6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Design assumption: weak semantic signals should raise or lower confidence only when other evidence is interpretable.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4A7F8-22D1-4ECE-B589-4FCFEBEE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996C4-A390-4504-944F-1EE75AA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Strategy D: API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B9684-79AF-4678-B942-C84C57FA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7267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8BB6A-54E1-4FC5-A961-DF2CD61F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6BE41E-3AF8-4E13-9117-0FF777DD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0616AD-BEAC-4EF6-B6BE-DB62E52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DESIGN LESSON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9BCAF-6421-4E47-93DC-992916D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redesign separates measurement, correspondence, and classification.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229F-8CF9-440B-87F6-2D39C58D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534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6534C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F7E43-CAE9-43D1-98E1-F50A83C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E647-278B-4ACC-BC54-849E1D1A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Compute scores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E0C11-91EC-4936-9C34-591EBF3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Collapse into one result too early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327C0-9F38-41D8-9AEF-8787DB7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37075-4DB8-4EBB-AD50-9D4B393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204E0-D7BD-46D5-865E-821338AE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D28F3-2B6D-4293-8D8C-64D80A1F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Raw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23FC8-61B3-4B7B-B8F1-8F732D04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70399-4333-4D78-A6F0-7480A16F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Method-pair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52DF8-6BBC-48D3-BC14-690F1EC0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61BAD-0D7E-4343-B59A-34DBC81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Correspondence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6ABF8-6B09-43F8-8AEF-5B5133DC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8913F-7409-4292-BA97-EABBD8D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Clone classification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6844D-ED0E-403F-A34C-05369901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899F8-7886-46F2-986F-D6B36F47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Structured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8E27B-1E45-4AA7-9C1B-F840D742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also creates a cleaner place for explicit statuses like NOT_APPLICABLE instead of pretending missing evidence is zero.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DB036-DDF8-49F9-8816-40277DB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DC000-52C9-4920-92FC-B74DD9C3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Design pivot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9EF18-3064-4BE0-8157-DE355C6E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33449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3D8C0-FD53-46F5-ABC7-5C740C5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924BE9-47C3-4F7E-95DE-1C131DD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04AFB1-699F-471A-B6F2-3607853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rPr>
              <a:t>CURRENT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9BE8D-C1F8-4F39-9C1D-103FA69F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staged pipeline routes inputs before it interprets scores.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AE8D3-2250-4CB6-9786-8C0684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A4021-4AB7-49B5-94C8-3A9ADF4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772BA-5D37-479A-84D8-D6217D3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A96DA-25FA-4E69-8C76-CB10D3A4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Input profiling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parse state, method counts, flags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27C8-C690-4014-A924-8A7B1B4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0F8DF-9B8F-46ED-BF37-A7C16B94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319D-8786-4338-B237-EAEEE14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ACEF4-C82E-4B79-B7D5-DB38C92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Raw measurement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S1/S2/S3/S4/S5 + exact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E2DF5-900E-4373-9375-88222CD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D8657-F793-4C85-BA30-0D19C5AA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4265C-710D-498B-B56E-84FB029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35230-6E49-4BF9-A3C3-A73E2DF6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Pair features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magnitude, gaps, containment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1DF0E-2984-434D-8C32-99F1F597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195E1-005B-4D61-B005-9D8FA9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097F6-7111-4E17-B4E5-CD893741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0CADE-3899-4739-8A5A-5E15FFD4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Correspondence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best matches, coverage, partial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06966-FB7A-465A-A018-169D4E7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DF5EF-9160-478A-B74C-C075504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D2D61-3647-49A7-B673-5098B4E6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93C27-3794-4FE2-9E4E-DEE937A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Classification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clone type, scope,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3375E-07B5-42CF-A702-6DDF6E04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2C1EB-68F4-4897-971B-22C30D1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A26B6-045B-4821-9C89-3753F42C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39ED7-EC32-47C0-B955-2B36E126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Report output</a:t>
            </a:r>
          </a:p>
          <a:p xmlns:a="http://schemas.openxmlformats.org/drawingml/2006/main">
            <a:pPr algn="l">
              <a:defRPr sz="11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JSON, text, web 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BDE717-BF59-40A2-9BC1-40876748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Pipeline principle: later stages consume evidence; they should not silently recompute or reinterpret earlier signals.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C33EE-17F1-49CF-938C-2E667AB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CFE84-5298-4571-BEF8-8E60C7F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Stage 0-5 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FD536-0AC9-4489-B231-3FE784FE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5058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51801-AA82-40C0-9190-D9B778EA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363498-E75E-474D-9AB8-447A5B3D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9A451D-C236-43DD-9006-B0D937B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MEASUREMENT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BE37A-622D-4D8F-BA60-E5AEC31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Stage 1 and Stage 2 create evidence without making the final 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BB796-89A2-400E-A68C-FE52009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78926-019A-4307-9D0D-72B69A7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58C61-F4E9-4E77-B1CA-D49A1F53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 1 raw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DEB1D-9F81-4DFB-BC7F-DA027E2B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6765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S1 non-method context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S2 subtree overlap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S3 token winnowing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S4 tree edit distance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S5 API vocabulary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exact normalized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97BEF-B27E-4B6B-9009-6ABB9D4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82C54-4DC1-4E58-BBDE-D07F3DFF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751B0-AFA1-4CD1-A5A3-EBCDD3B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 pair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32CEF-0CB9-4552-89B5-3B834C04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26765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Every method in A is compared with every method in B first. Candidate filtering is delayed so early pruning does not erase partial or one-to-many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5723C-F6B6-4CC0-83FA-A3105E1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08B93-DEC5-4992-8D68-F23A26D7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4C4D0-72BC-409C-A992-B8AA048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 2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B4EA6-BF40-42EA-9995-B98C4CA2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6765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magnitude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structural exactness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token exact gap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spread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size ratio</a:t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containment A/B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4AEAC-4314-4F94-8FEE-134D772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9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886C6-4830-4E5A-86C3-866C4AC5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409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943AB-37F9-452D-9130-EC64724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Assumption: a complete method-pair matrix is safer than early top-k selection because real reuse patterns are often asymmetric.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BA166-08EF-4652-88C2-7D7C1DF1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90BE2-D9BF-4246-B8C3-19175F9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Stage 1-2 evidence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1D9A8-5DD2-4AD6-8533-63C32B5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65866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B27A8-8C84-498F-97E4-F5E9E6D1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376CC5-5BC5-41A9-BA95-FA60B51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5FA871-C8C1-436C-9EF8-C402B34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CORRESPONDENCE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B1F8D-AB0D-4326-8DAE-78FF0195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Stage 3 turns pairwise evidence into file-level diagnostics.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41CFC-A6E0-49D9-8685-518B5B4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857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91EAA-9728-4F4E-8629-51F2FDE1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7CDB3-474E-479E-A3F6-AE557C1B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Directional best matches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BFA18-3820-4AB1-9E62-EF5E1139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A -&gt; best B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B -&gt; best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BECE8-A5A3-41BF-881B-1A165CE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857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5CC8F-1E2F-4789-AA78-D6E9CF93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F5EF5-D5CD-42F4-A775-A653A8D8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Merged pairs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B1D22-8D9F-4A01-8222-48ABB2F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bidirectional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A-only / B-only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1BB71-A0C0-4807-97BE-957F052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857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DA220-8745-42D3-A693-D53BA3A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03346-0A39-4414-93D6-FD22B9E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Diagnostics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7899A-6E44-425C-AEDC-F5E0252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coverage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partial signal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variance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09F52-D299-40D1-8ACF-2CD0BD4E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F58A9-4703-4B08-9AFE-30B1582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BE096-9583-47B4-A817-61CC792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is the stage where one-to-many, partial clone, and least-covered methods become visible instead of being averaged away.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12FCD-33A8-4C65-9E1B-0D541A2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A836D-FBE7-4260-9A92-E8CC28AB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Stage 3 method correspondence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AC3C5-3ABF-4338-B03C-B9A56F6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15519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5459D-2896-43F3-8B99-CB60C94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D962D3B-5FE3-433D-84C1-F5AB2A4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D7824-0E67-4B69-AB3A-F15DB0C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CLASSIFICATION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7360B-68CF-438F-8928-8BCE928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Stage 4 makes classification explainable instead of black-box.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EDFF0-0F2F-460D-A166-CB697C2C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BAEDC-549E-41F6-9A84-7066DB4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EEA04-79DD-48EF-AB9A-B79FA1A2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764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Clone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F9838-A0BE-4B90-8FBB-843E8B7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050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T1 / T2 / T3 / T4_WEAK / NON_CLONE / INCONCLUSIVE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F12A1-C219-4188-B5A9-14151DE7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B3C29-1E33-4DD3-8459-AEF9BF5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01D94-398A-4715-BD76-150B335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384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08A0E-68CF-4F5B-89AF-89A14648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FULL / PARTIAL / MIXED / UNKNOWN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60885-E0BB-4ADF-A1C7-F0E9E4D7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B1C59-7FC9-4BD6-A236-EAA3AAA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9D909-CBE0-4F4D-B19F-E3890812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2B248-4B2C-42BC-919C-518170E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290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evidence strength x consistency x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94876-4A16-4F8A-B8D7-252E10F9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EAB78-DCBC-4C7E-90D7-54F6B43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C048E-9ADD-4188-8752-4938CF6E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624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AA1F0-F06C-43BA-B43C-E77A8DBE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910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supporting evidence, opposing evidence, warnings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0A2FE-4EB4-453B-9911-64534E4D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D8E5-8937-478A-BE30-D8822B99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rPr>
              <a:t>T3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59469-3F5F-495B-84E9-293A9DB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99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medium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C36F5-D0C0-4140-994C-C9F82953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Important boundary: Stage 4 consumes diagnostics; it does not compute new similarity scores.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7602D-E639-4E95-8B01-D45EFBA1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4D89C-953A-4BD9-9608-59C40C2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Stage 4 classification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7A437-7EA7-46C2-8335-7442C88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844452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AB36A-0267-43A1-A80A-056BFAD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B39C64-F39A-4F18-A8BB-A55DCE7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FCF46C-092E-4192-83F3-D790214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rPr>
              <a:t>WEB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DC3F6-ED63-4DA9-BDFA-7B8E027F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web interface turns pipeline evidence into a readable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2D54E-D012-41C3-AF9D-04300F3B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78025-EF53-4C39-A7FD-3413C3A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B0A4E-B5BB-4754-A532-8E014C17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DE46-A2DE-49C4-A815-A89699C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two editors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inferred file names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load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4563A-41AA-4560-88CD-A0913A1C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A37A-D15C-4F0A-83EC-DAB29045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D1D35-7B12-4470-BE31-AB9241F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49A96-B7C7-4D6D-9335-B75F0E2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clone type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scope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161DA-84C9-4EDC-94C4-354AC0FD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20DD2-2B58-492F-B499-1159CEA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C6C7D-1861-4DC2-8190-17E7706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50785-9D37-47FA-B7D7-4B9ADEC4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matched methods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why this result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warnings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1BD2D-97BE-4E0D-AD42-AA4DCE9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E0AC6-DC8B-45C0-9321-46100A4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83E16-19F0-4A7C-A3D5-0723923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Developer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EDDCC-52FA-428A-BEE9-35075B02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909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full staged output</a:t>
            </a:r>
          </a:p>
          <a:p xmlns:a="http://schemas.openxmlformats.org/drawingml/2006/main">
            <a:pPr algn="l">
              <a:def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9E4EA"/>
                </a:solidFill>
                <a:latin typeface="Aptos Mono"/>
                <a:ea typeface="Aptos Mono"/>
                <a:cs typeface="Aptos Mono"/>
              </a:rPr>
              <a:t>schemaVersion 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23F9D-E0A2-4D8B-B4BC-8EDF55A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904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UI design principle: the first screen enables a quick comparison; the report explains the decision in layers.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1259F-6432-4DE7-9E42-AF8F729B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8C677-81A0-4AD4-9302-E54D515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Web report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171FF-86E6-4D32-BECA-AE99CB6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16038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421CA-97C3-4EB0-AF6B-0D398C9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9F3A65-20F0-47C3-9540-A15E331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793509-C28E-4C3A-96B9-F367AA43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CURRENT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1C849-FEC9-4F62-931E-150E5A8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prototype works, but the open risks are still research-shaped.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8325-FBD0-47A8-B0D3-2ECA8FC2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F1010-4F5C-40DE-B53B-E4C885FA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FBEBD-200A-44CC-80E0-AE10D3C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Static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8F7B1-C69F-4E10-98D9-E1567235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 runtime behavior, path coverage, or execution trace evidence yet.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94B04-C380-42DC-8ADB-BD045DF0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FDBE5-0EA6-4E48-A464-CADA83C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231CB-945A-4614-9042-46F9A68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145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Heuristic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CB9DE-BB96-43CB-9416-85EC962E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Stage 4 weights and cutoffs need benchmark calibration.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573DA-C1FA-4D95-BA5B-5923D4D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AE061-E031-4C50-9F6F-4439A73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32F73-BCFA-4B17-A730-BA693D1D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Weak Type-4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82B22-4A3F-40C2-92C3-7E203DF4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API vocabulary is a hint, not proof of semantic equivalence.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6FF52-7262-493D-98F0-35CE16D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72E57-8AEE-4FDD-A456-DEC11BF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80C7D-8459-43D9-BE70-9CD87A6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Scale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FC3D9-F26A-4810-BAE1-168DAA9B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Tree edit distance can become expensive for large methods.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9D01F-BD2A-4D12-A100-0D24344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A7BC4-D8EB-4BEE-9C63-AAD35FC8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7D4C5-4C59-4A8E-9A54-94A2B9DE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 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8BA0C-7F9C-4F9F-B4E8-94A8B691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746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Need per-type metrics, not only a demo-level success case.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D7547-1CF1-4A14-A239-0DD26266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is useful for the presentation: the limitations naturally define the next work packages.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A3130-FAAB-453E-B93C-2B0AE43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8EA38-DC22-4873-9DBE-FAA720C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What remains unresolved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B60EB-0101-407B-9F1A-CE349019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98198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FC42D-BE7F-422B-9C6B-E9E39B0B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9534D4-8894-4A03-B01F-561BB81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72F980-7ECA-4621-B7DC-40FF3B2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CC83-8E0B-4D08-887E-1B43BA6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next phase should calibrate the detector and extend evidence beyond static 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07107-63C8-4077-84CF-84828BD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76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7A19D-C1DE-4934-938B-C73FAB4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0CC2F-D81A-4554-BF2F-475A30B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C8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15C8A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990F4-30A5-47C5-A555-C66AF51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Benchmark calibration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more edge-case tests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performance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24960-EBFE-467D-823B-25B73523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76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3FE05-4884-4F2C-B0CD-8346A1F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9851F-F8E6-4F84-8778-2A211F2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E7C59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1D9CE-F660-4D0D-9430-8F5516AD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Control/data-flow features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stronger partial clone handling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clearer report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A006B-1A61-45D5-B1E1-C183001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76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FE0F7-6B70-4BFA-8073-527187CB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78C02-660C-483C-9BDD-14D38210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9792E"/>
                </a:solidFill>
                <a:latin typeface="Aptos Display"/>
                <a:ea typeface="Aptos Display"/>
                <a:cs typeface="Aptos Display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226A8-4AE8-4F62-B16B-9A572D3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Dynamic monitoring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execution traces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hybrid static + runtime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1F69A-2527-4A67-BEEE-7D3E0A2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E1D53-E2FE-4519-9FB4-3D2CDD5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623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5C175-8A99-4118-8FD5-001248AA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Dynamic monitoring is not a replacement for static detection; it can become a second evidence channel for behavior-level similarity.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03F4B-FD68-4CA9-9F48-7A177A2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B337-78C5-4F2D-B562-BB4DB61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DB5DC-24D3-4DFB-95CC-5E0ABEF5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81668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2DE30-5318-4B80-8D41-8BA75390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4C6A5A-8741-407B-A1D6-66F71A3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E9DF01-7753-4355-8E3A-C371236B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EEF2"/>
                </a:solidFill>
                <a:latin typeface="Aptos Mono"/>
                <a:ea typeface="Aptos Mono"/>
                <a:cs typeface="Aptos Mono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F3AF9-3CCA-4EBE-8EA0-3584A723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project direction is clear: explainability first, stronger evidence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8C231-4C16-4841-B415-D75A405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EFD19-3076-41CA-A098-A2A10EBE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Strategy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51F6-86A1-4673-A0C1-8B8AC6F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Signals are useful but incomplete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69F62-0FFA-4AB9-8552-CD5AA2B5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5B1C-5C17-4D93-B5C4-DE27B875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2548F-9C4B-40E1-B0ED-071BD93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Measurement, matching, and classification are separated.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68907-EE03-4527-B251-1E973949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8095F-E8C4-4F60-BE22-52C678C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DAAA7-380B-413E-A51A-32DF38E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The user sees a decision plus supporting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25B75-174A-4CC1-B267-64B38C77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84AD9-B45B-4B96-BF52-93C5518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29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29762-305B-488C-8DB6-DF0A739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Calibration and dynamic behavior can strengthen confidence.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962AB-0FE5-4BC7-90C6-02D80147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Suggested oral takeaway: this work is evolving from an algorithm demo into an explainable detection framework.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252A1-803A-41CF-B39A-8B0216E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A0B24-3F0A-4F59-9B2F-2F97C77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F6D10-7910-4C2B-8578-5A4D29B6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AB7C4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6643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2026-05-17T18:04:00.7630000Z</dcterms:created>
  <dcterms:modified xsi:type="dcterms:W3CDTF">2026-05-17T18:04:00.7630000Z</dcterms:modified>
</coreProperties>
</file>